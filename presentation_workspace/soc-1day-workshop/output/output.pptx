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03871dba0648a5" /><Relationship Type="http://schemas.openxmlformats.org/officeDocument/2006/relationships/extended-properties" Target="/docProps/app.xml" Id="Rff729a54a901498a" /><Relationship Type="http://schemas.openxmlformats.org/officeDocument/2006/relationships/officeDocument" Target="/ppt/presentation.xml" Id="Rf643413b589941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28ee1fd5214602"/>
  </p:sldMasterIdLst>
  <p:notesMasterIdLst>
    <p:notesMasterId xmlns:r="http://schemas.openxmlformats.org/officeDocument/2006/relationships" r:id="R217d2652fa014d80"/>
  </p:notesMasterIdLst>
  <p:sldIdLst>
    <p:sldId xmlns:r="http://schemas.openxmlformats.org/officeDocument/2006/relationships" id="256" r:id="R4acc75294363435c"/>
    <p:sldId xmlns:r="http://schemas.openxmlformats.org/officeDocument/2006/relationships" id="257" r:id="Raf241ba379ae4b4d"/>
    <p:sldId xmlns:r="http://schemas.openxmlformats.org/officeDocument/2006/relationships" id="258" r:id="R336ba2d9eb1e403a"/>
    <p:sldId xmlns:r="http://schemas.openxmlformats.org/officeDocument/2006/relationships" id="259" r:id="Radd577748d684ae6"/>
    <p:sldId xmlns:r="http://schemas.openxmlformats.org/officeDocument/2006/relationships" id="260" r:id="R65aa7157e31545e2"/>
    <p:sldId xmlns:r="http://schemas.openxmlformats.org/officeDocument/2006/relationships" id="261" r:id="R4f54d891231f4cc3"/>
    <p:sldId xmlns:r="http://schemas.openxmlformats.org/officeDocument/2006/relationships" id="262" r:id="R6ab3179b584d49de"/>
    <p:sldId xmlns:r="http://schemas.openxmlformats.org/officeDocument/2006/relationships" id="263" r:id="Ref6e38d2d93046e5"/>
    <p:sldId xmlns:r="http://schemas.openxmlformats.org/officeDocument/2006/relationships" id="264" r:id="R0e2db9896b9248ce"/>
    <p:sldId xmlns:r="http://schemas.openxmlformats.org/officeDocument/2006/relationships" id="265" r:id="Ra46c4a6ceb504bb9"/>
    <p:sldId xmlns:r="http://schemas.openxmlformats.org/officeDocument/2006/relationships" id="266" r:id="R32e77223e486499d"/>
    <p:sldId xmlns:r="http://schemas.openxmlformats.org/officeDocument/2006/relationships" id="267" r:id="R41f9f56889534b6a"/>
    <p:sldId xmlns:r="http://schemas.openxmlformats.org/officeDocument/2006/relationships" id="268" r:id="Rbca52adef4f24858"/>
    <p:sldId xmlns:r="http://schemas.openxmlformats.org/officeDocument/2006/relationships" id="269" r:id="Ra3e1db167f4140bc"/>
    <p:sldId xmlns:r="http://schemas.openxmlformats.org/officeDocument/2006/relationships" id="270" r:id="Rb62f8c7fbd6a4e42"/>
    <p:sldId xmlns:r="http://schemas.openxmlformats.org/officeDocument/2006/relationships" id="271" r:id="Rc9c4dfd1d07f4d34"/>
    <p:sldId xmlns:r="http://schemas.openxmlformats.org/officeDocument/2006/relationships" id="272" r:id="R756a9a63ac924509"/>
    <p:sldId xmlns:r="http://schemas.openxmlformats.org/officeDocument/2006/relationships" id="273" r:id="R683287ca021e472e"/>
    <p:sldId xmlns:r="http://schemas.openxmlformats.org/officeDocument/2006/relationships" id="274" r:id="R01100c5571c4474e"/>
    <p:sldId xmlns:r="http://schemas.openxmlformats.org/officeDocument/2006/relationships" id="275" r:id="R22915c8a255f438a"/>
    <p:sldId xmlns:r="http://schemas.openxmlformats.org/officeDocument/2006/relationships" id="276" r:id="R2bd1bcb3bdbe45a8"/>
    <p:sldId xmlns:r="http://schemas.openxmlformats.org/officeDocument/2006/relationships" id="277" r:id="Rcb09191dab1345f8"/>
    <p:sldId xmlns:r="http://schemas.openxmlformats.org/officeDocument/2006/relationships" id="278" r:id="Rff8f5bb0ebf84721"/>
    <p:sldId xmlns:r="http://schemas.openxmlformats.org/officeDocument/2006/relationships" id="279" r:id="R2ca2157e88a34f17"/>
    <p:sldId xmlns:r="http://schemas.openxmlformats.org/officeDocument/2006/relationships" id="280" r:id="R01ac2ab1d6014354"/>
    <p:sldId xmlns:r="http://schemas.openxmlformats.org/officeDocument/2006/relationships" id="281" r:id="Rd54429b99cbf44c5"/>
    <p:sldId xmlns:r="http://schemas.openxmlformats.org/officeDocument/2006/relationships" id="282" r:id="Rd26628c7c1934898"/>
    <p:sldId xmlns:r="http://schemas.openxmlformats.org/officeDocument/2006/relationships" id="283" r:id="Rd6e585f79cdd4640"/>
    <p:sldId xmlns:r="http://schemas.openxmlformats.org/officeDocument/2006/relationships" id="284" r:id="Rdc167f0abe8d44ef"/>
    <p:sldId xmlns:r="http://schemas.openxmlformats.org/officeDocument/2006/relationships" id="285" r:id="Re32aaea7df314659"/>
    <p:sldId xmlns:r="http://schemas.openxmlformats.org/officeDocument/2006/relationships" id="286" r:id="Rdcc11662f940475b"/>
    <p:sldId xmlns:r="http://schemas.openxmlformats.org/officeDocument/2006/relationships" id="287" r:id="Rdca820641cd8454e"/>
    <p:sldId xmlns:r="http://schemas.openxmlformats.org/officeDocument/2006/relationships" id="288" r:id="R0a189f380cc74498"/>
    <p:sldId xmlns:r="http://schemas.openxmlformats.org/officeDocument/2006/relationships" id="289" r:id="R99633c003d7e4068"/>
    <p:sldId xmlns:r="http://schemas.openxmlformats.org/officeDocument/2006/relationships" id="290" r:id="R8b12e65089df4ad1"/>
    <p:sldId xmlns:r="http://schemas.openxmlformats.org/officeDocument/2006/relationships" id="291" r:id="R79e280b54b6949b8"/>
    <p:sldId xmlns:r="http://schemas.openxmlformats.org/officeDocument/2006/relationships" id="292" r:id="R3970526b0af84342"/>
    <p:sldId xmlns:r="http://schemas.openxmlformats.org/officeDocument/2006/relationships" id="293" r:id="R0efa6e2a18424276"/>
    <p:sldId xmlns:r="http://schemas.openxmlformats.org/officeDocument/2006/relationships" id="294" r:id="R3234816f35a842bf"/>
    <p:sldId xmlns:r="http://schemas.openxmlformats.org/officeDocument/2006/relationships" id="295" r:id="R7b60977995f743fe"/>
    <p:sldId xmlns:r="http://schemas.openxmlformats.org/officeDocument/2006/relationships" id="296" r:id="R8f8a03112b3449df"/>
    <p:sldId xmlns:r="http://schemas.openxmlformats.org/officeDocument/2006/relationships" id="297" r:id="R106322a267c541a5"/>
    <p:sldId xmlns:r="http://schemas.openxmlformats.org/officeDocument/2006/relationships" id="298" r:id="R6186f1f8ac0e40b0"/>
    <p:sldId xmlns:r="http://schemas.openxmlformats.org/officeDocument/2006/relationships" id="299" r:id="R9056cafa56c041da"/>
    <p:sldId xmlns:r="http://schemas.openxmlformats.org/officeDocument/2006/relationships" id="300" r:id="R74b53b10ab8d4851"/>
    <p:sldId xmlns:r="http://schemas.openxmlformats.org/officeDocument/2006/relationships" id="301" r:id="R29686b3f03e44288"/>
    <p:sldId xmlns:r="http://schemas.openxmlformats.org/officeDocument/2006/relationships" id="302" r:id="R71868bc3ab074b04"/>
    <p:sldId xmlns:r="http://schemas.openxmlformats.org/officeDocument/2006/relationships" id="303" r:id="Rf8cd46f41a0649ee"/>
    <p:sldId xmlns:r="http://schemas.openxmlformats.org/officeDocument/2006/relationships" id="304" r:id="R4ebb4db684aa413c"/>
    <p:sldId xmlns:r="http://schemas.openxmlformats.org/officeDocument/2006/relationships" id="305" r:id="R9bf023cb06504d22"/>
    <p:sldId xmlns:r="http://schemas.openxmlformats.org/officeDocument/2006/relationships" id="306" r:id="Rdb1ccbf330ab4fca"/>
    <p:sldId xmlns:r="http://schemas.openxmlformats.org/officeDocument/2006/relationships" id="307" r:id="R8fe86d452cfa4d40"/>
    <p:sldId xmlns:r="http://schemas.openxmlformats.org/officeDocument/2006/relationships" id="308" r:id="R155c203228334a3d"/>
    <p:sldId xmlns:r="http://schemas.openxmlformats.org/officeDocument/2006/relationships" id="309" r:id="R3eb0c753e5c847e6"/>
    <p:sldId xmlns:r="http://schemas.openxmlformats.org/officeDocument/2006/relationships" id="310" r:id="R1710f2927d624807"/>
    <p:sldId xmlns:r="http://schemas.openxmlformats.org/officeDocument/2006/relationships" id="311" r:id="R1a20b5d9aff14bad"/>
    <p:sldId xmlns:r="http://schemas.openxmlformats.org/officeDocument/2006/relationships" id="312" r:id="Rcd76994c4a6b484c"/>
    <p:sldId xmlns:r="http://schemas.openxmlformats.org/officeDocument/2006/relationships" id="313" r:id="R0a86ff2d8452410d"/>
    <p:sldId xmlns:r="http://schemas.openxmlformats.org/officeDocument/2006/relationships" id="314" r:id="R3bd56de667f942bb"/>
    <p:sldId xmlns:r="http://schemas.openxmlformats.org/officeDocument/2006/relationships" id="315" r:id="R03ed451099974b25"/>
    <p:sldId xmlns:r="http://schemas.openxmlformats.org/officeDocument/2006/relationships" id="316" r:id="Rcd808536ad34407d"/>
    <p:sldId xmlns:r="http://schemas.openxmlformats.org/officeDocument/2006/relationships" id="317" r:id="R0ab79ea3271649ae"/>
    <p:sldId xmlns:r="http://schemas.openxmlformats.org/officeDocument/2006/relationships" id="318" r:id="Re79dec27ba26493b"/>
    <p:sldId xmlns:r="http://schemas.openxmlformats.org/officeDocument/2006/relationships" id="319" r:id="Rf2a45faa5a6c4c67"/>
    <p:sldId xmlns:r="http://schemas.openxmlformats.org/officeDocument/2006/relationships" id="320" r:id="R2ccde386d032438d"/>
    <p:sldId xmlns:r="http://schemas.openxmlformats.org/officeDocument/2006/relationships" id="321" r:id="Rd64b6fde1cab4171"/>
    <p:sldId xmlns:r="http://schemas.openxmlformats.org/officeDocument/2006/relationships" id="322" r:id="Re3c28594f598463f"/>
    <p:sldId xmlns:r="http://schemas.openxmlformats.org/officeDocument/2006/relationships" id="323" r:id="Rc82231fe9a7e414e"/>
    <p:sldId xmlns:r="http://schemas.openxmlformats.org/officeDocument/2006/relationships" id="324" r:id="R7c61f373a48344ff"/>
    <p:sldId xmlns:r="http://schemas.openxmlformats.org/officeDocument/2006/relationships" id="325" r:id="R9fccd8dfc4114ad7"/>
    <p:sldId xmlns:r="http://schemas.openxmlformats.org/officeDocument/2006/relationships" id="326" r:id="R5c2c4e27870548cb"/>
    <p:sldId xmlns:r="http://schemas.openxmlformats.org/officeDocument/2006/relationships" id="327" r:id="Rbf7db1953f3f4eb5"/>
    <p:sldId xmlns:r="http://schemas.openxmlformats.org/officeDocument/2006/relationships" id="328" r:id="R266a015768904317"/>
    <p:sldId xmlns:r="http://schemas.openxmlformats.org/officeDocument/2006/relationships" id="329" r:id="R4c8f008b25a24694"/>
    <p:sldId xmlns:r="http://schemas.openxmlformats.org/officeDocument/2006/relationships" id="330" r:id="R59aec4766b9f4a6e"/>
    <p:sldId xmlns:r="http://schemas.openxmlformats.org/officeDocument/2006/relationships" id="331" r:id="R05c7144e39444ed6"/>
    <p:sldId xmlns:r="http://schemas.openxmlformats.org/officeDocument/2006/relationships" id="332" r:id="R53348fe814a84991"/>
    <p:sldId xmlns:r="http://schemas.openxmlformats.org/officeDocument/2006/relationships" id="333" r:id="Rca0c5d9540764d46"/>
    <p:sldId xmlns:r="http://schemas.openxmlformats.org/officeDocument/2006/relationships" id="334" r:id="R82810eaf501b4958"/>
    <p:sldId xmlns:r="http://schemas.openxmlformats.org/officeDocument/2006/relationships" id="335" r:id="Rc035b1adb49d4980"/>
    <p:sldId xmlns:r="http://schemas.openxmlformats.org/officeDocument/2006/relationships" id="336" r:id="Rdcab0f4fc2df4f47"/>
    <p:sldId xmlns:r="http://schemas.openxmlformats.org/officeDocument/2006/relationships" id="337" r:id="R207bbe3195914252"/>
    <p:sldId xmlns:r="http://schemas.openxmlformats.org/officeDocument/2006/relationships" id="338" r:id="R158c18114df442a7"/>
    <p:sldId xmlns:r="http://schemas.openxmlformats.org/officeDocument/2006/relationships" id="339" r:id="Rde330882b3a14e3a"/>
    <p:sldId xmlns:r="http://schemas.openxmlformats.org/officeDocument/2006/relationships" id="340" r:id="R6cbc84504b5e4937"/>
    <p:sldId xmlns:r="http://schemas.openxmlformats.org/officeDocument/2006/relationships" id="341" r:id="R3187187584da470a"/>
    <p:sldId xmlns:r="http://schemas.openxmlformats.org/officeDocument/2006/relationships" id="342" r:id="R75140f53b03d43aa"/>
    <p:sldId xmlns:r="http://schemas.openxmlformats.org/officeDocument/2006/relationships" id="343" r:id="R4a4bc6eaff994235"/>
    <p:sldId xmlns:r="http://schemas.openxmlformats.org/officeDocument/2006/relationships" id="344" r:id="R82b07a72cb494816"/>
    <p:sldId xmlns:r="http://schemas.openxmlformats.org/officeDocument/2006/relationships" id="345" r:id="R187232d87d284ddb"/>
    <p:sldId xmlns:r="http://schemas.openxmlformats.org/officeDocument/2006/relationships" id="346" r:id="Rf5da39768c904493"/>
    <p:sldId xmlns:r="http://schemas.openxmlformats.org/officeDocument/2006/relationships" id="347" r:id="Rc1ed762c6a634861"/>
    <p:sldId xmlns:r="http://schemas.openxmlformats.org/officeDocument/2006/relationships" id="348" r:id="R54082144ef5a47fe"/>
    <p:sldId xmlns:r="http://schemas.openxmlformats.org/officeDocument/2006/relationships" id="349" r:id="R9405a2cadce3403a"/>
    <p:sldId xmlns:r="http://schemas.openxmlformats.org/officeDocument/2006/relationships" id="350" r:id="R9445f0042e6f4a87"/>
    <p:sldId xmlns:r="http://schemas.openxmlformats.org/officeDocument/2006/relationships" id="351" r:id="R0af816dd813e45cf"/>
    <p:sldId xmlns:r="http://schemas.openxmlformats.org/officeDocument/2006/relationships" id="352" r:id="R666ae21176c24973"/>
    <p:sldId xmlns:r="http://schemas.openxmlformats.org/officeDocument/2006/relationships" id="353" r:id="R265a3017800d4714"/>
    <p:sldId xmlns:r="http://schemas.openxmlformats.org/officeDocument/2006/relationships" id="354" r:id="R9b915ed9a3ac466b"/>
    <p:sldId xmlns:r="http://schemas.openxmlformats.org/officeDocument/2006/relationships" id="355" r:id="Rd29fc0cb61644434"/>
    <p:sldId xmlns:r="http://schemas.openxmlformats.org/officeDocument/2006/relationships" id="356" r:id="R4a73bc6d2d5d419f"/>
    <p:sldId xmlns:r="http://schemas.openxmlformats.org/officeDocument/2006/relationships" id="357" r:id="Rb699edc5893c480d"/>
    <p:sldId xmlns:r="http://schemas.openxmlformats.org/officeDocument/2006/relationships" id="358" r:id="R7b90b63498cc4a29"/>
    <p:sldId xmlns:r="http://schemas.openxmlformats.org/officeDocument/2006/relationships" id="359" r:id="Recd9a4452be44fe6"/>
    <p:sldId xmlns:r="http://schemas.openxmlformats.org/officeDocument/2006/relationships" id="360" r:id="R458832fcedb74b88"/>
    <p:sldId xmlns:r="http://schemas.openxmlformats.org/officeDocument/2006/relationships" id="361" r:id="R55683c00a47e42ac"/>
    <p:sldId xmlns:r="http://schemas.openxmlformats.org/officeDocument/2006/relationships" id="362" r:id="R87ce7d1b90574ce1"/>
    <p:sldId xmlns:r="http://schemas.openxmlformats.org/officeDocument/2006/relationships" id="363" r:id="R8bcd6d2b55c040a1"/>
    <p:sldId xmlns:r="http://schemas.openxmlformats.org/officeDocument/2006/relationships" id="364" r:id="R30bc5a2da6e1488f"/>
    <p:sldId xmlns:r="http://schemas.openxmlformats.org/officeDocument/2006/relationships" id="365" r:id="R31e5ff4e78e14283"/>
    <p:sldId xmlns:r="http://schemas.openxmlformats.org/officeDocument/2006/relationships" id="366" r:id="Rabb7b56b44d14527"/>
    <p:sldId xmlns:r="http://schemas.openxmlformats.org/officeDocument/2006/relationships" id="367" r:id="R91c632eae4384aaf"/>
    <p:sldId xmlns:r="http://schemas.openxmlformats.org/officeDocument/2006/relationships" id="368" r:id="R1f56ae8db37b464e"/>
    <p:sldId xmlns:r="http://schemas.openxmlformats.org/officeDocument/2006/relationships" id="369" r:id="Re30ca5bc32344aca"/>
    <p:sldId xmlns:r="http://schemas.openxmlformats.org/officeDocument/2006/relationships" id="370" r:id="R59c0ed1d6b404e36"/>
    <p:sldId xmlns:r="http://schemas.openxmlformats.org/officeDocument/2006/relationships" id="371" r:id="R4f31eb0507514dc8"/>
    <p:sldId xmlns:r="http://schemas.openxmlformats.org/officeDocument/2006/relationships" id="372" r:id="R33e546663e764b60"/>
    <p:sldId xmlns:r="http://schemas.openxmlformats.org/officeDocument/2006/relationships" id="373" r:id="Rbb29222dd33c4e1b"/>
    <p:sldId xmlns:r="http://schemas.openxmlformats.org/officeDocument/2006/relationships" id="374" r:id="R0f03cbfc2a0c46cf"/>
    <p:sldId xmlns:r="http://schemas.openxmlformats.org/officeDocument/2006/relationships" id="375" r:id="R4d4e643e506a4ffb"/>
    <p:sldId xmlns:r="http://schemas.openxmlformats.org/officeDocument/2006/relationships" id="376" r:id="R51ed1fc7dd4543ed"/>
    <p:sldId xmlns:r="http://schemas.openxmlformats.org/officeDocument/2006/relationships" id="377" r:id="Ra7b4d0a1a77d4e23"/>
    <p:sldId xmlns:r="http://schemas.openxmlformats.org/officeDocument/2006/relationships" id="378" r:id="R2f6d322dd2d24788"/>
    <p:sldId xmlns:r="http://schemas.openxmlformats.org/officeDocument/2006/relationships" id="379" r:id="R0c9660cba15e4736"/>
    <p:sldId xmlns:r="http://schemas.openxmlformats.org/officeDocument/2006/relationships" id="380" r:id="Rcae389a54dd840f0"/>
    <p:sldId xmlns:r="http://schemas.openxmlformats.org/officeDocument/2006/relationships" id="381" r:id="Ra95899587c0a4544"/>
    <p:sldId xmlns:r="http://schemas.openxmlformats.org/officeDocument/2006/relationships" id="382" r:id="R4ab782057bd74b16"/>
    <p:sldId xmlns:r="http://schemas.openxmlformats.org/officeDocument/2006/relationships" id="383" r:id="R19a82294406444cb"/>
    <p:sldId xmlns:r="http://schemas.openxmlformats.org/officeDocument/2006/relationships" id="384" r:id="R4f849dc2f9ee4bcb"/>
    <p:sldId xmlns:r="http://schemas.openxmlformats.org/officeDocument/2006/relationships" id="385" r:id="Rb29b8b8e8986483b"/>
    <p:sldId xmlns:r="http://schemas.openxmlformats.org/officeDocument/2006/relationships" id="386" r:id="Rc5113263da794dfa"/>
    <p:sldId xmlns:r="http://schemas.openxmlformats.org/officeDocument/2006/relationships" id="387" r:id="Re9a62b6ff03741ef"/>
    <p:sldId xmlns:r="http://schemas.openxmlformats.org/officeDocument/2006/relationships" id="388" r:id="R6c730dc70e19441c"/>
    <p:sldId xmlns:r="http://schemas.openxmlformats.org/officeDocument/2006/relationships" id="389" r:id="R05922991a01d47cc"/>
    <p:sldId xmlns:r="http://schemas.openxmlformats.org/officeDocument/2006/relationships" id="390" r:id="R5d0b74f58226495f"/>
    <p:sldId xmlns:r="http://schemas.openxmlformats.org/officeDocument/2006/relationships" id="391" r:id="R383499fbfd874a2f"/>
    <p:sldId xmlns:r="http://schemas.openxmlformats.org/officeDocument/2006/relationships" id="392" r:id="Rbff10c7dbe86409b"/>
    <p:sldId xmlns:r="http://schemas.openxmlformats.org/officeDocument/2006/relationships" id="393" r:id="R5bcaa707e5f44adc"/>
    <p:sldId xmlns:r="http://schemas.openxmlformats.org/officeDocument/2006/relationships" id="394" r:id="R5d1cfcfcea794cb7"/>
    <p:sldId xmlns:r="http://schemas.openxmlformats.org/officeDocument/2006/relationships" id="395" r:id="R4a79bfd2e18f4b26"/>
    <p:sldId xmlns:r="http://schemas.openxmlformats.org/officeDocument/2006/relationships" id="396" r:id="Rc6f66191efbf442f"/>
    <p:sldId xmlns:r="http://schemas.openxmlformats.org/officeDocument/2006/relationships" id="397" r:id="R05e3af3fe3db4db3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8ee1fd5214602" /><Relationship Type="http://schemas.openxmlformats.org/officeDocument/2006/relationships/theme" Target="/ppt/theme/theme1.xml" Id="R40a16df717ba40a3" /><Relationship Type="http://schemas.openxmlformats.org/officeDocument/2006/relationships/notesMaster" Target="/ppt/notesMasters/notesMaster1.xml" Id="R217d2652fa014d80" /><Relationship Type="http://schemas.openxmlformats.org/officeDocument/2006/relationships/presProps" Target="/ppt/presProps.xml" Id="Raf8e9b62671d4057" /><Relationship Type="http://schemas.openxmlformats.org/officeDocument/2006/relationships/viewProps" Target="/ppt/viewProps.xml" Id="R8a2895f2c6fc4de1" /><Relationship Type="http://schemas.openxmlformats.org/officeDocument/2006/relationships/tableStyles" Target="/ppt/tableStyles.xml" Id="R5261a07d1b5d4931" /><Relationship Type="http://schemas.openxmlformats.org/officeDocument/2006/relationships/slide" Target="/ppt/slides/slide1.xml" Id="R4acc75294363435c" /><Relationship Type="http://schemas.openxmlformats.org/officeDocument/2006/relationships/slide" Target="/ppt/slides/slide2.xml" Id="Raf241ba379ae4b4d" /><Relationship Type="http://schemas.openxmlformats.org/officeDocument/2006/relationships/slide" Target="/ppt/slides/slide3.xml" Id="R336ba2d9eb1e403a" /><Relationship Type="http://schemas.openxmlformats.org/officeDocument/2006/relationships/slide" Target="/ppt/slides/slide4.xml" Id="Radd577748d684ae6" /><Relationship Type="http://schemas.openxmlformats.org/officeDocument/2006/relationships/slide" Target="/ppt/slides/slide5.xml" Id="R65aa7157e31545e2" /><Relationship Type="http://schemas.openxmlformats.org/officeDocument/2006/relationships/slide" Target="/ppt/slides/slide6.xml" Id="R4f54d891231f4cc3" /><Relationship Type="http://schemas.openxmlformats.org/officeDocument/2006/relationships/slide" Target="/ppt/slides/slide7.xml" Id="R6ab3179b584d49de" /><Relationship Type="http://schemas.openxmlformats.org/officeDocument/2006/relationships/slide" Target="/ppt/slides/slide8.xml" Id="Ref6e38d2d93046e5" /><Relationship Type="http://schemas.openxmlformats.org/officeDocument/2006/relationships/slide" Target="/ppt/slides/slide9.xml" Id="R0e2db9896b9248ce" /><Relationship Type="http://schemas.openxmlformats.org/officeDocument/2006/relationships/slide" Target="/ppt/slides/slide10.xml" Id="Ra46c4a6ceb504bb9" /><Relationship Type="http://schemas.openxmlformats.org/officeDocument/2006/relationships/slide" Target="/ppt/slides/slide11.xml" Id="R32e77223e486499d" /><Relationship Type="http://schemas.openxmlformats.org/officeDocument/2006/relationships/slide" Target="/ppt/slides/slide12.xml" Id="R41f9f56889534b6a" /><Relationship Type="http://schemas.openxmlformats.org/officeDocument/2006/relationships/slide" Target="/ppt/slides/slide13.xml" Id="Rbca52adef4f24858" /><Relationship Type="http://schemas.openxmlformats.org/officeDocument/2006/relationships/slide" Target="/ppt/slides/slide14.xml" Id="Ra3e1db167f4140bc" /><Relationship Type="http://schemas.openxmlformats.org/officeDocument/2006/relationships/slide" Target="/ppt/slides/slide15.xml" Id="Rb62f8c7fbd6a4e42" /><Relationship Type="http://schemas.openxmlformats.org/officeDocument/2006/relationships/slide" Target="/ppt/slides/slide16.xml" Id="Rc9c4dfd1d07f4d34" /><Relationship Type="http://schemas.openxmlformats.org/officeDocument/2006/relationships/slide" Target="/ppt/slides/slide17.xml" Id="R756a9a63ac924509" /><Relationship Type="http://schemas.openxmlformats.org/officeDocument/2006/relationships/slide" Target="/ppt/slides/slide18.xml" Id="R683287ca021e472e" /><Relationship Type="http://schemas.openxmlformats.org/officeDocument/2006/relationships/slide" Target="/ppt/slides/slide19.xml" Id="R01100c5571c4474e" /><Relationship Type="http://schemas.openxmlformats.org/officeDocument/2006/relationships/slide" Target="/ppt/slides/slide20.xml" Id="R22915c8a255f438a" /><Relationship Type="http://schemas.openxmlformats.org/officeDocument/2006/relationships/slide" Target="/ppt/slides/slide21.xml" Id="R2bd1bcb3bdbe45a8" /><Relationship Type="http://schemas.openxmlformats.org/officeDocument/2006/relationships/slide" Target="/ppt/slides/slide22.xml" Id="Rcb09191dab1345f8" /><Relationship Type="http://schemas.openxmlformats.org/officeDocument/2006/relationships/slide" Target="/ppt/slides/slide23.xml" Id="Rff8f5bb0ebf84721" /><Relationship Type="http://schemas.openxmlformats.org/officeDocument/2006/relationships/slide" Target="/ppt/slides/slide24.xml" Id="R2ca2157e88a34f17" /><Relationship Type="http://schemas.openxmlformats.org/officeDocument/2006/relationships/slide" Target="/ppt/slides/slide25.xml" Id="R01ac2ab1d6014354" /><Relationship Type="http://schemas.openxmlformats.org/officeDocument/2006/relationships/slide" Target="/ppt/slides/slide26.xml" Id="Rd54429b99cbf44c5" /><Relationship Type="http://schemas.openxmlformats.org/officeDocument/2006/relationships/slide" Target="/ppt/slides/slide27.xml" Id="Rd26628c7c1934898" /><Relationship Type="http://schemas.openxmlformats.org/officeDocument/2006/relationships/slide" Target="/ppt/slides/slide28.xml" Id="Rd6e585f79cdd4640" /><Relationship Type="http://schemas.openxmlformats.org/officeDocument/2006/relationships/slide" Target="/ppt/slides/slide29.xml" Id="Rdc167f0abe8d44ef" /><Relationship Type="http://schemas.openxmlformats.org/officeDocument/2006/relationships/slide" Target="/ppt/slides/slide30.xml" Id="Re32aaea7df314659" /><Relationship Type="http://schemas.openxmlformats.org/officeDocument/2006/relationships/slide" Target="/ppt/slides/slide31.xml" Id="Rdcc11662f940475b" /><Relationship Type="http://schemas.openxmlformats.org/officeDocument/2006/relationships/slide" Target="/ppt/slides/slide32.xml" Id="Rdca820641cd8454e" /><Relationship Type="http://schemas.openxmlformats.org/officeDocument/2006/relationships/slide" Target="/ppt/slides/slide33.xml" Id="R0a189f380cc74498" /><Relationship Type="http://schemas.openxmlformats.org/officeDocument/2006/relationships/slide" Target="/ppt/slides/slide34.xml" Id="R99633c003d7e4068" /><Relationship Type="http://schemas.openxmlformats.org/officeDocument/2006/relationships/slide" Target="/ppt/slides/slide35.xml" Id="R8b12e65089df4ad1" /><Relationship Type="http://schemas.openxmlformats.org/officeDocument/2006/relationships/slide" Target="/ppt/slides/slide36.xml" Id="R79e280b54b6949b8" /><Relationship Type="http://schemas.openxmlformats.org/officeDocument/2006/relationships/slide" Target="/ppt/slides/slide37.xml" Id="R3970526b0af84342" /><Relationship Type="http://schemas.openxmlformats.org/officeDocument/2006/relationships/slide" Target="/ppt/slides/slide38.xml" Id="R0efa6e2a18424276" /><Relationship Type="http://schemas.openxmlformats.org/officeDocument/2006/relationships/slide" Target="/ppt/slides/slide39.xml" Id="R3234816f35a842bf" /><Relationship Type="http://schemas.openxmlformats.org/officeDocument/2006/relationships/slide" Target="/ppt/slides/slide40.xml" Id="R7b60977995f743fe" /><Relationship Type="http://schemas.openxmlformats.org/officeDocument/2006/relationships/slide" Target="/ppt/slides/slide41.xml" Id="R8f8a03112b3449df" /><Relationship Type="http://schemas.openxmlformats.org/officeDocument/2006/relationships/slide" Target="/ppt/slides/slide42.xml" Id="R106322a267c541a5" /><Relationship Type="http://schemas.openxmlformats.org/officeDocument/2006/relationships/slide" Target="/ppt/slides/slide43.xml" Id="R6186f1f8ac0e40b0" /><Relationship Type="http://schemas.openxmlformats.org/officeDocument/2006/relationships/slide" Target="/ppt/slides/slide44.xml" Id="R9056cafa56c041da" /><Relationship Type="http://schemas.openxmlformats.org/officeDocument/2006/relationships/slide" Target="/ppt/slides/slide45.xml" Id="R74b53b10ab8d4851" /><Relationship Type="http://schemas.openxmlformats.org/officeDocument/2006/relationships/slide" Target="/ppt/slides/slide46.xml" Id="R29686b3f03e44288" /><Relationship Type="http://schemas.openxmlformats.org/officeDocument/2006/relationships/slide" Target="/ppt/slides/slide47.xml" Id="R71868bc3ab074b04" /><Relationship Type="http://schemas.openxmlformats.org/officeDocument/2006/relationships/slide" Target="/ppt/slides/slide48.xml" Id="Rf8cd46f41a0649ee" /><Relationship Type="http://schemas.openxmlformats.org/officeDocument/2006/relationships/slide" Target="/ppt/slides/slide49.xml" Id="R4ebb4db684aa413c" /><Relationship Type="http://schemas.openxmlformats.org/officeDocument/2006/relationships/slide" Target="/ppt/slides/slide50.xml" Id="R9bf023cb06504d22" /><Relationship Type="http://schemas.openxmlformats.org/officeDocument/2006/relationships/slide" Target="/ppt/slides/slide51.xml" Id="Rdb1ccbf330ab4fca" /><Relationship Type="http://schemas.openxmlformats.org/officeDocument/2006/relationships/slide" Target="/ppt/slides/slide52.xml" Id="R8fe86d452cfa4d40" /><Relationship Type="http://schemas.openxmlformats.org/officeDocument/2006/relationships/slide" Target="/ppt/slides/slide53.xml" Id="R155c203228334a3d" /><Relationship Type="http://schemas.openxmlformats.org/officeDocument/2006/relationships/slide" Target="/ppt/slides/slide54.xml" Id="R3eb0c753e5c847e6" /><Relationship Type="http://schemas.openxmlformats.org/officeDocument/2006/relationships/slide" Target="/ppt/slides/slide55.xml" Id="R1710f2927d624807" /><Relationship Type="http://schemas.openxmlformats.org/officeDocument/2006/relationships/slide" Target="/ppt/slides/slide56.xml" Id="R1a20b5d9aff14bad" /><Relationship Type="http://schemas.openxmlformats.org/officeDocument/2006/relationships/slide" Target="/ppt/slides/slide57.xml" Id="Rcd76994c4a6b484c" /><Relationship Type="http://schemas.openxmlformats.org/officeDocument/2006/relationships/slide" Target="/ppt/slides/slide58.xml" Id="R0a86ff2d8452410d" /><Relationship Type="http://schemas.openxmlformats.org/officeDocument/2006/relationships/slide" Target="/ppt/slides/slide59.xml" Id="R3bd56de667f942bb" /><Relationship Type="http://schemas.openxmlformats.org/officeDocument/2006/relationships/slide" Target="/ppt/slides/slide60.xml" Id="R03ed451099974b25" /><Relationship Type="http://schemas.openxmlformats.org/officeDocument/2006/relationships/slide" Target="/ppt/slides/slide61.xml" Id="Rcd808536ad34407d" /><Relationship Type="http://schemas.openxmlformats.org/officeDocument/2006/relationships/slide" Target="/ppt/slides/slide62.xml" Id="R0ab79ea3271649ae" /><Relationship Type="http://schemas.openxmlformats.org/officeDocument/2006/relationships/slide" Target="/ppt/slides/slide63.xml" Id="Re79dec27ba26493b" /><Relationship Type="http://schemas.openxmlformats.org/officeDocument/2006/relationships/slide" Target="/ppt/slides/slide64.xml" Id="Rf2a45faa5a6c4c67" /><Relationship Type="http://schemas.openxmlformats.org/officeDocument/2006/relationships/slide" Target="/ppt/slides/slide65.xml" Id="R2ccde386d032438d" /><Relationship Type="http://schemas.openxmlformats.org/officeDocument/2006/relationships/slide" Target="/ppt/slides/slide66.xml" Id="Rd64b6fde1cab4171" /><Relationship Type="http://schemas.openxmlformats.org/officeDocument/2006/relationships/slide" Target="/ppt/slides/slide67.xml" Id="Re3c28594f598463f" /><Relationship Type="http://schemas.openxmlformats.org/officeDocument/2006/relationships/slide" Target="/ppt/slides/slide68.xml" Id="Rc82231fe9a7e414e" /><Relationship Type="http://schemas.openxmlformats.org/officeDocument/2006/relationships/slide" Target="/ppt/slides/slide69.xml" Id="R7c61f373a48344ff" /><Relationship Type="http://schemas.openxmlformats.org/officeDocument/2006/relationships/slide" Target="/ppt/slides/slide70.xml" Id="R9fccd8dfc4114ad7" /><Relationship Type="http://schemas.openxmlformats.org/officeDocument/2006/relationships/slide" Target="/ppt/slides/slide71.xml" Id="R5c2c4e27870548cb" /><Relationship Type="http://schemas.openxmlformats.org/officeDocument/2006/relationships/slide" Target="/ppt/slides/slide72.xml" Id="Rbf7db1953f3f4eb5" /><Relationship Type="http://schemas.openxmlformats.org/officeDocument/2006/relationships/slide" Target="/ppt/slides/slide73.xml" Id="R266a015768904317" /><Relationship Type="http://schemas.openxmlformats.org/officeDocument/2006/relationships/slide" Target="/ppt/slides/slide74.xml" Id="R4c8f008b25a24694" /><Relationship Type="http://schemas.openxmlformats.org/officeDocument/2006/relationships/slide" Target="/ppt/slides/slide75.xml" Id="R59aec4766b9f4a6e" /><Relationship Type="http://schemas.openxmlformats.org/officeDocument/2006/relationships/slide" Target="/ppt/slides/slide76.xml" Id="R05c7144e39444ed6" /><Relationship Type="http://schemas.openxmlformats.org/officeDocument/2006/relationships/slide" Target="/ppt/slides/slide77.xml" Id="R53348fe814a84991" /><Relationship Type="http://schemas.openxmlformats.org/officeDocument/2006/relationships/slide" Target="/ppt/slides/slide78.xml" Id="Rca0c5d9540764d46" /><Relationship Type="http://schemas.openxmlformats.org/officeDocument/2006/relationships/slide" Target="/ppt/slides/slide79.xml" Id="R82810eaf501b4958" /><Relationship Type="http://schemas.openxmlformats.org/officeDocument/2006/relationships/slide" Target="/ppt/slides/slide80.xml" Id="Rc035b1adb49d4980" /><Relationship Type="http://schemas.openxmlformats.org/officeDocument/2006/relationships/slide" Target="/ppt/slides/slide81.xml" Id="Rdcab0f4fc2df4f47" /><Relationship Type="http://schemas.openxmlformats.org/officeDocument/2006/relationships/slide" Target="/ppt/slides/slide82.xml" Id="R207bbe3195914252" /><Relationship Type="http://schemas.openxmlformats.org/officeDocument/2006/relationships/slide" Target="/ppt/slides/slide83.xml" Id="R158c18114df442a7" /><Relationship Type="http://schemas.openxmlformats.org/officeDocument/2006/relationships/slide" Target="/ppt/slides/slide84.xml" Id="Rde330882b3a14e3a" /><Relationship Type="http://schemas.openxmlformats.org/officeDocument/2006/relationships/slide" Target="/ppt/slides/slide85.xml" Id="R6cbc84504b5e4937" /><Relationship Type="http://schemas.openxmlformats.org/officeDocument/2006/relationships/slide" Target="/ppt/slides/slide86.xml" Id="R3187187584da470a" /><Relationship Type="http://schemas.openxmlformats.org/officeDocument/2006/relationships/slide" Target="/ppt/slides/slide87.xml" Id="R75140f53b03d43aa" /><Relationship Type="http://schemas.openxmlformats.org/officeDocument/2006/relationships/slide" Target="/ppt/slides/slide88.xml" Id="R4a4bc6eaff994235" /><Relationship Type="http://schemas.openxmlformats.org/officeDocument/2006/relationships/slide" Target="/ppt/slides/slide89.xml" Id="R82b07a72cb494816" /><Relationship Type="http://schemas.openxmlformats.org/officeDocument/2006/relationships/slide" Target="/ppt/slides/slide90.xml" Id="R187232d87d284ddb" /><Relationship Type="http://schemas.openxmlformats.org/officeDocument/2006/relationships/slide" Target="/ppt/slides/slide91.xml" Id="Rf5da39768c904493" /><Relationship Type="http://schemas.openxmlformats.org/officeDocument/2006/relationships/slide" Target="/ppt/slides/slide92.xml" Id="Rc1ed762c6a634861" /><Relationship Type="http://schemas.openxmlformats.org/officeDocument/2006/relationships/slide" Target="/ppt/slides/slide93.xml" Id="R54082144ef5a47fe" /><Relationship Type="http://schemas.openxmlformats.org/officeDocument/2006/relationships/slide" Target="/ppt/slides/slide94.xml" Id="R9405a2cadce3403a" /><Relationship Type="http://schemas.openxmlformats.org/officeDocument/2006/relationships/slide" Target="/ppt/slides/slide95.xml" Id="R9445f0042e6f4a87" /><Relationship Type="http://schemas.openxmlformats.org/officeDocument/2006/relationships/slide" Target="/ppt/slides/slide96.xml" Id="R0af816dd813e45cf" /><Relationship Type="http://schemas.openxmlformats.org/officeDocument/2006/relationships/slide" Target="/ppt/slides/slide97.xml" Id="R666ae21176c24973" /><Relationship Type="http://schemas.openxmlformats.org/officeDocument/2006/relationships/slide" Target="/ppt/slides/slide98.xml" Id="R265a3017800d4714" /><Relationship Type="http://schemas.openxmlformats.org/officeDocument/2006/relationships/slide" Target="/ppt/slides/slide99.xml" Id="R9b915ed9a3ac466b" /><Relationship Type="http://schemas.openxmlformats.org/officeDocument/2006/relationships/slide" Target="/ppt/slides/slide100.xml" Id="Rd29fc0cb61644434" /><Relationship Type="http://schemas.openxmlformats.org/officeDocument/2006/relationships/slide" Target="/ppt/slides/slide101.xml" Id="R4a73bc6d2d5d419f" /><Relationship Type="http://schemas.openxmlformats.org/officeDocument/2006/relationships/slide" Target="/ppt/slides/slide102.xml" Id="Rb699edc5893c480d" /><Relationship Type="http://schemas.openxmlformats.org/officeDocument/2006/relationships/slide" Target="/ppt/slides/slide103.xml" Id="R7b90b63498cc4a29" /><Relationship Type="http://schemas.openxmlformats.org/officeDocument/2006/relationships/slide" Target="/ppt/slides/slide104.xml" Id="Recd9a4452be44fe6" /><Relationship Type="http://schemas.openxmlformats.org/officeDocument/2006/relationships/slide" Target="/ppt/slides/slide105.xml" Id="R458832fcedb74b88" /><Relationship Type="http://schemas.openxmlformats.org/officeDocument/2006/relationships/slide" Target="/ppt/slides/slide106.xml" Id="R55683c00a47e42ac" /><Relationship Type="http://schemas.openxmlformats.org/officeDocument/2006/relationships/slide" Target="/ppt/slides/slide107.xml" Id="R87ce7d1b90574ce1" /><Relationship Type="http://schemas.openxmlformats.org/officeDocument/2006/relationships/slide" Target="/ppt/slides/slide108.xml" Id="R8bcd6d2b55c040a1" /><Relationship Type="http://schemas.openxmlformats.org/officeDocument/2006/relationships/slide" Target="/ppt/slides/slide109.xml" Id="R30bc5a2da6e1488f" /><Relationship Type="http://schemas.openxmlformats.org/officeDocument/2006/relationships/slide" Target="/ppt/slides/slide110.xml" Id="R31e5ff4e78e14283" /><Relationship Type="http://schemas.openxmlformats.org/officeDocument/2006/relationships/slide" Target="/ppt/slides/slide111.xml" Id="Rabb7b56b44d14527" /><Relationship Type="http://schemas.openxmlformats.org/officeDocument/2006/relationships/slide" Target="/ppt/slides/slide112.xml" Id="R91c632eae4384aaf" /><Relationship Type="http://schemas.openxmlformats.org/officeDocument/2006/relationships/slide" Target="/ppt/slides/slide113.xml" Id="R1f56ae8db37b464e" /><Relationship Type="http://schemas.openxmlformats.org/officeDocument/2006/relationships/slide" Target="/ppt/slides/slide114.xml" Id="Re30ca5bc32344aca" /><Relationship Type="http://schemas.openxmlformats.org/officeDocument/2006/relationships/slide" Target="/ppt/slides/slide115.xml" Id="R59c0ed1d6b404e36" /><Relationship Type="http://schemas.openxmlformats.org/officeDocument/2006/relationships/slide" Target="/ppt/slides/slide116.xml" Id="R4f31eb0507514dc8" /><Relationship Type="http://schemas.openxmlformats.org/officeDocument/2006/relationships/slide" Target="/ppt/slides/slide117.xml" Id="R33e546663e764b60" /><Relationship Type="http://schemas.openxmlformats.org/officeDocument/2006/relationships/slide" Target="/ppt/slides/slide118.xml" Id="Rbb29222dd33c4e1b" /><Relationship Type="http://schemas.openxmlformats.org/officeDocument/2006/relationships/slide" Target="/ppt/slides/slide119.xml" Id="R0f03cbfc2a0c46cf" /><Relationship Type="http://schemas.openxmlformats.org/officeDocument/2006/relationships/slide" Target="/ppt/slides/slide120.xml" Id="R4d4e643e506a4ffb" /><Relationship Type="http://schemas.openxmlformats.org/officeDocument/2006/relationships/slide" Target="/ppt/slides/slide121.xml" Id="R51ed1fc7dd4543ed" /><Relationship Type="http://schemas.openxmlformats.org/officeDocument/2006/relationships/slide" Target="/ppt/slides/slide122.xml" Id="Ra7b4d0a1a77d4e23" /><Relationship Type="http://schemas.openxmlformats.org/officeDocument/2006/relationships/slide" Target="/ppt/slides/slide123.xml" Id="R2f6d322dd2d24788" /><Relationship Type="http://schemas.openxmlformats.org/officeDocument/2006/relationships/slide" Target="/ppt/slides/slide124.xml" Id="R0c9660cba15e4736" /><Relationship Type="http://schemas.openxmlformats.org/officeDocument/2006/relationships/slide" Target="/ppt/slides/slide125.xml" Id="Rcae389a54dd840f0" /><Relationship Type="http://schemas.openxmlformats.org/officeDocument/2006/relationships/slide" Target="/ppt/slides/slide126.xml" Id="Ra95899587c0a4544" /><Relationship Type="http://schemas.openxmlformats.org/officeDocument/2006/relationships/slide" Target="/ppt/slides/slide127.xml" Id="R4ab782057bd74b16" /><Relationship Type="http://schemas.openxmlformats.org/officeDocument/2006/relationships/slide" Target="/ppt/slides/slide128.xml" Id="R19a82294406444cb" /><Relationship Type="http://schemas.openxmlformats.org/officeDocument/2006/relationships/slide" Target="/ppt/slides/slide129.xml" Id="R4f849dc2f9ee4bcb" /><Relationship Type="http://schemas.openxmlformats.org/officeDocument/2006/relationships/slide" Target="/ppt/slides/slide130.xml" Id="Rb29b8b8e8986483b" /><Relationship Type="http://schemas.openxmlformats.org/officeDocument/2006/relationships/slide" Target="/ppt/slides/slide131.xml" Id="Rc5113263da794dfa" /><Relationship Type="http://schemas.openxmlformats.org/officeDocument/2006/relationships/slide" Target="/ppt/slides/slide132.xml" Id="Re9a62b6ff03741ef" /><Relationship Type="http://schemas.openxmlformats.org/officeDocument/2006/relationships/slide" Target="/ppt/slides/slide133.xml" Id="R6c730dc70e19441c" /><Relationship Type="http://schemas.openxmlformats.org/officeDocument/2006/relationships/slide" Target="/ppt/slides/slide134.xml" Id="R05922991a01d47cc" /><Relationship Type="http://schemas.openxmlformats.org/officeDocument/2006/relationships/slide" Target="/ppt/slides/slide135.xml" Id="R5d0b74f58226495f" /><Relationship Type="http://schemas.openxmlformats.org/officeDocument/2006/relationships/slide" Target="/ppt/slides/slide136.xml" Id="R383499fbfd874a2f" /><Relationship Type="http://schemas.openxmlformats.org/officeDocument/2006/relationships/slide" Target="/ppt/slides/slide137.xml" Id="Rbff10c7dbe86409b" /><Relationship Type="http://schemas.openxmlformats.org/officeDocument/2006/relationships/slide" Target="/ppt/slides/slide138.xml" Id="R5bcaa707e5f44adc" /><Relationship Type="http://schemas.openxmlformats.org/officeDocument/2006/relationships/slide" Target="/ppt/slides/slide139.xml" Id="R5d1cfcfcea794cb7" /><Relationship Type="http://schemas.openxmlformats.org/officeDocument/2006/relationships/slide" Target="/ppt/slides/slide140.xml" Id="R4a79bfd2e18f4b26" /><Relationship Type="http://schemas.openxmlformats.org/officeDocument/2006/relationships/slide" Target="/ppt/slides/slide141.xml" Id="Rc6f66191efbf442f" /><Relationship Type="http://schemas.openxmlformats.org/officeDocument/2006/relationships/slide" Target="/ppt/slides/slide142.xml" Id="R05e3af3fe3db4d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abc2a9857514c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27bc198bbd461b" /><Relationship Type="http://schemas.openxmlformats.org/officeDocument/2006/relationships/notesMaster" Target="/ppt/notesMasters/notesMaster1.xml" Id="R34db0a8e6bc441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c0dd6138134f6e" /><Relationship Type="http://schemas.openxmlformats.org/officeDocument/2006/relationships/notesMaster" Target="/ppt/notesMasters/notesMaster1.xml" Id="R937b0c2afe2941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779b63d679463f" /><Relationship Type="http://schemas.openxmlformats.org/officeDocument/2006/relationships/notesMaster" Target="/ppt/notesMasters/notesMaster1.xml" Id="Ref2ba4191b1e46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d6d5d168dc4683" /><Relationship Type="http://schemas.openxmlformats.org/officeDocument/2006/relationships/notesMaster" Target="/ppt/notesMasters/notesMaster1.xml" Id="Re6712e1002c04b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dd32b6ea9148f3" /><Relationship Type="http://schemas.openxmlformats.org/officeDocument/2006/relationships/notesMaster" Target="/ppt/notesMasters/notesMaster1.xml" Id="R52491eeaa84143c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29522cb68e48d1" /><Relationship Type="http://schemas.openxmlformats.org/officeDocument/2006/relationships/notesMaster" Target="/ppt/notesMasters/notesMaster1.xml" Id="R2b6ddd4d01ae4d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dd500538044e88" /><Relationship Type="http://schemas.openxmlformats.org/officeDocument/2006/relationships/notesMaster" Target="/ppt/notesMasters/notesMaster1.xml" Id="R1957f829fe8347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7cf96fb74d492c" /><Relationship Type="http://schemas.openxmlformats.org/officeDocument/2006/relationships/notesMaster" Target="/ppt/notesMasters/notesMaster1.xml" Id="R78ec1d0a41d445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d5c88efadd4683" /><Relationship Type="http://schemas.openxmlformats.org/officeDocument/2006/relationships/notesMaster" Target="/ppt/notesMasters/notesMaster1.xml" Id="R88578b20776046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38cedbf53842e0" /><Relationship Type="http://schemas.openxmlformats.org/officeDocument/2006/relationships/notesMaster" Target="/ppt/notesMasters/notesMaster1.xml" Id="R014162fd1c2049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93f5b1c3ae4786" /><Relationship Type="http://schemas.openxmlformats.org/officeDocument/2006/relationships/notesMaster" Target="/ppt/notesMasters/notesMaster1.xml" Id="Rcb66f10140d343a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4579c4cc894546" /><Relationship Type="http://schemas.openxmlformats.org/officeDocument/2006/relationships/notesMaster" Target="/ppt/notesMasters/notesMaster1.xml" Id="Rbaa497f64bf141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d8fbdfef945497e" /><Relationship Type="http://schemas.openxmlformats.org/officeDocument/2006/relationships/notesMaster" Target="/ppt/notesMasters/notesMaster1.xml" Id="Re1517b419f2f4f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84ee4bf8e84a0a" /><Relationship Type="http://schemas.openxmlformats.org/officeDocument/2006/relationships/notesMaster" Target="/ppt/notesMasters/notesMaster1.xml" Id="R6ab77d21e96040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babafafb984e12" /><Relationship Type="http://schemas.openxmlformats.org/officeDocument/2006/relationships/notesMaster" Target="/ppt/notesMasters/notesMaster1.xml" Id="R9ef71da3dc20442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5acb49d5e644ba" /><Relationship Type="http://schemas.openxmlformats.org/officeDocument/2006/relationships/notesMaster" Target="/ppt/notesMasters/notesMaster1.xml" Id="R02b248e72ec9490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0822ec7b61d4169" /><Relationship Type="http://schemas.openxmlformats.org/officeDocument/2006/relationships/notesMaster" Target="/ppt/notesMasters/notesMaster1.xml" Id="R55fce62b4b084ae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62ad49eb93f4d8c" /><Relationship Type="http://schemas.openxmlformats.org/officeDocument/2006/relationships/notesMaster" Target="/ppt/notesMasters/notesMaster1.xml" Id="Rb7bb529837be4d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401b7737e764d00" /><Relationship Type="http://schemas.openxmlformats.org/officeDocument/2006/relationships/notesMaster" Target="/ppt/notesMasters/notesMaster1.xml" Id="R037c8a08bb69437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2631e28c59446f0" /><Relationship Type="http://schemas.openxmlformats.org/officeDocument/2006/relationships/notesMaster" Target="/ppt/notesMasters/notesMaster1.xml" Id="R5331b30a0fac4da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30bd7ac785a42a5" /><Relationship Type="http://schemas.openxmlformats.org/officeDocument/2006/relationships/notesMaster" Target="/ppt/notesMasters/notesMaster1.xml" Id="Rf3e92f4723e545e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faf28bd16047fe" /><Relationship Type="http://schemas.openxmlformats.org/officeDocument/2006/relationships/notesMaster" Target="/ppt/notesMasters/notesMaster1.xml" Id="Rf6689ff19c1645f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b3abdba5314020" /><Relationship Type="http://schemas.openxmlformats.org/officeDocument/2006/relationships/notesMaster" Target="/ppt/notesMasters/notesMaster1.xml" Id="Ra67e870f6b084d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60dbf53cd0d439e" /><Relationship Type="http://schemas.openxmlformats.org/officeDocument/2006/relationships/notesMaster" Target="/ppt/notesMasters/notesMaster1.xml" Id="R719ce725f7c4404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c0d557a314f46b2" /><Relationship Type="http://schemas.openxmlformats.org/officeDocument/2006/relationships/notesMaster" Target="/ppt/notesMasters/notesMaster1.xml" Id="R4374d8e81fd5451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b477015ee4b4ddb" /><Relationship Type="http://schemas.openxmlformats.org/officeDocument/2006/relationships/notesMaster" Target="/ppt/notesMasters/notesMaster1.xml" Id="R818aa71b6ca74bb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f4d70fa1c4c48de" /><Relationship Type="http://schemas.openxmlformats.org/officeDocument/2006/relationships/notesMaster" Target="/ppt/notesMasters/notesMaster1.xml" Id="Rfc643d54043f477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71ec8a96fd444c" /><Relationship Type="http://schemas.openxmlformats.org/officeDocument/2006/relationships/notesMaster" Target="/ppt/notesMasters/notesMaster1.xml" Id="R6e26864fb7834bd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fc9f28f8b3b4827" /><Relationship Type="http://schemas.openxmlformats.org/officeDocument/2006/relationships/notesMaster" Target="/ppt/notesMasters/notesMaster1.xml" Id="R8eecc6611738427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281aa1fbc824178" /><Relationship Type="http://schemas.openxmlformats.org/officeDocument/2006/relationships/notesMaster" Target="/ppt/notesMasters/notesMaster1.xml" Id="R42bc752a9a9a49e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7778af24634848" /><Relationship Type="http://schemas.openxmlformats.org/officeDocument/2006/relationships/notesMaster" Target="/ppt/notesMasters/notesMaster1.xml" Id="Ra3df4b7ebec54cd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9b160fd069c4fbc" /><Relationship Type="http://schemas.openxmlformats.org/officeDocument/2006/relationships/notesMaster" Target="/ppt/notesMasters/notesMaster1.xml" Id="Ra033d82c5e9c4fb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59a169f539349cc" /><Relationship Type="http://schemas.openxmlformats.org/officeDocument/2006/relationships/notesMaster" Target="/ppt/notesMasters/notesMaster1.xml" Id="Ra8e95de9a8c24a2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d53ad00b1414bdb" /><Relationship Type="http://schemas.openxmlformats.org/officeDocument/2006/relationships/notesMaster" Target="/ppt/notesMasters/notesMaster1.xml" Id="Race70ba48dc24dc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1b9f7300af5498c" /><Relationship Type="http://schemas.openxmlformats.org/officeDocument/2006/relationships/notesMaster" Target="/ppt/notesMasters/notesMaster1.xml" Id="Rf7f7675ab31645c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1eed682082b450d" /><Relationship Type="http://schemas.openxmlformats.org/officeDocument/2006/relationships/notesMaster" Target="/ppt/notesMasters/notesMaster1.xml" Id="R0952f88abd2d45b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545b7a82ecf46aa" /><Relationship Type="http://schemas.openxmlformats.org/officeDocument/2006/relationships/notesMaster" Target="/ppt/notesMasters/notesMaster1.xml" Id="R14a84fb077ce406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a2d23d671204f6c" /><Relationship Type="http://schemas.openxmlformats.org/officeDocument/2006/relationships/notesMaster" Target="/ppt/notesMasters/notesMaster1.xml" Id="Rcc90b069e1e745d0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ab6f391cd374853" /><Relationship Type="http://schemas.openxmlformats.org/officeDocument/2006/relationships/notesMaster" Target="/ppt/notesMasters/notesMaster1.xml" Id="Rf313bfdaa919424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a4798949a404706" /><Relationship Type="http://schemas.openxmlformats.org/officeDocument/2006/relationships/notesMaster" Target="/ppt/notesMasters/notesMaster1.xml" Id="R774fd316341a4b3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719351ac6214c1c" /><Relationship Type="http://schemas.openxmlformats.org/officeDocument/2006/relationships/notesMaster" Target="/ppt/notesMasters/notesMaster1.xml" Id="Reb1904603cbe418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863c5e7254e41dd" /><Relationship Type="http://schemas.openxmlformats.org/officeDocument/2006/relationships/notesMaster" Target="/ppt/notesMasters/notesMaster1.xml" Id="R5fff23e991af405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d13bf64afc64f77" /><Relationship Type="http://schemas.openxmlformats.org/officeDocument/2006/relationships/notesMaster" Target="/ppt/notesMasters/notesMaster1.xml" Id="R0993783c76c44eb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3a72ccdac414e79" /><Relationship Type="http://schemas.openxmlformats.org/officeDocument/2006/relationships/notesMaster" Target="/ppt/notesMasters/notesMaster1.xml" Id="R5b329bcba89c4a1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92354a021ee46e6" /><Relationship Type="http://schemas.openxmlformats.org/officeDocument/2006/relationships/notesMaster" Target="/ppt/notesMasters/notesMaster1.xml" Id="R83f5936b95a040c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a6913267eda4a1b" /><Relationship Type="http://schemas.openxmlformats.org/officeDocument/2006/relationships/notesMaster" Target="/ppt/notesMasters/notesMaster1.xml" Id="R55ea6d3d4829458a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431d39b579246f9" /><Relationship Type="http://schemas.openxmlformats.org/officeDocument/2006/relationships/notesMaster" Target="/ppt/notesMasters/notesMaster1.xml" Id="R2ae4900022e4400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e09779892324993" /><Relationship Type="http://schemas.openxmlformats.org/officeDocument/2006/relationships/notesMaster" Target="/ppt/notesMasters/notesMaster1.xml" Id="Ra6faed2edf2c452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069d3a2ebb04e38" /><Relationship Type="http://schemas.openxmlformats.org/officeDocument/2006/relationships/notesMaster" Target="/ppt/notesMasters/notesMaster1.xml" Id="R01403a7b65dc4daa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9c792e0fda34ff3" /><Relationship Type="http://schemas.openxmlformats.org/officeDocument/2006/relationships/notesMaster" Target="/ppt/notesMasters/notesMaster1.xml" Id="R808c5355b8604ce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87fa681510394247" /><Relationship Type="http://schemas.openxmlformats.org/officeDocument/2006/relationships/notesMaster" Target="/ppt/notesMasters/notesMaster1.xml" Id="R5e2d7fa1f64549b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8294d457643d4402" /><Relationship Type="http://schemas.openxmlformats.org/officeDocument/2006/relationships/notesMaster" Target="/ppt/notesMasters/notesMaster1.xml" Id="R3db5198e5b40452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af9373ff9184271" /><Relationship Type="http://schemas.openxmlformats.org/officeDocument/2006/relationships/notesMaster" Target="/ppt/notesMasters/notesMaster1.xml" Id="R12f82244c397468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dbda316f428d4022" /><Relationship Type="http://schemas.openxmlformats.org/officeDocument/2006/relationships/notesMaster" Target="/ppt/notesMasters/notesMaster1.xml" Id="R498cd39218fb4a9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404bdb8e590494e" /><Relationship Type="http://schemas.openxmlformats.org/officeDocument/2006/relationships/notesMaster" Target="/ppt/notesMasters/notesMaster1.xml" Id="Rb4a744ac23574ce9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18036a7dcade4912" /><Relationship Type="http://schemas.openxmlformats.org/officeDocument/2006/relationships/notesMaster" Target="/ppt/notesMasters/notesMaster1.xml" Id="Rda57cae3a289425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c1689491dfc940b7" /><Relationship Type="http://schemas.openxmlformats.org/officeDocument/2006/relationships/notesMaster" Target="/ppt/notesMasters/notesMaster1.xml" Id="Reaea6397ca5e4b4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452f1508e0c40b3" /><Relationship Type="http://schemas.openxmlformats.org/officeDocument/2006/relationships/notesMaster" Target="/ppt/notesMasters/notesMaster1.xml" Id="R1f181aa69e0c4595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3129462c420427f" /><Relationship Type="http://schemas.openxmlformats.org/officeDocument/2006/relationships/notesMaster" Target="/ppt/notesMasters/notesMaster1.xml" Id="R257b395d2f7343bd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ce71a8db54c44f9" /><Relationship Type="http://schemas.openxmlformats.org/officeDocument/2006/relationships/notesMaster" Target="/ppt/notesMasters/notesMaster1.xml" Id="R1391042d23b74c02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f36e5d944104c33" /><Relationship Type="http://schemas.openxmlformats.org/officeDocument/2006/relationships/notesMaster" Target="/ppt/notesMasters/notesMaster1.xml" Id="Rdaa0524a096c4e5d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6f5662508a994ab3" /><Relationship Type="http://schemas.openxmlformats.org/officeDocument/2006/relationships/notesMaster" Target="/ppt/notesMasters/notesMaster1.xml" Id="R2d87dcd4c36246b9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dc9f939181cb4aad" /><Relationship Type="http://schemas.openxmlformats.org/officeDocument/2006/relationships/notesMaster" Target="/ppt/notesMasters/notesMaster1.xml" Id="R94d1f4810cce4ff6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2875035ab59c49b1" /><Relationship Type="http://schemas.openxmlformats.org/officeDocument/2006/relationships/notesMaster" Target="/ppt/notesMasters/notesMaster1.xml" Id="Rc391fddd276f4dc8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a4c86244d6924943" /><Relationship Type="http://schemas.openxmlformats.org/officeDocument/2006/relationships/notesMaster" Target="/ppt/notesMasters/notesMaster1.xml" Id="R1258833c2e144d36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16d88ac7b07048f4" /><Relationship Type="http://schemas.openxmlformats.org/officeDocument/2006/relationships/notesMaster" Target="/ppt/notesMasters/notesMaster1.xml" Id="R0f71b59738dc40b3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14efd57868ea4758" /><Relationship Type="http://schemas.openxmlformats.org/officeDocument/2006/relationships/notesMaster" Target="/ppt/notesMasters/notesMaster1.xml" Id="R192759f7652d4414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cd72ecf6f2f9496f" /><Relationship Type="http://schemas.openxmlformats.org/officeDocument/2006/relationships/notesMaster" Target="/ppt/notesMasters/notesMaster1.xml" Id="Rb2f6ef8891fd43a7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93bc9c9df9f14c79" /><Relationship Type="http://schemas.openxmlformats.org/officeDocument/2006/relationships/notesMaster" Target="/ppt/notesMasters/notesMaster1.xml" Id="Racf8e6e33d70489c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e48c27660a194276" /><Relationship Type="http://schemas.openxmlformats.org/officeDocument/2006/relationships/notesMaster" Target="/ppt/notesMasters/notesMaster1.xml" Id="R25a5558bc61541d5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6dd5f327f1df4824" /><Relationship Type="http://schemas.openxmlformats.org/officeDocument/2006/relationships/notesMaster" Target="/ppt/notesMasters/notesMaster1.xml" Id="R91796110a945478d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89609e8edbc0437b" /><Relationship Type="http://schemas.openxmlformats.org/officeDocument/2006/relationships/notesMaster" Target="/ppt/notesMasters/notesMaster1.xml" Id="Re3a1ba29c6554a35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593b315f31e743d7" /><Relationship Type="http://schemas.openxmlformats.org/officeDocument/2006/relationships/notesMaster" Target="/ppt/notesMasters/notesMaster1.xml" Id="R67a54ac1da474a97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746650a7ce5b4290" /><Relationship Type="http://schemas.openxmlformats.org/officeDocument/2006/relationships/notesMaster" Target="/ppt/notesMasters/notesMaster1.xml" Id="Ra452f3a7c2914c49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3267e58d3092481b" /><Relationship Type="http://schemas.openxmlformats.org/officeDocument/2006/relationships/notesMaster" Target="/ppt/notesMasters/notesMaster1.xml" Id="R8f6bcbd1782445d6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b2457e9f08e843d8" /><Relationship Type="http://schemas.openxmlformats.org/officeDocument/2006/relationships/notesMaster" Target="/ppt/notesMasters/notesMaster1.xml" Id="Rb6e9f6a00b7c4493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eee9a8daa1cc4159" /><Relationship Type="http://schemas.openxmlformats.org/officeDocument/2006/relationships/notesMaster" Target="/ppt/notesMasters/notesMaster1.xml" Id="R987c1db488a8482a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d32b38fccd4e42e5" /><Relationship Type="http://schemas.openxmlformats.org/officeDocument/2006/relationships/notesMaster" Target="/ppt/notesMasters/notesMaster1.xml" Id="R35016d86aa154804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5b72c936ac054c9b" /><Relationship Type="http://schemas.openxmlformats.org/officeDocument/2006/relationships/notesMaster" Target="/ppt/notesMasters/notesMaster1.xml" Id="Rbdc77afdb17a40a8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73168ed71b2541e6" /><Relationship Type="http://schemas.openxmlformats.org/officeDocument/2006/relationships/notesMaster" Target="/ppt/notesMasters/notesMaster1.xml" Id="R04eed9166464445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75156e33878b4b4b" /><Relationship Type="http://schemas.openxmlformats.org/officeDocument/2006/relationships/notesMaster" Target="/ppt/notesMasters/notesMaster1.xml" Id="R6a6d91e490f640d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9da7772803fa4583" /><Relationship Type="http://schemas.openxmlformats.org/officeDocument/2006/relationships/notesMaster" Target="/ppt/notesMasters/notesMaster1.xml" Id="Rec5a2553c9e7495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61765464bc7c46f7" /><Relationship Type="http://schemas.openxmlformats.org/officeDocument/2006/relationships/notesMaster" Target="/ppt/notesMasters/notesMaster1.xml" Id="R42c61794b0234a63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c104f52b75524e66" /><Relationship Type="http://schemas.openxmlformats.org/officeDocument/2006/relationships/notesMaster" Target="/ppt/notesMasters/notesMaster1.xml" Id="R5e8603f5e5654939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56d2e5718fae4b57" /><Relationship Type="http://schemas.openxmlformats.org/officeDocument/2006/relationships/notesMaster" Target="/ppt/notesMasters/notesMaster1.xml" Id="Rd9a7058c13b04aa9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d29971aeb15b4c94" /><Relationship Type="http://schemas.openxmlformats.org/officeDocument/2006/relationships/notesMaster" Target="/ppt/notesMasters/notesMaster1.xml" Id="Rb6e7a8eda9464d51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39109cd3e46f4a15" /><Relationship Type="http://schemas.openxmlformats.org/officeDocument/2006/relationships/notesMaster" Target="/ppt/notesMasters/notesMaster1.xml" Id="Rb4be501fd7b64d9f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ab46c38409824da6" /><Relationship Type="http://schemas.openxmlformats.org/officeDocument/2006/relationships/notesMaster" Target="/ppt/notesMasters/notesMaster1.xml" Id="R655372b852d34968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562ca84a28ed42e9" /><Relationship Type="http://schemas.openxmlformats.org/officeDocument/2006/relationships/notesMaster" Target="/ppt/notesMasters/notesMaster1.xml" Id="Re3711463dad64a1e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556bc8fc03924d3e" /><Relationship Type="http://schemas.openxmlformats.org/officeDocument/2006/relationships/notesMaster" Target="/ppt/notesMasters/notesMaster1.xml" Id="R078e08609061443a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e8d62157ea15427b" /><Relationship Type="http://schemas.openxmlformats.org/officeDocument/2006/relationships/notesMaster" Target="/ppt/notesMasters/notesMaster1.xml" Id="R36c0042934c5480f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bd6c1ebd6f6e4f2c" /><Relationship Type="http://schemas.openxmlformats.org/officeDocument/2006/relationships/notesMaster" Target="/ppt/notesMasters/notesMaster1.xml" Id="R59982fbc4e3848af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f52ac767c4234893" /><Relationship Type="http://schemas.openxmlformats.org/officeDocument/2006/relationships/notesMaster" Target="/ppt/notesMasters/notesMaster1.xml" Id="Rd3ae5593d7854e6c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2f6944f4828d4264" /><Relationship Type="http://schemas.openxmlformats.org/officeDocument/2006/relationships/notesMaster" Target="/ppt/notesMasters/notesMaster1.xml" Id="R1a4a21b7f1a94455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5071c7d7b3404df5" /><Relationship Type="http://schemas.openxmlformats.org/officeDocument/2006/relationships/notesMaster" Target="/ppt/notesMasters/notesMaster1.xml" Id="R07424a86038e4782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55d04b482b344b60" /><Relationship Type="http://schemas.openxmlformats.org/officeDocument/2006/relationships/notesMaster" Target="/ppt/notesMasters/notesMaster1.xml" Id="Re7816e18edea4108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5f8f6024d1514a54" /><Relationship Type="http://schemas.openxmlformats.org/officeDocument/2006/relationships/notesMaster" Target="/ppt/notesMasters/notesMaster1.xml" Id="R2faabfcf9b89404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70978f57ac0b45ea" /><Relationship Type="http://schemas.openxmlformats.org/officeDocument/2006/relationships/notesMaster" Target="/ppt/notesMasters/notesMaster1.xml" Id="R4c1d45fb826541bf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440bfff4b1284d9c" /><Relationship Type="http://schemas.openxmlformats.org/officeDocument/2006/relationships/notesMaster" Target="/ppt/notesMasters/notesMaster1.xml" Id="R6da10731aba34579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442b72d06f044381" /><Relationship Type="http://schemas.openxmlformats.org/officeDocument/2006/relationships/notesMaster" Target="/ppt/notesMasters/notesMaster1.xml" Id="Re258e50911fa42b5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be95e8d41b204c2b" /><Relationship Type="http://schemas.openxmlformats.org/officeDocument/2006/relationships/notesMaster" Target="/ppt/notesMasters/notesMaster1.xml" Id="Rf908a4663df0449f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f4284be1561f4297" /><Relationship Type="http://schemas.openxmlformats.org/officeDocument/2006/relationships/notesMaster" Target="/ppt/notesMasters/notesMaster1.xml" Id="R340ae35350204a1a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d4aac98637614232" /><Relationship Type="http://schemas.openxmlformats.org/officeDocument/2006/relationships/notesMaster" Target="/ppt/notesMasters/notesMaster1.xml" Id="Reb68700d27c648b7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2e33b2d8acef4f7f" /><Relationship Type="http://schemas.openxmlformats.org/officeDocument/2006/relationships/notesMaster" Target="/ppt/notesMasters/notesMaster1.xml" Id="Raed240f0056640c5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41a67773cb8d43a8" /><Relationship Type="http://schemas.openxmlformats.org/officeDocument/2006/relationships/notesMaster" Target="/ppt/notesMasters/notesMaster1.xml" Id="R2f79162f77304b8b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d1df967a461f41ac" /><Relationship Type="http://schemas.openxmlformats.org/officeDocument/2006/relationships/notesMaster" Target="/ppt/notesMasters/notesMaster1.xml" Id="R20a1071f971b4beb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861c286314504023" /><Relationship Type="http://schemas.openxmlformats.org/officeDocument/2006/relationships/notesMaster" Target="/ppt/notesMasters/notesMaster1.xml" Id="Re23ddfc7c88a4a8f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7ae34bf67878466a" /><Relationship Type="http://schemas.openxmlformats.org/officeDocument/2006/relationships/notesMaster" Target="/ppt/notesMasters/notesMaster1.xml" Id="Rf7857849a4b14465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de9216e933c44057" /><Relationship Type="http://schemas.openxmlformats.org/officeDocument/2006/relationships/notesMaster" Target="/ppt/notesMasters/notesMaster1.xml" Id="R409c397e3af44ed3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0b3c36f4d3a64227" /><Relationship Type="http://schemas.openxmlformats.org/officeDocument/2006/relationships/notesMaster" Target="/ppt/notesMasters/notesMaster1.xml" Id="R0c9d55233a5f4cb9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3a56b44601094037" /><Relationship Type="http://schemas.openxmlformats.org/officeDocument/2006/relationships/notesMaster" Target="/ppt/notesMasters/notesMaster1.xml" Id="R80edc8adb4e449f6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d2e0b25a89f14f33" /><Relationship Type="http://schemas.openxmlformats.org/officeDocument/2006/relationships/notesMaster" Target="/ppt/notesMasters/notesMaster1.xml" Id="Rc8e2602c92794aab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3eabd76264d7400a" /><Relationship Type="http://schemas.openxmlformats.org/officeDocument/2006/relationships/notesMaster" Target="/ppt/notesMasters/notesMaster1.xml" Id="Rdce042ac377a480e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35bf5765dcb64547" /><Relationship Type="http://schemas.openxmlformats.org/officeDocument/2006/relationships/notesMaster" Target="/ppt/notesMasters/notesMaster1.xml" Id="Rf6229140065640a9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8b0fa4daa8484746" /><Relationship Type="http://schemas.openxmlformats.org/officeDocument/2006/relationships/notesMaster" Target="/ppt/notesMasters/notesMaster1.xml" Id="R8cda672b114c4888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aabce5bdbc344fd4" /><Relationship Type="http://schemas.openxmlformats.org/officeDocument/2006/relationships/notesMaster" Target="/ppt/notesMasters/notesMaster1.xml" Id="Ra17f7d41dbea4b4f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4a1096ffd173467c" /><Relationship Type="http://schemas.openxmlformats.org/officeDocument/2006/relationships/notesMaster" Target="/ppt/notesMasters/notesMaster1.xml" Id="Ra097a14a7b3c4383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c5c912aa593436b" /><Relationship Type="http://schemas.openxmlformats.org/officeDocument/2006/relationships/notesMaster" Target="/ppt/notesMasters/notesMaster1.xml" Id="R4ffea4d21a0441ab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4c169c060f38415c" /><Relationship Type="http://schemas.openxmlformats.org/officeDocument/2006/relationships/notesMaster" Target="/ppt/notesMasters/notesMaster1.xml" Id="R7d0d2a6b357d4604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68f58b69b6314f2c" /><Relationship Type="http://schemas.openxmlformats.org/officeDocument/2006/relationships/notesMaster" Target="/ppt/notesMasters/notesMaster1.xml" Id="Ra6a5f9afcab249af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b1e8a921a5a64140" /><Relationship Type="http://schemas.openxmlformats.org/officeDocument/2006/relationships/notesMaster" Target="/ppt/notesMasters/notesMaster1.xml" Id="Rc256466d7e0f4792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4504143ea9ff4628" /><Relationship Type="http://schemas.openxmlformats.org/officeDocument/2006/relationships/notesMaster" Target="/ppt/notesMasters/notesMaster1.xml" Id="Rb55a100b7f3c4fe2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203f572ae76045db" /><Relationship Type="http://schemas.openxmlformats.org/officeDocument/2006/relationships/notesMaster" Target="/ppt/notesMasters/notesMaster1.xml" Id="Rcd3d1b1e3e0e4439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2d907a5220cc4e65" /><Relationship Type="http://schemas.openxmlformats.org/officeDocument/2006/relationships/notesMaster" Target="/ppt/notesMasters/notesMaster1.xml" Id="R8c9bb1954f264459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af4ef3801ffe41c4" /><Relationship Type="http://schemas.openxmlformats.org/officeDocument/2006/relationships/notesMaster" Target="/ppt/notesMasters/notesMaster1.xml" Id="Rae618a942b834185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9dabbe2ca3114eee" /><Relationship Type="http://schemas.openxmlformats.org/officeDocument/2006/relationships/notesMaster" Target="/ppt/notesMasters/notesMaster1.xml" Id="R402b4a2824ad45e5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01ff61c68c7c40b2" /><Relationship Type="http://schemas.openxmlformats.org/officeDocument/2006/relationships/notesMaster" Target="/ppt/notesMasters/notesMaster1.xml" Id="Rbdffa3907b3f4d13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70a7b27a01f844f5" /><Relationship Type="http://schemas.openxmlformats.org/officeDocument/2006/relationships/notesMaster" Target="/ppt/notesMasters/notesMaster1.xml" Id="Rd8c5287b20c44d0f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d9dc109543cd4e13" /><Relationship Type="http://schemas.openxmlformats.org/officeDocument/2006/relationships/notesMaster" Target="/ppt/notesMasters/notesMaster1.xml" Id="R136ec74f376a4730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cdb4332e54584d7c" /><Relationship Type="http://schemas.openxmlformats.org/officeDocument/2006/relationships/notesMaster" Target="/ppt/notesMasters/notesMaster1.xml" Id="Rc60ab1d6e0634123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89775868208342e5" /><Relationship Type="http://schemas.openxmlformats.org/officeDocument/2006/relationships/notesMaster" Target="/ppt/notesMasters/notesMaster1.xml" Id="R9d84e5bd1cf9433f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5d972a88b7fa4b67" /><Relationship Type="http://schemas.openxmlformats.org/officeDocument/2006/relationships/notesMaster" Target="/ppt/notesMasters/notesMaster1.xml" Id="R96f8728706324ca1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603dc53742a249e5" /><Relationship Type="http://schemas.openxmlformats.org/officeDocument/2006/relationships/notesMaster" Target="/ppt/notesMasters/notesMaster1.xml" Id="R736797062f92416b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de648e29ba824d0a" /><Relationship Type="http://schemas.openxmlformats.org/officeDocument/2006/relationships/notesMaster" Target="/ppt/notesMasters/notesMaster1.xml" Id="Raf372473e2334395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f4eea653f07c417d" /><Relationship Type="http://schemas.openxmlformats.org/officeDocument/2006/relationships/notesMaster" Target="/ppt/notesMasters/notesMaster1.xml" Id="R5f9051c6307c4938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ef739641f7574285" /><Relationship Type="http://schemas.openxmlformats.org/officeDocument/2006/relationships/notesMaster" Target="/ppt/notesMasters/notesMaster1.xml" Id="Rdc011cc0e7b545a4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a544701c0889474b" /><Relationship Type="http://schemas.openxmlformats.org/officeDocument/2006/relationships/notesMaster" Target="/ppt/notesMasters/notesMaster1.xml" Id="R81191adbfd7a4103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3d26b67a411a406d" /><Relationship Type="http://schemas.openxmlformats.org/officeDocument/2006/relationships/notesMaster" Target="/ppt/notesMasters/notesMaster1.xml" Id="R7718b9e9b3a748ba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0cf84a75d438492a" /><Relationship Type="http://schemas.openxmlformats.org/officeDocument/2006/relationships/notesMaster" Target="/ppt/notesMasters/notesMaster1.xml" Id="R6bb916ddaec14767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fb3c60cefbb44b24" /><Relationship Type="http://schemas.openxmlformats.org/officeDocument/2006/relationships/notesMaster" Target="/ppt/notesMasters/notesMaster1.xml" Id="Rdf6501a6471a439a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78f9b3af24e8443a" /><Relationship Type="http://schemas.openxmlformats.org/officeDocument/2006/relationships/notesMaster" Target="/ppt/notesMasters/notesMaster1.xml" Id="R8db7ddd644da4677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573f7d618a484236" /><Relationship Type="http://schemas.openxmlformats.org/officeDocument/2006/relationships/notesMaster" Target="/ppt/notesMasters/notesMaster1.xml" Id="R17695850f8db4b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1: 1-Day SOC Building and Operations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2: Why this workshop exists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Most SOC failures are operating-model failures before they are tool failures.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3: Audience map by role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 owns risk appetite, funding, executive escalation, and external posture.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4: Learning outcomes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Design a SOC blueprint with scope, telemetry, tools, and ownership.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5: Full-day agenda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6: How to use this deck during the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7: How this repo maps to the workshop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Build content comes from SOC fundamentals, budget, architecture, and technology guides.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8: Workshop rules: practical outputs, not theory only</a:t>
            </a:r>
          </a:p>
          <a:p xmlns:a="http://schemas.openxmlformats.org/drawingml/2006/main">
            <a:r>
              <a:t>Module: Opening and Workshop Framing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the operating decision this topic must support.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9: What a SOC is and is not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 SOC is an operating capability, not a room with dashboards.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10: Business outcomes of a SOC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Reduce detection and response time for priority threats.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11: SOC service boundaries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Define which assets, identities, services, cloud workloads, and data classes are in scope.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12: SOC maturity stages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Foundation: scope, minimum telemetry, triage routine, and severity model.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13: In-house vs MSSP vs hybrid model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In-house maximizes control but requires staffing, management, and content maturity.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14: When each operating model fails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In-house fails when coverage expands faster than staffing and process quality.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15: Minimum viable SOC vs mature SOC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Minimum viable means critical logs, critical detections, triage, severity, and escalation.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16: Core SOC services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Monitoring and triage: alert intake, enrichment, severity, and routing.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17: People, process, technology operating triangle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People decide and execute; process makes decisions repeatable; technology provides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18: Common early-stage mistakes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Tool-first implementation without mission, scope, or log-source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19: Common scale-stage mistakes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Alert volume grows but tuning, coverage management, and handoff quality do not.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20: SOC maturity comparison matrix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21: operating model comparison table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22: Workshop: define SOC scope and target state</a:t>
            </a:r>
          </a:p>
          <a:p xmlns:a="http://schemas.openxmlformats.org/drawingml/2006/main">
            <a:r>
              <a:t>Module: SOC Foundations and Operating Models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23: What a practical SOC blueprint looks like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It shows systems, telemetry, tools, ownership, workflows, and escalation boundaries.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24: High-level SOC architecture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Telemetry sources feed collection, normalization, analytics, enrichment, case management, and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25: Telemetry pipeline overview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Collect only what has an investigation, compliance, or detection use case.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26: Endpoint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Prioritize process execution, parent-child process chains, file writes, persistence, and isolation state.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27: Identity and authentication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Collect successful and failed login, MFA events, privilege changes, token activity, and risky sign-ins.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28: Network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Network visibility supports C2, DNS tunneling, exfiltration, scanning, and lateral movement.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29: Email and collaboration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Email is the front door for phishing, BEC, malware delivery, and social engineering.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30: Cloud and SaaS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Cloud incidents often start as identity, API, storage exposure, or configuration events.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31: Application and database telemetry layer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Application logs prove user action, transaction context, data access, and abuse patterns.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32: Alerting and enrichment flow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Alert quality improves when enrichment adds asset criticality, identity role, vulnerability, and threat intel.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33: Case management and response flow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case record is the operational source of truth for decisions and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34: Log-source prioritization model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identity, endpoint, firewall, email, cloud control plane, DNS, and proxy.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35: Trust boundaries and data sensitivity zones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Mark where personal data, regulated records, privileged admin paths, and third-party access live.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36: architecture pattern comparison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37: telemetry coverage and blind spots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38: Worksheet: draft target-state architecture</a:t>
            </a:r>
          </a:p>
          <a:p xmlns:a="http://schemas.openxmlformats.org/drawingml/2006/main">
            <a:r>
              <a:t>Module: SOC Blueprint, Architecture, and Telemetry Flow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39: SOC organization structure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Separate monitoring, engineering, IR, management, and executive decision ownership.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40: Role map: CISO to analyst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 sets risk appetite, escalation expectations, funding, and executive commitments.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41: Tier 1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Monitor queues, validate alert context, classify obvious false positives, and escalate confirmed risk.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42: Tier 2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Perform deeper investigation across identity, endpoint, network, cloud, and application evidence.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43: Tier 3 / IR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Lead complex incidents, containment strategy, eradication, recovery validation, and PIR.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44: Security engineering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telemetry onboarding, parser quality, detection deployment, tuning, and automation guardrails.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45: SOC Manager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workflow quality, staffing, escalation discipline, metrics, and service expectations.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46: CISO responsibilities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Own risk decisions, external posture, board visibility, and investment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47: Skill matrix across roles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Analysts need triage, log reading, evidence notes, and escalation judgment.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48: Staffing model basics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Calculate coverage by seat-hours, not by job titles.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49: 8x5 vs extended-hours vs 24x7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8x5 works when after-hours risk is accepted or covered externally.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50: Shift design patterns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Design shifts around alert volume, business hours, service criticality, and fatigue management.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51: Shift handoff model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Handoff should transfer active incidents, pending decisions, fragile services, and open evidence requests.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52: staffing benchmark examples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53: role-to-responsibility matrix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54: Workshop: design staffing and shift coverage</a:t>
            </a:r>
          </a:p>
          <a:p xmlns:a="http://schemas.openxmlformats.org/drawingml/2006/main">
            <a:r>
              <a:t>Module: People, Roles, Staffing, and Shift Operations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55: Core SOC tool categories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SIEM centralizes searchable evidence and detection correlation.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56: SIEM: job and selection criteria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SIEM's job is searchable evidence, correlation, dashboards, and investigation continuity.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57: EDR/XDR: job and selection criteria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Endpoint tooling must support process context, isolation, collection, and response audit trail.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58: SOAR/automation: when it helps and when it hurts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Automation helps repeat enrichment, routing, evidence collection, and low-risk containment.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59: Threat intelligence platform and feeds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Threat intelligence should answer prioritized questions, not flood the SOC with indicators.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60: Case management and knowledge base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case system preserves timeline, evidence, ownership, approvals, and closure rationale.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61: DLP, IAM, vulnerability, and supporting control data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Supporting control data turns alerts into risk context.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62: Tool integration sequence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Connect identity, endpoint, network, email, and cloud before advanced automation.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63: Build-vs-buy and complexity tradeoffs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Build when team skill, ownership, and maintenance capacity are real.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64: Budget categories: people, platform, content, operations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People costs usually dominate a sustainable SOC budget.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65: Phased budget model by maturity stage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Foundation funds minimum people, critical telemetry, SIEM/EDR, and core SOPs.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66: tool evaluation scorecard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67: budget allocation example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68: Worksheet: prioritize tools and budget</a:t>
            </a:r>
          </a:p>
          <a:p xmlns:a="http://schemas.openxmlformats.org/drawingml/2006/main">
            <a:r>
              <a:t>Module: Technology Stack, Selection Logic, and Budgeting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69: SOC operating model in production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Production SOC work is queue discipline, investigation quality, escalation, reporting, and improvement.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70: Service catalog and what the SOC owns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The service catalog defines what the SOC monitors, responds to, reports, and improves.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71: Alert intake to triage flow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Every alert needs source, confidence, affected asset, identity, severity, and routing.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72: Escalation path and authority boundaries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Escalation is about decision rights, not just notification.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73: Shift handoff operational pattern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Handoff transfers active work, fragile services, unresolved decisions, and monitoring priorities.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74: KPI model: MTTD, MTTR, quality, backlog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Time metrics matter, but quality metrics show whether the work is trusted.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75: Detection backlog management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Backlog items need threat rationale, telemetry dependency, owner, priority, and validation plan.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76: Telemetry onboarding lifecycle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Onboarding is request, owner approval, parsing, validation, use case mapping, and health monitoring.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77: Alert tuning lifecycle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Tuning starts from observed false positives and missed true positives.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78: Governance cadence: daily, weekly, monthly, quarterly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Daily manages active operations and incidents.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79: Control ownership and accountability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Every control needs business owner, technical owner, evidence owner, and escalation owner.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80: governance operating calendar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81: service ownership / RACI example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82: Workshop: map your operating workflow</a:t>
            </a:r>
          </a:p>
          <a:p xmlns:a="http://schemas.openxmlformats.org/drawingml/2006/main">
            <a:r>
              <a:t>Module: SOC Operations and Governance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83: Detection engineering mission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Detection engineering converts risk hypotheses into tested, maintainable monitoring content.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84: Use case lifecycle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threat or business risk, then define data, logic, test, owner, and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85: Mapping to ATT&amp;CK and business risk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ATT&amp;CK gives technique language; business risk gives prioritization.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86: Telemetry dependency model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 detection is only as strong as the source, parser, retention, and context behind it.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87: Sigma and YARA in the operating model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Sigma expresses log detections in a portable way; YARA expresses file or malware signatures.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88: Detection content quality attributes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Good content is specific, explainable, testable, maintainable, and mapped to response.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89: False positive reduction loop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Classify why the alert fired and why it was not actionable.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90: Coverage matrix concept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Coverage is a matrix of risk, technique, telemetry, detection, playbook, and owner.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91: Prioritizing detections by threat and asset value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Start with high-impact assets, likely attack paths, and recent incident lessons.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92: Detection testing and validation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Test with controlled simulations, historical data, and expected false-positive examples.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93: Promotion workflow: idea to production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Idea, design, data validation, test, peer review, staged release, monitoring, and review.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94: sample use case hierarchy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95: sample coverage matrix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96: Worksheet: identify coverage gaps</a:t>
            </a:r>
          </a:p>
          <a:p xmlns:a="http://schemas.openxmlformats.org/drawingml/2006/main">
            <a:r>
              <a:t>Module: Detection Engineering and Coverage Management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97: IR lifecycle overview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preparation, detection, analysis, containment, eradication, recovery, and lessons learned.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98: Severity model and classification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Severity should reflect business impact, data impact, spread, privilege, and service disruption.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99: Decision authority in incidents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High-impact actions require named approvers before the incident occurs.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100: Analyst-to-IR escalation model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Escalate when scope expands, containment is needed, evidence may be legal, or severity exceeds queue handling.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101: Runbooks vs playbooks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Runbooks guide routine analyst actions by tier and workflow.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102: Playbook operating pattern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Trigger, triage, analysis, containment, eradication, recovery, communication, and closure.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103: Containment decision logic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Containment balances risk reduction against business disruption and evidence preservation.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104: Eradication and recovery logic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Eradication removes attacker access, persistence, malicious artifacts, and exploited weakness.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105: Evidence handling and preservation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Preserve logs, artifacts, screenshots, hashes, requests, and decision records early.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106: Chain of custody basics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Record who collected, transferred, stored, accessed, and released each evidence item.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107: Decision logging during incidents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Log what was known, what was assumed, who approved, and what happens next.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108: Crisis command / war room model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Activate when severity, service impact, external pressure, or uncertainty exceeds normal workflow.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109: Closure, PIR, and lessons learned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Closure needs technical recovery, monitoring exit, communications completion, and outstanding risk decisions.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110: severity matrix view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111: evidence and decision chain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112: Workshop block 3 debrief: alert-to-incident operating exercise</a:t>
            </a:r>
          </a:p>
          <a:p xmlns:a="http://schemas.openxmlformats.org/drawingml/2006/main">
            <a:r>
              <a:t>Module: Incident Response, Runbooks, and Playbook Operations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113: Why Thai compliance belongs in SOC operations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SOC produces the facts needed for Legal, DPO, CISO, and executives to decide.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114: PDPA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personal data or sensitive personal data may be exposed, altered, destroyed, or accessed.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115: Computer-Related Crime Act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unauthorized access, data alteration, malicious tooling, disruption, or traffic-data requests are involved.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116: Cybersecurity Act operating checkpoint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Open when a cyber threat may affect critical service, public-facing service, or public safety.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117: Electronic Transactions Act and evidentiary integrity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Electronic records may need integrity, authenticity, time source, and system-of-record proof.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118: NCSA / ThaiCERT coordination path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when national or sectoral coordination, advisory response, IOC sharing, or major incident support is needed.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119: Thai legal trigger-to-action model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Trigger identifies whether privacy, computer crime, cybersecurity, electronic evidence, or coordination path opens.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120: Notification decision and evidence package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Decision states notify, defer, or not required, with approver and next review time.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121: Thai legal escalation template in use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122: Workshop: legal-impact and escalation decisions</a:t>
            </a:r>
          </a:p>
          <a:p xmlns:a="http://schemas.openxmlformats.org/drawingml/2006/main">
            <a:r>
              <a:t>Module: Thai Compliance, Privacy, and Legal Operating Model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123: Incident report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Report what happened, when detected, systems affected, evidence, impact, actions, and status.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124: Incident decision log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Capture decision, options considered, evidence reviewed, approver, time, and next review.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125: Monthly SOC report structure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Report incidents, alert quality, backlog, telemetry health, detection changes, and remediation movement.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126: Executive dashboard view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Executives need risk posture, trend, major incidents, open decisions, and resource needs.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127: Board-level decision pack view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DECISION</a:t>
            </a:r>
          </a:p>
          <a:p xmlns:a="http://schemas.openxmlformats.org/drawingml/2006/main">
            <a:r>
              <a:t>แนวทางผู้สอน: หยุดถาม decision point ก่อนอธิบายต่อ เพื่อให้ผู้เรียนคิดจากบริบทองค์กรจริง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Board material should show material risk, control gaps, accepted risk, funded actions, and progress.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128: Communicating facts vs assumptions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Facts are observed and evidenced; assumptions are current interpretations that may change.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129: reporting template map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130: Worksheet: executive escalation brief</a:t>
            </a:r>
          </a:p>
          <a:p xmlns:a="http://schemas.openxmlformats.org/drawingml/2006/main">
            <a:r>
              <a:t>Module: Reporting, Executive Communication, and Board-Level Outputs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Work in teams and assign one owner for the artifact.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131: SOC onboarding path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Onboarding should move from access and process awareness to shadowing, guided work, and independent handling.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132: Analyst development and cross-skilling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Develop analysts from queue handling toward investigation, detection logic, and incident coordination.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133: Simulation and purple-team cadence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Simulations test people, process, telemetry, detections, playbooks, and reporting.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134: Certification path and capability-building logic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Certifications support a skill path but do not replace hands-on operating practice.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135: Lessons learned into operational improvement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Lessons learned should create owned actions with due dates and governance follow-up.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136: training and maturity alignment</a:t>
            </a:r>
          </a:p>
          <a:p xmlns:a="http://schemas.openxmlformats.org/drawingml/2006/main">
            <a:r>
              <a:t>Module: Training, Simulation, and Continuous Improvement</a:t>
            </a:r>
          </a:p>
          <a:p xmlns:a="http://schemas.openxmlformats.org/drawingml/2006/main">
            <a:r>
              <a:t>โหมดการสอน: REFERENCE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this as a decision aid during discussion and Q&amp;A.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137: Capstone scenario setup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DEBRIEF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Scenario: credential stuffing on a public customer portal followed by successful logins and invoice downloads.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138: Team task: architecture, staffing, detection, IR, legal, reporting decisions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Identify missing telemetry, current owners, shift path, and required containment decision.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139: Team task: evidence and escalation decisions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List the first evidence package: timeline, accounts, IPs, user actions, data accessed, logs, and custody.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140: Debrief framework by role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DEBRIEF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CISO: risk decision, executive message, and external posture.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141: 30/60/90-day action plan output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EXERCISE</a:t>
            </a:r>
          </a:p>
          <a:p xmlns:a="http://schemas.openxmlformats.org/drawingml/2006/main">
            <a:r>
              <a:t>แนวทางผู้สอน: ให้แบ่งกลุ่ม ทำ artifact จริง และบังคับให้ระบุ owner/evidence/next action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30 days: fix critical visibility, severity, handoff, and top playbooks.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สไลด์ 142: Final takeaways and repo re-entry map</a:t>
            </a:r>
          </a:p>
          <a:p xmlns:a="http://schemas.openxmlformats.org/drawingml/2006/main">
            <a:r>
              <a:t>Module: Capstone Scenario and Close</a:t>
            </a:r>
          </a:p>
          <a:p xmlns:a="http://schemas.openxmlformats.org/drawingml/2006/main">
            <a:r>
              <a:t>โหมดการสอน: TEACH</a:t>
            </a:r>
          </a:p>
          <a:p xmlns:a="http://schemas.openxmlformats.org/drawingml/2006/main">
            <a:r>
              <a:t>แนวทางผู้สอน: เล่าเป็น operating pattern แล้วโยงไปยัง artifact ที่ต้องได้</a:t>
            </a:r>
          </a:p>
          <a:p xmlns:a="http://schemas.openxmlformats.org/drawingml/2006/main">
            <a:r>
              <a:t>โยงกับบทบาท: CISO ตัดสินใจความเสี่ยง, SOC Manager คุม workflow, Analyst/Engineer/IR สร้าง evidence และ action</a:t>
            </a:r>
          </a:p>
          <a:p xmlns:a="http://schemas.openxmlformats.org/drawingml/2006/main">
            <a:r>
              <a:t>ประเด็นหลัก: Use the repo as the operating manual, not as a document archive.</a:t>
            </a:r>
          </a:p>
          <a:p xmlns:a="http://schemas.openxmlformats.org/drawingml/2006/main">
            <a:r>
              <a:t>ถามผู้เรียน: ในองค์กรของคุณ owner, evidence และ next action คือใคร/อะไร</a:t>
            </a:r>
          </a:p>
          <a:p xmlns:a="http://schemas.openxmlformats.org/drawingml/2006/main">
            <a:r>
              <a:t>จุดที่มักพลาด: ตอบเป็นชื่อ tool แทนที่จะตอบเป็น workflow, evidence, authority และ operating artifact</a:t>
            </a:r>
          </a:p>
          <a:p xmlns:a="http://schemas.openxmlformats.org/drawingml/2006/main">
            <a:r>
              <a:t>ผลลัพธ์ที่ต้องได้: decision หรือ artifact ที่เอาไปใช้ต่อได้ ไม่ใช่แค่ความเข้าใจเชิงทฤษฎี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74eccccb64f1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24b644a3cfa4b2e" /><Relationship Type="http://schemas.openxmlformats.org/officeDocument/2006/relationships/slideLayout" Target="/ppt/slideLayouts/slideLayout2.xml" Id="R7165e004a60047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65e004a60047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a167706de04a9d" /><Relationship Type="http://schemas.openxmlformats.org/officeDocument/2006/relationships/notesSlide" Target="/ppt/notesSlides/notesSlide1.xml" Id="R5e1e469ac7bf4b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01af9e9bc84299" /><Relationship Type="http://schemas.openxmlformats.org/officeDocument/2006/relationships/notesSlide" Target="/ppt/notesSlides/notesSlide2.xml" Id="Red0b163b92674f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f4c6db3eef433c" /><Relationship Type="http://schemas.openxmlformats.org/officeDocument/2006/relationships/notesSlide" Target="/ppt/notesSlides/notesSlide3.xml" Id="R6fdfdd6f38e042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0af1371ee342b0" /><Relationship Type="http://schemas.openxmlformats.org/officeDocument/2006/relationships/notesSlide" Target="/ppt/notesSlides/notesSlide4.xml" Id="R526be57f55b641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14876fd79247c9" /><Relationship Type="http://schemas.openxmlformats.org/officeDocument/2006/relationships/notesSlide" Target="/ppt/notesSlides/notesSlide5.xml" Id="Re0d08cd9c79244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21069415b4e5a" /><Relationship Type="http://schemas.openxmlformats.org/officeDocument/2006/relationships/notesSlide" Target="/ppt/notesSlides/notesSlide6.xml" Id="R86c6a64b88714e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98fe562e504020" /><Relationship Type="http://schemas.openxmlformats.org/officeDocument/2006/relationships/notesSlide" Target="/ppt/notesSlides/notesSlide7.xml" Id="Rd6a1df45a8214e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19c99896514690" /><Relationship Type="http://schemas.openxmlformats.org/officeDocument/2006/relationships/notesSlide" Target="/ppt/notesSlides/notesSlide8.xml" Id="R2a7bb2790ef34a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07043ed1964e99" /><Relationship Type="http://schemas.openxmlformats.org/officeDocument/2006/relationships/notesSlide" Target="/ppt/notesSlides/notesSlide9.xml" Id="Red413dd0583c44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068048391e4a6c" /><Relationship Type="http://schemas.openxmlformats.org/officeDocument/2006/relationships/notesSlide" Target="/ppt/notesSlides/notesSlide10.xml" Id="R243840d745e045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762000b55545ed" /><Relationship Type="http://schemas.openxmlformats.org/officeDocument/2006/relationships/notesSlide" Target="/ppt/notesSlides/notesSlide11.xml" Id="R36d416c89ab542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b789271dff4616" /><Relationship Type="http://schemas.openxmlformats.org/officeDocument/2006/relationships/notesSlide" Target="/ppt/notesSlides/notesSlide12.xml" Id="R798e4e90112546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f74b85a3a947bf" /><Relationship Type="http://schemas.openxmlformats.org/officeDocument/2006/relationships/notesSlide" Target="/ppt/notesSlides/notesSlide13.xml" Id="R5007ef916e714f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59892f32564fc7" /><Relationship Type="http://schemas.openxmlformats.org/officeDocument/2006/relationships/notesSlide" Target="/ppt/notesSlides/notesSlide14.xml" Id="R94973160553043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9327112e844612" /><Relationship Type="http://schemas.openxmlformats.org/officeDocument/2006/relationships/notesSlide" Target="/ppt/notesSlides/notesSlide15.xml" Id="Rbaf24689c973477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94645e07fd4019" /><Relationship Type="http://schemas.openxmlformats.org/officeDocument/2006/relationships/notesSlide" Target="/ppt/notesSlides/notesSlide16.xml" Id="Rce055b245ecc4c9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5bf077e3d6476e" /><Relationship Type="http://schemas.openxmlformats.org/officeDocument/2006/relationships/notesSlide" Target="/ppt/notesSlides/notesSlide17.xml" Id="R648c3ff8d4ce408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5d0850204e4bb3" /><Relationship Type="http://schemas.openxmlformats.org/officeDocument/2006/relationships/notesSlide" Target="/ppt/notesSlides/notesSlide18.xml" Id="Rb970d7d935ad42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0e587a98904a74" /><Relationship Type="http://schemas.openxmlformats.org/officeDocument/2006/relationships/notesSlide" Target="/ppt/notesSlides/notesSlide19.xml" Id="R3d54c57b8d924d5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77d746ada64fc3" /><Relationship Type="http://schemas.openxmlformats.org/officeDocument/2006/relationships/notesSlide" Target="/ppt/notesSlides/notesSlide20.xml" Id="R1463253eb8874d8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032bcf319a4475" /><Relationship Type="http://schemas.openxmlformats.org/officeDocument/2006/relationships/notesSlide" Target="/ppt/notesSlides/notesSlide21.xml" Id="Rf104120918f54b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f44b9daca24b1f" /><Relationship Type="http://schemas.openxmlformats.org/officeDocument/2006/relationships/notesSlide" Target="/ppt/notesSlides/notesSlide22.xml" Id="R1f6d1cbe9aa543b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3277744cdd46a5" /><Relationship Type="http://schemas.openxmlformats.org/officeDocument/2006/relationships/notesSlide" Target="/ppt/notesSlides/notesSlide23.xml" Id="R6ea41c1def0b420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5c3a7bd76541de" /><Relationship Type="http://schemas.openxmlformats.org/officeDocument/2006/relationships/notesSlide" Target="/ppt/notesSlides/notesSlide24.xml" Id="R702770dd8ab949b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79741b6d61454d" /><Relationship Type="http://schemas.openxmlformats.org/officeDocument/2006/relationships/notesSlide" Target="/ppt/notesSlides/notesSlide25.xml" Id="R131ba453b4e14a3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8b2a38e1d14059" /><Relationship Type="http://schemas.openxmlformats.org/officeDocument/2006/relationships/notesSlide" Target="/ppt/notesSlides/notesSlide26.xml" Id="R40c9c94ce74c456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145852f6bf4282" /><Relationship Type="http://schemas.openxmlformats.org/officeDocument/2006/relationships/notesSlide" Target="/ppt/notesSlides/notesSlide27.xml" Id="R9439968c7707429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fc14f03c7e4209" /><Relationship Type="http://schemas.openxmlformats.org/officeDocument/2006/relationships/notesSlide" Target="/ppt/notesSlides/notesSlide28.xml" Id="R67a15a360a7d444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42b05972c34a9f" /><Relationship Type="http://schemas.openxmlformats.org/officeDocument/2006/relationships/notesSlide" Target="/ppt/notesSlides/notesSlide29.xml" Id="Refa8f6c1d14f472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74ef23405f4542" /><Relationship Type="http://schemas.openxmlformats.org/officeDocument/2006/relationships/notesSlide" Target="/ppt/notesSlides/notesSlide30.xml" Id="R1c938f9ff1c84f0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76cfb5da5342c6" /><Relationship Type="http://schemas.openxmlformats.org/officeDocument/2006/relationships/notesSlide" Target="/ppt/notesSlides/notesSlide31.xml" Id="R87db0f3e56754eb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071a1c179b4796" /><Relationship Type="http://schemas.openxmlformats.org/officeDocument/2006/relationships/notesSlide" Target="/ppt/notesSlides/notesSlide32.xml" Id="Rc1341f61cfbb4f3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b974957248448d" /><Relationship Type="http://schemas.openxmlformats.org/officeDocument/2006/relationships/notesSlide" Target="/ppt/notesSlides/notesSlide33.xml" Id="R0635933992604e8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f5cadc86134ddb" /><Relationship Type="http://schemas.openxmlformats.org/officeDocument/2006/relationships/notesSlide" Target="/ppt/notesSlides/notesSlide34.xml" Id="Rfbc48abd5da34ec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771737e26c4c31" /><Relationship Type="http://schemas.openxmlformats.org/officeDocument/2006/relationships/notesSlide" Target="/ppt/notesSlides/notesSlide35.xml" Id="R5a049ade1efa4d4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bd127040a247df" /><Relationship Type="http://schemas.openxmlformats.org/officeDocument/2006/relationships/notesSlide" Target="/ppt/notesSlides/notesSlide36.xml" Id="R95d0f6248a42489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18b4bbeb34bb2" /><Relationship Type="http://schemas.openxmlformats.org/officeDocument/2006/relationships/notesSlide" Target="/ppt/notesSlides/notesSlide37.xml" Id="R036168c02c4d47d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539c35d3a24c42" /><Relationship Type="http://schemas.openxmlformats.org/officeDocument/2006/relationships/notesSlide" Target="/ppt/notesSlides/notesSlide38.xml" Id="R7ea92859607e47a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16ec8482594b29" /><Relationship Type="http://schemas.openxmlformats.org/officeDocument/2006/relationships/notesSlide" Target="/ppt/notesSlides/notesSlide39.xml" Id="R9404695e9a4041c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8f5cada7314f93" /><Relationship Type="http://schemas.openxmlformats.org/officeDocument/2006/relationships/notesSlide" Target="/ppt/notesSlides/notesSlide40.xml" Id="Rbb825821533943a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f842ed86d54caf" /><Relationship Type="http://schemas.openxmlformats.org/officeDocument/2006/relationships/notesSlide" Target="/ppt/notesSlides/notesSlide41.xml" Id="R302fc748496b431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f93e2f96b45fc" /><Relationship Type="http://schemas.openxmlformats.org/officeDocument/2006/relationships/notesSlide" Target="/ppt/notesSlides/notesSlide42.xml" Id="R3f4cdef1d8094aa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bd833b5fa1438b" /><Relationship Type="http://schemas.openxmlformats.org/officeDocument/2006/relationships/notesSlide" Target="/ppt/notesSlides/notesSlide43.xml" Id="Rb85a6ef464ec407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bc89bf7c604473" /><Relationship Type="http://schemas.openxmlformats.org/officeDocument/2006/relationships/notesSlide" Target="/ppt/notesSlides/notesSlide44.xml" Id="R7ccb53c600874e7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16ac36df514ddf" /><Relationship Type="http://schemas.openxmlformats.org/officeDocument/2006/relationships/notesSlide" Target="/ppt/notesSlides/notesSlide45.xml" Id="Rab85f7a90ac4463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724a88fbc748b5" /><Relationship Type="http://schemas.openxmlformats.org/officeDocument/2006/relationships/notesSlide" Target="/ppt/notesSlides/notesSlide46.xml" Id="Rd7eae0fa4a784c4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3119cd0bbe4bed" /><Relationship Type="http://schemas.openxmlformats.org/officeDocument/2006/relationships/notesSlide" Target="/ppt/notesSlides/notesSlide47.xml" Id="Ra3e5079e5f94481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fbc7ffde4a450e" /><Relationship Type="http://schemas.openxmlformats.org/officeDocument/2006/relationships/notesSlide" Target="/ppt/notesSlides/notesSlide48.xml" Id="Rd69de1f96e5649a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b16351d4024591" /><Relationship Type="http://schemas.openxmlformats.org/officeDocument/2006/relationships/notesSlide" Target="/ppt/notesSlides/notesSlide49.xml" Id="R3c9c9cdf2b57428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6d83203caf4a84" /><Relationship Type="http://schemas.openxmlformats.org/officeDocument/2006/relationships/notesSlide" Target="/ppt/notesSlides/notesSlide50.xml" Id="R3e5428e5bb404ba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daa24e24b545dc" /><Relationship Type="http://schemas.openxmlformats.org/officeDocument/2006/relationships/notesSlide" Target="/ppt/notesSlides/notesSlide51.xml" Id="R05f1a22977c642a1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b7bfa3c5564698" /><Relationship Type="http://schemas.openxmlformats.org/officeDocument/2006/relationships/notesSlide" Target="/ppt/notesSlides/notesSlide52.xml" Id="Rf6289e880f29449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2dbbd5c7154bb6" /><Relationship Type="http://schemas.openxmlformats.org/officeDocument/2006/relationships/notesSlide" Target="/ppt/notesSlides/notesSlide53.xml" Id="R85938bc0a3264eb3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bef5880e684ad0" /><Relationship Type="http://schemas.openxmlformats.org/officeDocument/2006/relationships/notesSlide" Target="/ppt/notesSlides/notesSlide54.xml" Id="Rc30977055ba14f92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28fc63e59145d2" /><Relationship Type="http://schemas.openxmlformats.org/officeDocument/2006/relationships/notesSlide" Target="/ppt/notesSlides/notesSlide55.xml" Id="Rac97cc6170f340d3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ca16d2a2b54a69" /><Relationship Type="http://schemas.openxmlformats.org/officeDocument/2006/relationships/notesSlide" Target="/ppt/notesSlides/notesSlide56.xml" Id="R08055135079f4921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a023dd22774fff" /><Relationship Type="http://schemas.openxmlformats.org/officeDocument/2006/relationships/notesSlide" Target="/ppt/notesSlides/notesSlide57.xml" Id="R549759d3fabd41b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b9c5f2d5a1484a" /><Relationship Type="http://schemas.openxmlformats.org/officeDocument/2006/relationships/notesSlide" Target="/ppt/notesSlides/notesSlide58.xml" Id="R16f9f6cab3594a4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30b3618d9a4ab2" /><Relationship Type="http://schemas.openxmlformats.org/officeDocument/2006/relationships/notesSlide" Target="/ppt/notesSlides/notesSlide59.xml" Id="R2e0520ab12034b7e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7107f0451441ac" /><Relationship Type="http://schemas.openxmlformats.org/officeDocument/2006/relationships/notesSlide" Target="/ppt/notesSlides/notesSlide60.xml" Id="Rd36c0a4ccb824243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c82eab0b5c4a7a" /><Relationship Type="http://schemas.openxmlformats.org/officeDocument/2006/relationships/notesSlide" Target="/ppt/notesSlides/notesSlide61.xml" Id="R0ab11ef188d44402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81d258d09e4a51" /><Relationship Type="http://schemas.openxmlformats.org/officeDocument/2006/relationships/notesSlide" Target="/ppt/notesSlides/notesSlide62.xml" Id="R3cea9cb038d24974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3164ac13284453" /><Relationship Type="http://schemas.openxmlformats.org/officeDocument/2006/relationships/notesSlide" Target="/ppt/notesSlides/notesSlide63.xml" Id="Rd3c673389c514b08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fc3f678ff942a0" /><Relationship Type="http://schemas.openxmlformats.org/officeDocument/2006/relationships/notesSlide" Target="/ppt/notesSlides/notesSlide64.xml" Id="R8f5dbef988c3446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611e5ddf8a408f" /><Relationship Type="http://schemas.openxmlformats.org/officeDocument/2006/relationships/notesSlide" Target="/ppt/notesSlides/notesSlide65.xml" Id="Re25c10d0eda24895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78b7b5c3084fd3" /><Relationship Type="http://schemas.openxmlformats.org/officeDocument/2006/relationships/notesSlide" Target="/ppt/notesSlides/notesSlide66.xml" Id="R723b32ced5a94aed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2bb6b9b1554f7f" /><Relationship Type="http://schemas.openxmlformats.org/officeDocument/2006/relationships/notesSlide" Target="/ppt/notesSlides/notesSlide67.xml" Id="R466cf36902444e50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bee23a421645d2" /><Relationship Type="http://schemas.openxmlformats.org/officeDocument/2006/relationships/notesSlide" Target="/ppt/notesSlides/notesSlide68.xml" Id="R1947372d68834803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5b27cf221f48f9" /><Relationship Type="http://schemas.openxmlformats.org/officeDocument/2006/relationships/notesSlide" Target="/ppt/notesSlides/notesSlide69.xml" Id="R382edbedad6445f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172e812a7e4a9c" /><Relationship Type="http://schemas.openxmlformats.org/officeDocument/2006/relationships/notesSlide" Target="/ppt/notesSlides/notesSlide70.xml" Id="R1c6453d790a54075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fd7f59d0f94d40" /><Relationship Type="http://schemas.openxmlformats.org/officeDocument/2006/relationships/notesSlide" Target="/ppt/notesSlides/notesSlide71.xml" Id="R45b8cb49a05147b1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35dbc12c64814" /><Relationship Type="http://schemas.openxmlformats.org/officeDocument/2006/relationships/notesSlide" Target="/ppt/notesSlides/notesSlide72.xml" Id="Rf35be914f2684b6d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6690ba26cf4f04" /><Relationship Type="http://schemas.openxmlformats.org/officeDocument/2006/relationships/notesSlide" Target="/ppt/notesSlides/notesSlide73.xml" Id="R3db6cefb83414ccb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071857fa214991" /><Relationship Type="http://schemas.openxmlformats.org/officeDocument/2006/relationships/notesSlide" Target="/ppt/notesSlides/notesSlide74.xml" Id="R0c181854c04047d6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0bb2d94e74495c" /><Relationship Type="http://schemas.openxmlformats.org/officeDocument/2006/relationships/notesSlide" Target="/ppt/notesSlides/notesSlide75.xml" Id="R4e4f31aa33f44a80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93d67fe2c84c6d" /><Relationship Type="http://schemas.openxmlformats.org/officeDocument/2006/relationships/notesSlide" Target="/ppt/notesSlides/notesSlide76.xml" Id="R31b7aee936384cbe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e46593a5da42e5" /><Relationship Type="http://schemas.openxmlformats.org/officeDocument/2006/relationships/notesSlide" Target="/ppt/notesSlides/notesSlide77.xml" Id="R95d81aafac0e48b1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3666b2bdc44450" /><Relationship Type="http://schemas.openxmlformats.org/officeDocument/2006/relationships/notesSlide" Target="/ppt/notesSlides/notesSlide78.xml" Id="Rb37e92de3e674979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ad47a5fd7b43b8" /><Relationship Type="http://schemas.openxmlformats.org/officeDocument/2006/relationships/notesSlide" Target="/ppt/notesSlides/notesSlide79.xml" Id="Rf934d6c3ebed4c8a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35aab952604eb3" /><Relationship Type="http://schemas.openxmlformats.org/officeDocument/2006/relationships/notesSlide" Target="/ppt/notesSlides/notesSlide80.xml" Id="Ra0e8b40020ef4f12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1cfa723fae4787" /><Relationship Type="http://schemas.openxmlformats.org/officeDocument/2006/relationships/notesSlide" Target="/ppt/notesSlides/notesSlide81.xml" Id="R39e30ab551724d24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d23b914d454516" /><Relationship Type="http://schemas.openxmlformats.org/officeDocument/2006/relationships/notesSlide" Target="/ppt/notesSlides/notesSlide82.xml" Id="Rc8102d49bb9b47af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2ce94c70e548a4" /><Relationship Type="http://schemas.openxmlformats.org/officeDocument/2006/relationships/notesSlide" Target="/ppt/notesSlides/notesSlide83.xml" Id="Rd508b99978724c1b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d234e0f69c4ca1" /><Relationship Type="http://schemas.openxmlformats.org/officeDocument/2006/relationships/notesSlide" Target="/ppt/notesSlides/notesSlide84.xml" Id="R907255cc09ea4784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0a909b9f1249ca" /><Relationship Type="http://schemas.openxmlformats.org/officeDocument/2006/relationships/notesSlide" Target="/ppt/notesSlides/notesSlide85.xml" Id="R872e0021395d46ab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0f8411a56e43bf" /><Relationship Type="http://schemas.openxmlformats.org/officeDocument/2006/relationships/notesSlide" Target="/ppt/notesSlides/notesSlide86.xml" Id="R081591c762484937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75de12eda04af1" /><Relationship Type="http://schemas.openxmlformats.org/officeDocument/2006/relationships/notesSlide" Target="/ppt/notesSlides/notesSlide87.xml" Id="R03854d33a16b44b0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481f079c5b4e52" /><Relationship Type="http://schemas.openxmlformats.org/officeDocument/2006/relationships/notesSlide" Target="/ppt/notesSlides/notesSlide88.xml" Id="Rc8bb52395541404f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f3db45c1f3406a" /><Relationship Type="http://schemas.openxmlformats.org/officeDocument/2006/relationships/notesSlide" Target="/ppt/notesSlides/notesSlide89.xml" Id="Rb52557caa97e4360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c61ee1d0854968" /><Relationship Type="http://schemas.openxmlformats.org/officeDocument/2006/relationships/notesSlide" Target="/ppt/notesSlides/notesSlide90.xml" Id="Rcb7f4b4259b6441a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836eac620f4aa9" /><Relationship Type="http://schemas.openxmlformats.org/officeDocument/2006/relationships/notesSlide" Target="/ppt/notesSlides/notesSlide91.xml" Id="Rd3533b44a26347e4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64956e5de04cce" /><Relationship Type="http://schemas.openxmlformats.org/officeDocument/2006/relationships/notesSlide" Target="/ppt/notesSlides/notesSlide92.xml" Id="Rd28082f998fa4c8e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8fc067d4c74ef5" /><Relationship Type="http://schemas.openxmlformats.org/officeDocument/2006/relationships/notesSlide" Target="/ppt/notesSlides/notesSlide93.xml" Id="Re2ba8f4863754909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242031f2a84977" /><Relationship Type="http://schemas.openxmlformats.org/officeDocument/2006/relationships/notesSlide" Target="/ppt/notesSlides/notesSlide94.xml" Id="R9d0fcc133d854227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5f9e622e5c4147" /><Relationship Type="http://schemas.openxmlformats.org/officeDocument/2006/relationships/notesSlide" Target="/ppt/notesSlides/notesSlide95.xml" Id="R8c9cd655b9a249d1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bb7fe386b64d6c" /><Relationship Type="http://schemas.openxmlformats.org/officeDocument/2006/relationships/notesSlide" Target="/ppt/notesSlides/notesSlide96.xml" Id="R5151a99bda344640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1b96fa8cf846aa" /><Relationship Type="http://schemas.openxmlformats.org/officeDocument/2006/relationships/notesSlide" Target="/ppt/notesSlides/notesSlide97.xml" Id="R5130327bf9c84057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6d1fb7fe7d46ad" /><Relationship Type="http://schemas.openxmlformats.org/officeDocument/2006/relationships/notesSlide" Target="/ppt/notesSlides/notesSlide98.xml" Id="Rcb78b57d48854a8b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c5ab4c2aff4ea2" /><Relationship Type="http://schemas.openxmlformats.org/officeDocument/2006/relationships/notesSlide" Target="/ppt/notesSlides/notesSlide99.xml" Id="R13209e370d6c48b1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59a936b9b34da4" /><Relationship Type="http://schemas.openxmlformats.org/officeDocument/2006/relationships/notesSlide" Target="/ppt/notesSlides/notesSlide100.xml" Id="R9d2a41c1c498474e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4982dc14b845bf" /><Relationship Type="http://schemas.openxmlformats.org/officeDocument/2006/relationships/notesSlide" Target="/ppt/notesSlides/notesSlide101.xml" Id="R76ff92713e13487e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3f31c754a44194" /><Relationship Type="http://schemas.openxmlformats.org/officeDocument/2006/relationships/notesSlide" Target="/ppt/notesSlides/notesSlide102.xml" Id="R66ec976c74fb460a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551d6e0dde4804" /><Relationship Type="http://schemas.openxmlformats.org/officeDocument/2006/relationships/notesSlide" Target="/ppt/notesSlides/notesSlide103.xml" Id="R05b363b186de43bb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c3271d2784e2c" /><Relationship Type="http://schemas.openxmlformats.org/officeDocument/2006/relationships/notesSlide" Target="/ppt/notesSlides/notesSlide104.xml" Id="Rccafc739f62443d5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2ca092e8c4623" /><Relationship Type="http://schemas.openxmlformats.org/officeDocument/2006/relationships/notesSlide" Target="/ppt/notesSlides/notesSlide105.xml" Id="Rb9915415525f4e54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c4e6ece1a94265" /><Relationship Type="http://schemas.openxmlformats.org/officeDocument/2006/relationships/notesSlide" Target="/ppt/notesSlides/notesSlide106.xml" Id="R3770fddc94a5432e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b19c52842a4dcb" /><Relationship Type="http://schemas.openxmlformats.org/officeDocument/2006/relationships/notesSlide" Target="/ppt/notesSlides/notesSlide107.xml" Id="Ree2e956f95af4fe8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55a7bf1d1b4933" /><Relationship Type="http://schemas.openxmlformats.org/officeDocument/2006/relationships/notesSlide" Target="/ppt/notesSlides/notesSlide108.xml" Id="Ra4d862a47bf04991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16eb0191974d1b" /><Relationship Type="http://schemas.openxmlformats.org/officeDocument/2006/relationships/notesSlide" Target="/ppt/notesSlides/notesSlide109.xml" Id="R80b14d670df8490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d9f50b004f4e73" /><Relationship Type="http://schemas.openxmlformats.org/officeDocument/2006/relationships/notesSlide" Target="/ppt/notesSlides/notesSlide110.xml" Id="R856e7fdaa1fc43b1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fb46519ecc4de9" /><Relationship Type="http://schemas.openxmlformats.org/officeDocument/2006/relationships/notesSlide" Target="/ppt/notesSlides/notesSlide111.xml" Id="R70960a70d1e24041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1a73236f8c4374" /><Relationship Type="http://schemas.openxmlformats.org/officeDocument/2006/relationships/notesSlide" Target="/ppt/notesSlides/notesSlide112.xml" Id="R0f223ac8b06a42a0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cf0a0f95574d24" /><Relationship Type="http://schemas.openxmlformats.org/officeDocument/2006/relationships/notesSlide" Target="/ppt/notesSlides/notesSlide113.xml" Id="Rc142a2c933f843df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54a9fc6a114db7" /><Relationship Type="http://schemas.openxmlformats.org/officeDocument/2006/relationships/notesSlide" Target="/ppt/notesSlides/notesSlide114.xml" Id="Rb184891d475b4762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36735677904f30" /><Relationship Type="http://schemas.openxmlformats.org/officeDocument/2006/relationships/notesSlide" Target="/ppt/notesSlides/notesSlide115.xml" Id="Rac42f3622c984b64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d992bc13764fb7" /><Relationship Type="http://schemas.openxmlformats.org/officeDocument/2006/relationships/notesSlide" Target="/ppt/notesSlides/notesSlide116.xml" Id="R98d0d2190c4841ff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c8d028aed24174" /><Relationship Type="http://schemas.openxmlformats.org/officeDocument/2006/relationships/notesSlide" Target="/ppt/notesSlides/notesSlide117.xml" Id="Re5e648e05b73420e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4c254ddbe34a06" /><Relationship Type="http://schemas.openxmlformats.org/officeDocument/2006/relationships/notesSlide" Target="/ppt/notesSlides/notesSlide118.xml" Id="Rd14be3b60bfa49ef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76d1918a214205" /><Relationship Type="http://schemas.openxmlformats.org/officeDocument/2006/relationships/notesSlide" Target="/ppt/notesSlides/notesSlide119.xml" Id="R52a03fa0b1074156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0f2970bb1c4fec" /><Relationship Type="http://schemas.openxmlformats.org/officeDocument/2006/relationships/notesSlide" Target="/ppt/notesSlides/notesSlide120.xml" Id="Ra12c1eaa92fe42a9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8e6d93fe1e4609" /><Relationship Type="http://schemas.openxmlformats.org/officeDocument/2006/relationships/notesSlide" Target="/ppt/notesSlides/notesSlide121.xml" Id="R2820e5a98f734cda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9e5ad0e38441c7" /><Relationship Type="http://schemas.openxmlformats.org/officeDocument/2006/relationships/notesSlide" Target="/ppt/notesSlides/notesSlide122.xml" Id="R0e3678fba83f4bf3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a8f0fab0e04da3" /><Relationship Type="http://schemas.openxmlformats.org/officeDocument/2006/relationships/notesSlide" Target="/ppt/notesSlides/notesSlide123.xml" Id="R1dec86411fe54888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511a5eb2b24ffb" /><Relationship Type="http://schemas.openxmlformats.org/officeDocument/2006/relationships/notesSlide" Target="/ppt/notesSlides/notesSlide124.xml" Id="Rc26ceeaa3e4a47e3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0f4a76c15b458b" /><Relationship Type="http://schemas.openxmlformats.org/officeDocument/2006/relationships/notesSlide" Target="/ppt/notesSlides/notesSlide125.xml" Id="R9a5a8e3088ab49a4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24226cbc3a4592" /><Relationship Type="http://schemas.openxmlformats.org/officeDocument/2006/relationships/notesSlide" Target="/ppt/notesSlides/notesSlide126.xml" Id="Rc75a4108a72c40bb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9fb056e598c49ce" /><Relationship Type="http://schemas.openxmlformats.org/officeDocument/2006/relationships/notesSlide" Target="/ppt/notesSlides/notesSlide127.xml" Id="Ra50eedf289d94733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283606bc8441e9" /><Relationship Type="http://schemas.openxmlformats.org/officeDocument/2006/relationships/notesSlide" Target="/ppt/notesSlides/notesSlide128.xml" Id="R20ed80b76b284e9a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9829c1d1054a97" /><Relationship Type="http://schemas.openxmlformats.org/officeDocument/2006/relationships/notesSlide" Target="/ppt/notesSlides/notesSlide129.xml" Id="R8ed72115cd4e434b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97ee4e07b14d35" /><Relationship Type="http://schemas.openxmlformats.org/officeDocument/2006/relationships/notesSlide" Target="/ppt/notesSlides/notesSlide130.xml" Id="Rb84a8d6a232244b7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a5e30320ae4a05" /><Relationship Type="http://schemas.openxmlformats.org/officeDocument/2006/relationships/notesSlide" Target="/ppt/notesSlides/notesSlide131.xml" Id="R102e3a568b7f4928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8b9cbda72a4427" /><Relationship Type="http://schemas.openxmlformats.org/officeDocument/2006/relationships/notesSlide" Target="/ppt/notesSlides/notesSlide132.xml" Id="Ra43db72f213f4b66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d45def746d4f33" /><Relationship Type="http://schemas.openxmlformats.org/officeDocument/2006/relationships/notesSlide" Target="/ppt/notesSlides/notesSlide133.xml" Id="R2a24247296a24726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c1bec208cd41d7" /><Relationship Type="http://schemas.openxmlformats.org/officeDocument/2006/relationships/notesSlide" Target="/ppt/notesSlides/notesSlide134.xml" Id="R9467b3abdbfe4f2a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4736ab36fc4e5d" /><Relationship Type="http://schemas.openxmlformats.org/officeDocument/2006/relationships/notesSlide" Target="/ppt/notesSlides/notesSlide135.xml" Id="R8111e2467c104cf7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467c4edd574837" /><Relationship Type="http://schemas.openxmlformats.org/officeDocument/2006/relationships/notesSlide" Target="/ppt/notesSlides/notesSlide136.xml" Id="R3a298111167d4b57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e78a29f94647ba" /><Relationship Type="http://schemas.openxmlformats.org/officeDocument/2006/relationships/notesSlide" Target="/ppt/notesSlides/notesSlide137.xml" Id="Rd312221a41be4b76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4b590497284f9a" /><Relationship Type="http://schemas.openxmlformats.org/officeDocument/2006/relationships/notesSlide" Target="/ppt/notesSlides/notesSlide138.xml" Id="R296bce10eaf44467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817f307a4f4e54" /><Relationship Type="http://schemas.openxmlformats.org/officeDocument/2006/relationships/notesSlide" Target="/ppt/notesSlides/notesSlide139.xml" Id="R7a2918715c27476a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899b99b6d74f98" /><Relationship Type="http://schemas.openxmlformats.org/officeDocument/2006/relationships/notesSlide" Target="/ppt/notesSlides/notesSlide140.xml" Id="R4975597dedbf44e3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97ecc5a8354c2e" /><Relationship Type="http://schemas.openxmlformats.org/officeDocument/2006/relationships/notesSlide" Target="/ppt/notesSlides/notesSlide141.xml" Id="Rd8772b11db434d8e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57830d6008485d" /><Relationship Type="http://schemas.openxmlformats.org/officeDocument/2006/relationships/notesSlide" Target="/ppt/notesSlides/notesSlide142.xml" Id="Rbbfd499ba588455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A3D2DE-38F1-4FCF-8E29-FAD1E205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85800"/>
            <a:ext cx="8801100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7202A"/>
                </a:solidFill>
              </a:defRPr>
            </a:pPr>
            <a:r>
              <a:rPr sz="5400" b="1">
                <a:solidFill>
                  <a:srgbClr val="17202A"/>
                </a:solidFill>
              </a:rPr>
              <a:t>1-Day SOC Building and Operations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5439F-8C2D-49FF-B7DA-2D8867DA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1334-B618-42B8-9A81-57150920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8401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52616B"/>
                </a:solidFill>
              </a:defRPr>
            </a:pPr>
            <a:r>
              <a:rPr sz="2550" b="0">
                <a:solidFill>
                  <a:srgbClr val="52616B"/>
                </a:solidFill>
              </a:rPr>
              <a:t>Build, run, detect, respond, govern, train, and report using the full SOCSOP repository.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4CD8A3-06E0-40D8-8B94-8E1343FA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8001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For CISO, SOC Manager, SOC Analyst, Security Engineer, and IR Engineer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DDF46-00DF-4EB3-A6BA-85D95EEE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880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English slides with Thai facilitator notes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D804A-DBC2-4870-B671-42738982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85800"/>
            <a:ext cx="5334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A0D8FE-07BD-4A45-AD64-46DFDED7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1104900"/>
            <a:ext cx="44958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900" b="1">
                <a:solidFill>
                  <a:srgbClr val="FFFFFF"/>
                </a:solidFill>
              </a:defRPr>
            </a:pPr>
            <a:r>
              <a:rPr sz="9900" b="1">
                <a:solidFill>
                  <a:srgbClr val="FFFFFF"/>
                </a:solidFill>
              </a:rPr>
              <a:t>SOC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BF23D-8B31-496E-A2B1-B520D2EB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609850"/>
            <a:ext cx="3429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AC75C8-33ED-4D0C-AE44-516045F7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2933700"/>
            <a:ext cx="44958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3F4EE"/>
                </a:solidFill>
              </a:defRPr>
            </a:pPr>
            <a:r>
              <a:rPr sz="3450" b="1">
                <a:solidFill>
                  <a:srgbClr val="E3F4EE"/>
                </a:solidFill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5D28B-4735-49B2-AD51-FB296BE3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619500"/>
            <a:ext cx="44958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DFF3F6"/>
                </a:solidFill>
              </a:defRPr>
            </a:pPr>
            <a:r>
              <a:rPr sz="3450" b="1">
                <a:solidFill>
                  <a:srgbClr val="DFF3F6"/>
                </a:solidFill>
              </a:rPr>
              <a:t>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C13124-0A4E-46F7-BB07-952122FB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305300"/>
            <a:ext cx="44958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7E9D1"/>
                </a:solidFill>
              </a:defRPr>
            </a:pPr>
            <a:r>
              <a:rPr sz="3450" b="1">
                <a:solidFill>
                  <a:srgbClr val="F7E9D1"/>
                </a:solidFill>
              </a:rPr>
              <a:t>Respond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41F8D3-564A-49FB-9A6F-8A785739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991100"/>
            <a:ext cx="44958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Govern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5A52B-0F62-40E0-B91E-0A2B925A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210300"/>
            <a:ext cx="7200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Practical outputs, not theory only</a:t>
            </a:r>
          </a:p>
        </p:txBody>
      </p:sp>
    </p:spTree>
    <p:extLst>
      <p:ext uri="{BB962C8B-B14F-4D97-AF65-F5344CB8AC3E}">
        <p14:creationId xmlns:p14="http://schemas.microsoft.com/office/powerpoint/2010/main" val="16929500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270086-720F-46A6-87BB-D2D44CC7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Why this workshop exists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12318-9A14-49E6-A433-0F10D386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C43AF-BC07-4D22-AA6D-31DBC0F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115052-5C8E-4331-A85C-47DC6F06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C19C13-1C09-41A9-9A48-75D62912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7A5D5-ECF0-4EDA-9EC9-9EA340E7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3E1FB-A051-4145-9C05-7D38EE5C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50C65-039C-48EE-B704-93A1F767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Most SOC failures are operating-model failures before they are tool failures.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7E155-C68F-44BB-A83D-5CA9CEB8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A814E-EF6F-4EC3-B796-B5352CE1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8591A-F16C-4B17-AC4D-69F4CC8E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This workshop turns the SOP repo into decisions, artifacts, and working routines.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03815-F27A-4FF7-84B1-EB61AA55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AF2E91-00DB-481C-ACE6-EB075F51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4087C2-40CB-436B-9AB6-3054BE93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section ends with something the team can reuse after class.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D4048E-E652-47DC-931D-F532108E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955847-20DF-4FF9-8B1E-04AFC22F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3F3FA-1D74-42E5-A9AC-D2EBB077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1A93C6-4AC0-4D8D-BC3F-8E0BC1CF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AC15F2-1F9A-4E45-AC24-88F83F73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FF0B8-5262-426D-A883-E7E708EC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65AF6B-11B2-404F-BA35-4A4E5423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72BD5D-244F-46B9-9C73-1251BAE2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A833A0-8042-45D9-BB0C-0E3B7CF8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002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AF7C4-FD94-464F-AB72-28B44273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38DA54-B0D2-4D8B-B4D8-32061A11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2406536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ED6A65-E84D-4419-B2EB-5FDC170F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Audience map by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B2026-E24B-4D8E-97ED-81A43941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67A6E-6EE7-401E-A352-CAB175E3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E7012-EB5E-40C1-BE5E-E00EA7D0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08039-AA80-430F-A0F4-BB1FEB87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FCB52-F0A3-4E7C-8615-95B491F0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FB4C2-5591-4C95-8F2B-7D65AC21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59923-4E1C-4A76-9A47-518447F1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DCA0A-F4E9-49EE-9F02-16F401CB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371146-FFDD-49B2-A23E-9366DA03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AA467-2973-414B-9784-72DE4C74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5F08F-2E7D-4101-947B-305D7439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4FB0D-2729-4F42-AA8D-53B67CF1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F099F5-5E56-4D3E-BE68-1A7A9D7C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6F062D-6518-4897-8EFD-A19862C4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D3069-1D76-4646-9808-5B068DC6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E9452D-E786-499F-A5F0-5A8DA992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FBB20-9DE0-4F0B-9B50-9911D9B3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F6BD9-454B-4AB7-B786-A996CCFD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0C05E2-FDA4-49D8-82FE-78B28E29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6AE4BB-F509-4897-9A67-BE487808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824C71-1D10-4E9F-9B51-3E6AAD53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A73A6-0F7A-4545-BA5E-0D23A038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154F17-CA12-4A5D-85B1-447509B5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 owns risk appetite, funding, executive escalation, and external posture.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E342CA-01A0-495F-B0A6-E73EC119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82ABDF-00D2-48D2-8CDC-AA03167F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 owns workflow, staffing, quality, handoff, and service delivery.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6EF28-39CE-4539-844C-C2BEA6A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32B281-3AD1-4086-8FBE-BA313DA0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Analysts, engineers, and IR roles turn alerts into evidence-backed action.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8B2438-A9D0-4CC6-80FD-3F6F3997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003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4EDF11-9C0A-4FB1-955D-6E3834D5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B53A30-14D1-42D9-A268-552510EA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9069843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62208B-6C97-4C79-BE5F-DA7A78EF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Learning outcomes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DE388-4262-40EF-BAE2-0F4FC9D2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02B69-FECC-405B-ABC7-AC1DE18A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73582-A89C-4F1A-B198-F3414789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A8ADF-6D4C-41D7-98E1-BF2DCDF0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FAE7F-8573-4663-BBFD-6756DCBF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10EE4-3BE9-4E3C-8440-A3B0ADB5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F23F2-68E6-4560-B11C-06C801D4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Design a SOC blueprint with scope, telemetry, tools, and ownership.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DCDD1-57DE-43D3-8381-7073EB3D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EE6073-2A4D-448F-AF15-209D8DA3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83C64-AAB5-4FF8-A6EE-D51AC313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Operate alert triage, detection engineering, playbooks, reporting, and governance.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71C78-DA94-4429-B59A-93C0D1D2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82ECA-F8AC-48F7-987A-224064D1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AA10D-482E-4B7A-A8AC-57540E1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Make defensible legal, executive, and technical decisions during incidents.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3705B-E1F7-46D9-986C-77D521F8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705619-CC66-4AB8-89AC-A309855C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5D4BDB-C35A-4FDB-9A12-FD7FD343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5B0621-8917-416B-8588-86833BFE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966E9E-E8BE-4AD3-AA12-082EC6EE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4E3FF9-F268-4D9B-A27C-6771BFC9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4337A3-1675-4443-A76E-1141F875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7E4DC9-EDE4-41B7-A931-6FE3AF95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2F1C6B-6014-477E-90FE-BD134FA1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004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7E0C5D-83F6-4425-9981-D27FB463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226C50-93EF-4CD8-8DAD-3A92FB6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20108159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72A259-E458-4931-9E9F-332CD283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Full-day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9A841-51F0-47FD-87E9-D5CB54F5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32B0D-BC6E-42BC-B378-86E80892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68CCA6-248E-47BD-B6D6-442477FD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51D71-4BFD-4676-8531-69B9A258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1-day teaching cadence with embedded workshop blocks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1A425-29D1-42FC-B8DE-B8F2007E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09:00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98FC9-2E67-402A-A633-17AE88C9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573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910CC-0FED-40FB-80A8-7A3B468A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573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Outcomes, roles, repo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DAD23-7DB4-482D-9B7C-AB3B0C9C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527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09:35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C1615-90CB-4C8F-B64E-FA774D56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1E31D3-6793-41B1-B2BF-E3806CFC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527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Foundation, blueprint, architecture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AD5C9-8AD3-447D-9BBE-A43BBC1E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10:45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3D0C1-DD39-4697-BE80-8064E514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480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Operate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ECD0A-B2D4-47D2-B7E1-DA46E729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People, shift, tools, budget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C157B8-5087-4CDC-A5C3-877B3C1C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13:00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ECEBA9-7E5E-4DC7-966A-8AFE1053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3434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7FE91E-0B8F-40C8-99FC-4D31B4BF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434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Workflow, detection, 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32C0D-4F2A-4EA9-B07F-7E095475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15:00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3E5BC-5FB8-494C-943C-271FF400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3875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Govern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9040D5-7308-453D-9688-C94EECC8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23875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Thai compliance and reporting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907972-9DAE-44BE-83C9-2284294C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34100"/>
            <a:ext cx="1428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15:35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779F6-8A2B-4372-B15E-F9488E8A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134100"/>
            <a:ext cx="2190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202A"/>
                </a:solidFill>
              </a:defRPr>
            </a:pPr>
            <a:r>
              <a:rPr sz="2100" b="1">
                <a:solidFill>
                  <a:srgbClr val="17202A"/>
                </a:solidFill>
              </a:rPr>
              <a:t>Apply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EAEF3-75C5-4BFA-B891-B8A0C60F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34100"/>
            <a:ext cx="127254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2616B"/>
                </a:solidFill>
              </a:defRPr>
            </a:pPr>
            <a:r>
              <a:rPr sz="2025" b="0">
                <a:solidFill>
                  <a:srgbClr val="52616B"/>
                </a:solidFill>
              </a:rPr>
              <a:t>Capstone and action plan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98C0F2-E9E6-461A-B4D5-6809977C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005 / 142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9ED53-A532-4C99-9D1B-F04A1296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FA6E85-9DE9-4F78-B696-432B8E7B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9430697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7EB3E3-42A7-497D-8B88-D3B933A8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How to use this deck during the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F3606-6FAD-4A46-B392-CB1B6ED9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A1DB0-08B5-4BD4-A26F-CF60D7DD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F9A1A-BD63-443C-999C-4475EAE9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CB63B-6567-4AFB-80E3-10E7E854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F97EA-1700-4000-981A-BDE50093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13C1A-BC78-46BC-93C6-69B99DCD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EFEA6-3613-4D49-AC5D-F7354379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the operating decision this topic must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B7432-EA5A-41A7-B5B2-B6F379E0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9804B-C89A-41CD-AFE9-77F02834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A39CE-33D8-4B64-B27E-5AD96F1A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the owner, evidence, workflow, and expected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3902E-AD78-45CB-A0FE-6B7FD0D0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E9F1A-89B3-4568-9757-B61BD0A0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749000-1072-4135-B409-3B8175FD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the gap that becomes backlog after the workshop.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44B881-5595-41C3-880D-8B24511C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28EEB-B0F3-4BE8-AE23-94128F96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245474-EE7E-4F7A-B500-58C95AC6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2AAA81-4D18-4EA4-A676-1A0DBBA9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1E8E7E-2073-4A14-AD19-BD28A5BE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8DD44-6DA7-4999-907C-2881CE1E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761428-1D81-4F97-A44F-CACA8A7E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3A6CFD-5DB7-4CD0-A559-4DA227A4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6B3632-F6D4-4B70-B83B-91D3FAC8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006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F7E707-146A-4DE1-84DB-5DAFA6D1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A6379C-2EF2-4D3F-9156-9FC7B0EE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3898484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3CD0B4-E49F-4CF4-87CA-6F2ECD78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How this repo maps to the workshop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37BFC-7E39-4783-9DF2-A4C452A1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AF222-5DD7-42DC-96E7-77FAE4BA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E56F3-B1CD-44BC-8673-7DFD73AC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414E00-B5D9-4482-A7AD-5047E4F7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8E82C-DF0D-42A4-A19E-D1772E7C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9065E-9EF2-48F8-AA79-F56BBEDA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821C0-A625-48B4-9B47-195D89B3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Build content comes from SOC fundamentals, budget, architecture, and technology guides.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42BBBF-ACD6-48C5-BF6E-0BF9732A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A2CCD-9B18-4BE9-A377-9F43A940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5BD9C3-D3D2-4D5B-8FB3-3FB2E8A0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Run content comes from operations management, detection engineering, and IR playbooks.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6A9C3-18FE-4F8F-9D19-9547D58E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4BAE3-00BB-4815-9A33-9EDFEDCF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E9352E-F52D-492D-A317-51EDCBB1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Govern content comes from compliance, reporting templates, and training modules.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5975C-9E91-4591-98F7-3C38EAD1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D86A8D-8337-4AFB-B013-B94FBF8F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7CD9E-996E-4EF2-B89B-33255BB5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085151-CBB8-4300-98E8-07947967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18FF6B-9EF7-42A9-8ACC-79C22FF5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900E9-B4A1-483A-828B-8D1A9AA4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00D4A7-3461-4675-885F-375BF31C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E8F07B-D4B6-4FF5-AA12-A29D7D81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14FE33-1F4E-49D1-A813-436F9DF5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007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194E5A-7C59-484E-A6FF-C5F21F2B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9C6AC4-4BFE-4B52-96C6-90E467AF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24875833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B4F71C-3DBF-4F33-B774-B94184E1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 rules: practical outputs, not theory only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2FBC5-4D37-4C45-9826-4C6B1D93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4D4EF-A288-4168-AF7C-B2541D70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E5D9A-A9CF-496C-AF28-1CFB178B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7CCCF-2BE8-4438-8958-6AC64EE4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F534A-6025-450D-9D26-95D5C41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D314A-2651-430E-86EC-F1521C8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22BF4-1961-4F88-A664-6D647E30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the operating decision this topic must support.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4B95F-4C49-4666-B8BC-9274CC49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11EDC-EB2E-43FA-9893-A185FE26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AD6F57-FCB2-420F-B3E8-D8613729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the owner, evidence, workflow, and expected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1FEFE-AB23-4CFB-9C81-1DC9CFFD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582CD-0A91-4FF3-974E-D91A348B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0741FD-CB99-4876-BD45-96C3C0B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956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the gap that becomes backlog after the workshop.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96E256-9142-4DC7-A9FD-6EBF0D7C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6C8733-A381-4EC9-AC03-05F12395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071F77-BAB0-44C3-B9DA-F4E79311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0379E-A778-4800-937E-8C433623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561243-2CA4-4792-988D-1588D571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AAFC4F-0EA8-4B34-B2C8-F341AE36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C9C3DD-A5A9-495F-BEAC-B7173445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AEDB0-3066-4483-A772-3E0140BC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EAA233-8E98-47C5-861A-5CF5424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008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85D826-2EEE-4A0E-8833-635F1735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Opening and Workshop Framing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797AE0-71A2-48C1-A948-250B6F69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66074457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F252F3-85E2-431A-928C-D8DE12F7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75C45-45F8-44C9-B96D-EF45B4B7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7D374-F767-498B-9829-7D80361C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26999-E9C9-46DE-99F5-0EFB5C69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476FB-6653-43ED-889A-C5F3ECF7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Choose the SOC mission, scope, and target operating model.</a:t>
            </a:r>
          </a:p>
        </p:txBody>
      </p:sp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E35FE8-E212-4D6A-8AEF-E1019DFC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What a SOC is and is not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4D4CF-B697-489C-A400-1EC6AA2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9F415-18B8-4B1D-8B23-5C7BD16D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653012-9DA9-4F72-B29C-EE3E851C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68E8A-A5BA-4F14-B529-E6DDD56D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504F3-0FD8-4ED2-946C-70D6D460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314F8-07F5-4878-AD11-15C8C552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3B743-FA11-49AD-8E4D-33093C77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EEABE-5140-4287-8FC1-E1BA9CD5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SOC is an operating capability, not a room with dashboards.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D9161-C4AC-4507-8FD4-C4D5CD01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762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4EA9B-DD40-4544-9CE8-9E38256E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DB5A4C-5C98-4A71-8D2B-94979163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detects, triages, investigates, escalates, coordinates, and learns.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E5B25-26C3-4512-A499-5915476C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3528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23CBCE-AE23-44DE-BFB0-06DF090B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C7B51-515C-40A9-AAA7-EFA284CB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is not a replacement for asset ownership, engineering hygiene, or business decisions.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22BF19-0BE8-48D0-A5B2-EBFFDDD0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4C58ED-A835-47EA-9F07-0003EC37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7E6B27-5243-4F39-B522-F64D5D40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176464-9918-48AE-AF1C-0A53ABBC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009 / 142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7BF5BE-0EDD-4A45-8D36-0D9269F3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61150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9B29DE-5913-4D6C-8C5C-82D23427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561975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5672772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96618D-6073-4CAF-BF49-07CEFC28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Business outcomes of a SOC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4FA05-4036-4039-AD41-E0DE39A9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B8A74-F34C-44AE-9413-D0E9FA71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574C1-093E-4AAE-9CD1-0452BA74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C12AB-C8D4-4320-A839-140B114F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F6D6B-AD11-41BB-92F3-3A19739B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BD33D-C925-4677-B23F-EDF6BABA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1803D9-DCA0-47CC-ACDA-D38AEE75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Reduce detection and response time for priority threats.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59266-0018-4C68-9470-5133190E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345BA-B4FB-47E4-8D14-9869449F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EC597-54D1-4205-AFE8-942B09C5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Create reliable evidence for risk, legal, compliance, and executive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E800E0-9591-481A-9575-1E2AA3D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A638CF-5135-40FE-B846-0F1FC621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C3667-770C-46F8-9F7E-F3218C88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Expose repeated weaknesses so remediation can be funded and tracked.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9F199-602D-4BFA-82BF-172A6DA9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6F4AA-D075-4A72-8082-64168E84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DA236-85A3-45BA-9FFF-2E313D4F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27424B-1D3D-40C7-96DE-AEE844F0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5A626E-A234-427A-8973-CB7485C7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24B0AA-3810-4369-99D6-3355240A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482739-83AB-41CE-AEC3-E81DC815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D075F-3F79-4772-A0FC-5107B458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567A4C-C2B2-4D30-96C6-2B75B53F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010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453E0E-FD08-4E4E-B8B4-00D4C52A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5DAA94-EA6B-4637-9095-8D4C1026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66615072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D95603-9DDB-4E48-97C3-092E7E5D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service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55BBB-5469-448D-AB09-8E808F81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A2BCB-5D3B-408C-9AF6-E13FA96C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A2D2E6-B91C-4AD3-93C2-CD5CDAC7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3870B-713F-46BD-BCE5-D5565D7B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14A60-111F-4025-A5FF-4028E96C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244D4-7973-4C18-86C2-547C762C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93987-3E3B-4C3B-845A-07283AF9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A4982-3B5E-482D-B111-26CD1A76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620A5-1EB3-4DF5-B080-B943EC2C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19AC8B-32CC-4911-AA60-D05BBBB5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00C24-567B-4E92-B150-0ADEE964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F5859-A85C-477F-A81A-09295FF1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89DBC-156E-4FA2-A858-480D6269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48427-5201-4B94-B613-CD38BDD4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5B44D-8C98-45D0-BBD1-C9FF16D7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2B2BF-DC8B-4394-818B-B9685EB4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670272-38BF-4287-9ECE-B496FA18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B0FF3-F786-4749-BEEE-A6148E3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D21C63-0D1A-4EC3-8E92-EF3B75E8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906AE0-A826-46CF-A0E4-49165DAA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068D4D-5CA3-463B-A771-DC125F6A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805D4B-8333-4F93-901A-01080F6A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0B30AD-7D9A-4714-BE20-4FD6D7EC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Define which assets, identities, services, cloud workloads, and data classes are in scope.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30AAFD-C75D-4366-854B-9C62D15B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401690-84CB-4062-A8AE-7B4A2C1B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Define what the SOC can do directly versus what it must request from system owners.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C53664-95F6-49CC-AB3B-DDA82477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DCE820-EA13-4271-BC0E-9C7AE9CA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Keep escalation paths explicit for containment, shutdown, notification, and public statements.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ECDE59-7438-41A7-93D9-EA39E257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011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275283-3E72-43C9-8258-A3A15FB1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927A9D-11BF-4978-878D-5D018DF6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31436932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B8D5A1-1869-4351-8AA9-2509B076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maturity stages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DAF3F-0E51-4899-9455-5D34A83C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0F570-DBE5-48C9-8CDF-6342A544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3F34B-6304-45C5-A9B6-0950BB5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C9FFE-CC8D-411C-8B3B-1C5C40D5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FF654-8661-403C-9417-22FA9A73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9A586-7B36-4E86-962A-B34BCA7A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B1567-43F6-4A89-B312-1AEF6E3B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Foundation: scope, minimum telemetry, triage routine, and severity model.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F019D-F334-4916-956D-24F8960D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14959-FFB2-4D1A-9689-C400CE0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BA0025-A937-4C03-ABB0-A6DA3FBD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Operational: playbooks, ownership, tuning, reporting, and regular exercises.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FDFB5-7B4E-418F-9DC9-F600D00F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0C2719-9D43-4C52-9275-3FF538F3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0DA75F-A4A2-46B7-BED6-06076134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Mature: coverage management, automation, threat hunting, governance, and measurable improvement.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0091C-BDDD-4E8E-86C0-28C6DA78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5D4345-62F6-4CBC-8B76-AD9080AF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A2CEA-0F15-4F85-B77A-8A226149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01F5C-551F-4B07-B5F3-247878BC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315B0C-F95F-4B22-B5A0-B52ED021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E7F0F-87F9-42D4-896B-8952C488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34E3DF-FC48-4D21-B342-2EF4DF39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671625-59A1-4A2B-893D-B09A6489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CF97F-88F9-4938-ABC8-E9A0B990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012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DE0819-D2FF-4614-8424-C30F3B16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0C93B5-008D-4146-AE9F-A75617C5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8060295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CC6669-F440-4523-973A-7736C9B5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In-house vs MSSP vs hybrid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F7496-3194-4F55-877E-52AC5AE4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AFBDC-60BC-4512-9CE5-06A50594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609B3C-ADF8-41E2-8133-D23F3B23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0612C-1724-4C21-B514-F58840B3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9525E-6DD4-4223-8573-62CDF885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A9CE2-994A-4B3E-BDDE-EAF81C74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BE927-ABE4-4F7D-9FBE-59C93DDC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381B0B-3633-4464-96EC-4EC134B4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0BA93-72BE-4547-BD78-5738AA27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DC136-7FBD-4C51-926F-CCF06363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BA2FEE-947B-49EA-8CC5-2CCF7CB3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9B81B-DDB0-4652-B32D-7D683D77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110D76-05B4-457D-B9F6-6E9DC3E8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8D05E-B12D-4EB7-A9CE-CDD55D64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947BCA-1FF8-46EE-88C0-E9691566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EE4C1-A115-47C0-AD5A-CCA6B0DA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E62DAE-D9BD-484D-B6DF-02BDCE74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518FB-C53B-4F68-927B-098FF380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12B29-6006-441A-A27E-98ACBE6B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In-house maximizes control but requires staffing, management, and content maturity.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4D1A40-590D-4DB8-8D8F-AD1ECDD9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74AA6B-FE05-453C-A9E1-4F500A90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2E8ABB-BEEA-492D-A110-379AB582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MSSP extends coverage but cannot own internal business context alone.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717E17-275B-4E43-92D3-BB8D71FA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D410A2-A188-4A3B-9574-176A05CE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Hybrid works when internal owners handle decisions and the partner handles monitoring scale.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7FC9FC-B9A5-4033-A12C-0111EF86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8F20B8-9B9A-473F-96D2-04F03AB9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54CED8-BA65-41F3-AB8B-E65568AC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013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9167E2-038B-4A1F-911C-1B80ECCB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5C9A50-5B94-4DF3-9BB0-B9CD644F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28426301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DDE218-6CA7-46F2-9DEB-CEC56AEF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When each operating model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BC41C-8261-415A-B5D1-54B0F64F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0FF8C-297E-4252-BB6A-D1E9D78F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D8D3-A3D8-45C2-8F16-33B72704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88408-4665-45D5-A382-97948E74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7AB30-6D0D-4F1D-9C74-7EF683CE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8378A-F06B-4EEB-8EAF-24E5FED4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8CC20-4BA0-4DB9-A481-D1BAB491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AB804B-5162-454B-BBE4-D3DF2A73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4F97F-FB35-4324-951C-F911B318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811AD-BE4C-4D77-88A9-535A7EA2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3D6CB-C9DA-47B1-80E8-E17F07B1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939A7-CAA8-46CC-889E-BF2E9265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DA4D8-25EF-4079-AE1E-D84AA3C7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9205B6-2B2D-4FB8-8252-012C00AE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CE46F8-6630-4EF0-8828-266ECDF0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C9AE7D-2BB6-41AD-A74A-513734A0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624E27-7BE2-4015-81BA-F8C8E489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2A200-982F-4F8A-BBE9-E3972D2B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DFF195-7CB1-4BD6-8A20-80AACA32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In-house fails when coverage expands faster than staffing and process quality.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5F976-F846-48F1-B216-9C8EFA11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5E5002-1320-4CE4-A77E-638EE670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C411F6-2746-4327-B366-246E6F4A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MSSP fails when escalations lack asset owners, authority, and evidence standards.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777A9A-8470-4108-9E6F-6E0BA400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0981A1-C11C-4613-9513-F71B459B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Hybrid fails when responsibilities are implied instead of contracted and rehearsed.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9D6CF0-9BD1-4B3F-86A3-12334BF3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A27FA-D9CA-44CF-A50E-7D5E7BA6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7C034-2446-4FA7-968F-0E65D00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5E8DFF-F694-403C-BD3A-B4F61F2F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BC429A-82A8-4EF5-9D35-0A13EC6C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68080115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B97CBF-2D9D-497A-91D5-FF1110A0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Minimum viable SOC vs mature SOC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55D28-AC55-4787-9616-5DBA402F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E62F6-3546-4E11-B560-EC192EA3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D8297-1D2D-4ACB-9CF6-A88A70B3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693DF-5C7D-4FB9-B8FF-5E64AC37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964F8-F01F-47CB-AF84-911878F4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DBF88-543C-458D-9C4C-C3E484A2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F0924D-F555-49A7-9CF3-B01BF272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Minimum viable means critical logs, critical detections, triage, severity, and escalation.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CA2DD-2C36-4F80-978A-0001077D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1B6009-6389-4E93-9DCD-925346FC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91B5E-31F7-40F2-9CEB-8152AABE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Mature means coverage lifecycle, response governance, engineering feedback, and board-ready reporting.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32191-3F0F-4A7D-9C72-5B8E99A8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16F329-2305-43AA-BF35-158DDE12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312867-44BA-428F-B025-4D020207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automate a workflow the team cannot explain manually.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C719A-C622-4E07-BC3A-CC69B349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9CC4E3-8418-46B8-AD77-924ABC26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8B1096-9470-405B-9ECC-55B54763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C3F7F-A628-410D-914D-E40000CF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BA77D0-E351-4278-9849-698E7CEC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BC8578-8637-4270-95E6-D1ED7A2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11EA74-D468-47E3-9F8E-7D876EDE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B87962-0575-410C-97ED-87B8896E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CA6E76-3D3C-48E1-8C6C-9754C451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015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828F03-F793-4E55-804B-FF2E14FA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991D86-1734-440F-AF97-3F349B8E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38994610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2D986F-A2AB-4396-9567-0594A2A8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Core SOC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B5F58-D491-4E10-BDAF-4D893937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6DA9F-34DF-4FE4-A522-ABC4A1EE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B8217-6DD7-4FB3-A9A9-B7ADF7DD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47A88-F0FD-4DFE-8854-7562421D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30C54-1885-4789-A65D-DA8171D07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134350" cy="7629525"/>
          </a:xfrm>
          <a:prstGeom xmlns:a="http://schemas.openxmlformats.org/drawingml/2006/main" prst="roundRect">
            <a:avLst>
              <a:gd name="adj" fmla="val 17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D494B-3DFD-4E56-ADCC-4019EC37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F33D9-6005-49F2-8D46-5F01E608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240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757EBA-C675-4F38-940F-DF827C1A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26D7B-91E1-4DC5-BBE9-6F22D50E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7B1B0-70AF-4BB1-8456-FB87B0F6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050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5B2AC6-7A32-4956-974D-F2F98432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623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94DA2-9A6E-4E2D-A587-DDE2646F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194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7D0B50-901D-4269-9C84-14E3DE4B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623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CC3ED5-235E-4B39-BAC7-F58D6357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A51E0-5EC4-4374-9CF1-4FF48656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767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3C7EE0-A5E5-440A-B941-1CA54496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195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CB0422-5136-4CD2-8BDF-E04A656A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768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001D1-9A02-4931-BF66-339856AD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DE3E18-8BF4-488C-9C1E-10D25B78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24AF8-DC85-4740-83E3-7BE9073E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31A52E-4EBC-4B36-8718-67F19972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6764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9026A-05D9-4FB6-8E2B-133905DF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764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C1EE73-7E4B-4564-BEC5-9D4E5F68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Monitoring and triage: alert intake, enrichment, severity, and routing.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FC24D3-7B70-4BEE-BCD3-EB49BBF2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793AE-92DE-49DD-907D-51D4A099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099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Incident response coordination: containment, evidence, communication, and recovery tracking.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C852E1-7E8D-4065-B746-EBC835BD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005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56E0DC-2AA1-48B3-BF21-FBE40159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5720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Continuous improvement: tuning, detection backlog, telemetry onboarding, and exercises.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13DC8D-B413-42C4-9404-DAB9C93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016 / 142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2DB758-6245-452C-9ED0-9EF51B83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187F04-DAF4-43D0-AF6A-19C09118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8557209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4D9F070-0D00-4325-8351-EB164D86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People, process, technology operating triangle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C95EEC-CCC3-46ED-B6F5-82FCA6CE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6049EC-C8DB-4449-B3AC-9C7B133D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DBF9C-4F12-450A-ADF4-FB8D1818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68EC8-8DBA-4FF7-B2A4-34E4A92E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E7DCC-D3E6-4BB8-B386-CBD073D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AD1E23-8EA1-47DC-B1CC-EADB1467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47EC9-A3CA-408E-B302-62487ABF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B068E-BA6E-4466-B243-8CB50BD56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365B95-DC67-4715-9964-277A2E77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2355B4-5D43-45C2-821D-7F20386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DF77F-DAC6-40F9-9B8A-77537E40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9CE283-FE4E-4A1A-864E-34C8B16E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9E1C1A-758C-4022-BE2A-0EE9D464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851440-72B2-41BD-AA96-74BDAAA1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42CE84-61EC-473D-BA22-C0B1C530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1717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EAD86-E525-456B-B204-E052DE12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DCD42-FA51-4CAC-8490-C0159A0A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C8622B-B1EF-4008-9CFE-8AC54E97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481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1292D-01F2-4A5A-A9CC-F85F6F26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People decide and execute; process makes decisions repeatable; technology provides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727EB-89FE-491C-843B-B1B52407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764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DD745-F3B2-4821-8484-ECE9216E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0764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FAAF8-B6C4-4FA2-8A66-8B237209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Buying tools cannot compensate for unclear ownership or weak escalation.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D348BB-AA08-48C2-A1E0-4590CFD8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2766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9DF040-2D13-4277-BCF8-1A401F0D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4480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Strong SOC design balances all three before scaling volume.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AEC9DB-3057-4BF9-8E65-AACA077A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44767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5A4E05-9F89-4C84-87F4-31594411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6482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FD1773-87ED-4604-9EB0-50731B9B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017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55F6C-46B2-469F-A57C-7B7F227D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7D3B8B-6940-4EFE-B5B3-2A054DE8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7213893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B36333-7EBC-421C-822C-1845DAF7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Common early-stage mistakes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F8147-292B-49AB-A843-D681CC25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6B15AE-21B1-4D90-9512-830E43E2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79B20-7739-4858-B95F-A507E5ED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F4014-E0FF-46A8-80A7-ADFEE9E3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52F7D-58AA-4610-B578-5A051BB37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5B739-1F39-4600-890A-CAF0C02C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F2AD76-F4AF-403A-A042-7D27448A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Tool-first implementation without mission, scope, or log-source priorities.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00B86A-51D5-4643-94CD-677C7477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ED399-1702-41CE-BD3D-899B4B08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84336-C862-4A72-B83C-3493B3DA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No severity matrix or decision owner for high-impact containment.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32AA5-4527-4F69-8F58-A50714A0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AEEC13-38FE-4D07-B974-56D6AC61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66330-8754-4856-9EF9-30D5C39C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Hiring analysts without runbooks, evidence standards, or escalation paths.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6F1F5-6F2A-4A85-B5C8-5AD1C3EE9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BD120-109D-424F-BA81-5077B4EB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9E67D-D037-4F91-A530-1DC6552C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8AC09E-880E-474E-A0CC-BA15F948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A89DB4-84B0-4D77-8BF3-11801B44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DF3956-E915-49F6-80B0-E7F7281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7258A-CA2A-47AA-806D-2C8C320C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0EBF92-1CED-4C92-BFA1-C7D10F22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141AA-F8F0-4124-9278-38944A484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018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A44FF9-DB55-465F-97C9-2929E514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D419B7-808C-4953-9073-9F563077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20286731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D09DE0-5ABC-4C47-865F-8D50FFC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Common scale-stage mistakes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53C57-2EF5-4F56-97E1-AB4138E5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1FA67-CA4D-424C-92B8-755BFBF9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0D8315-BBCF-4F63-8A31-AE86C15F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8C7F5-4662-486F-BD06-79BC56EB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5B90B-A538-4D1F-939D-79D5E885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83125-A2FC-48F1-969E-1E655265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1A0E8-1C06-4BF4-809E-9BD223C5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14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Alert volume grows but tuning, coverage management, and handoff quality do not.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82C22-0069-4D21-AFE4-8FE584C3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3620D-2109-4F14-A23C-60A1A34E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86043-4215-4350-9266-C1AB0566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Reporting becomes activity counts instead of risk and decision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716618-A750-4F11-A518-4A719881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D9A4A8-D946-4AC7-8053-418A0E35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4C0BF2-9C18-4036-827D-472685E1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385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Lessons learned stop in PIR notes and never become remediation actions.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F7BECC-1196-4763-BB3D-404D84F5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7145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65A89-0863-45B7-8AB8-17E7E13B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095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8364B4-9C99-49B6-8593-BF32D507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286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CD27C4-2B6F-4BAA-BFDB-58E196A5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238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4F3862-00AF-42C0-8B42-6F101CB9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3429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992F1F-F696-410D-A9B5-54F75C2B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3815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EF5473-B838-42D4-AA9A-D4C36A0E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5720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472DB-6B8C-4865-9481-FF742F5A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5245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3F0578-DEFD-4A19-8FF7-E4B5BD26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019 / 142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089440-D027-45BF-A466-4D36024C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9ACCFA-6021-4BDE-89D9-01B98C7A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214683646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A61E52-9F55-4CBB-8FE1-4DD959F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maturity comparison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B874D-46A1-411F-8D7E-CE41466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EC252-C84B-4A71-AE93-854D45EB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7D438-5A81-460B-BFFF-7B8BECB5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A0F8A-ACFD-4C03-BC81-266E44A2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C97A7-6314-4662-87CE-B70C352C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9DD6A9-9597-485D-8C75-2054268C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0B61D-5C0C-4115-8F76-5C080EC3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4BEE9-00C8-46AB-B30D-D96DB45A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Operating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B7150-23F4-4E96-9406-AAC03301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21F7A-4D2D-4866-BBE8-C2421535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Primary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732920-C180-49C9-A973-9A6C0425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4B1C9-5BAC-4169-B069-0D764E34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Next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B3414B-9B4B-4AC5-A271-9EA41AF9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B96D8-6C6F-4C41-82D5-DBD9523F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Foundation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E46E71-B32E-4C13-BF81-B00ADB80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BBF75A-4EDB-4BEF-8792-02E3AC69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Basic logs, triage, severity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A4D215-99B1-4DCC-BA2A-E74E634E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5CF36-FDF2-4B9D-A040-81B08A44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Blind spots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C5B549-E969-403F-B010-8EDA10C4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19E0E-F547-48CD-93F4-A1C50F46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Prioritize telemetry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B0D32-DBD1-4A52-9595-C7322405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66ECD9-1259-415F-A434-816765E0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Operational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1A9AC8-01E8-4B74-AFEC-8AC8FCC3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A71417-148C-4242-ABA4-721F4159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Playbooks, handoff, metrics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EA4F0-044C-4F97-B520-0BA1E5A7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CFF867-B8F9-429D-950A-0E517824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Quality drift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C5F72D-0144-43CA-9F34-902573E8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899AF0-20E5-4D9A-B9A6-5A4BAC1D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Tune workflow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985523-857E-44FA-BB1F-B5B8C3A6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96A957-4DA0-457B-AC0F-C4C6ACD6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Managed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9F8D1D-89BD-49A5-A2F0-CA348A0D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37530F-E0CC-4CC8-90C7-7F6CB690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Coverage, governance, exercises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106BCDE-576B-4C63-B581-86DA522C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F930C5-46D8-4223-A215-178D3665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Scaling friction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1FD526-3DC7-4AE2-B095-1A37F2D3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5908C3-4445-4696-955E-979C8D8C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Automate carefully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26A786-8BD7-4713-A16A-10962C5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48E351-3374-4690-9FED-67F91B14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Mature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DDFC02-DCFD-44EE-8411-40D9B9F9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B286ED-B37D-4A6E-92D5-E9B46AE5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Threat-led, measured improvement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B836B4-AD0A-4100-99A0-0938666B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A44FCB-1A73-42BB-8AD6-A17E3784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Complacency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D720A2-A187-4AAB-87BC-86E89975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7244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823F29-4B92-4DF1-93BC-E3BF27A0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8387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Review strategy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43FA9F7-D457-49DF-A243-974E9258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020 / 142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EF5973-D6AF-4A04-9D3E-C5671207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79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3EFD111-6486-4585-9488-36DD9F22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579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55844566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B9878F-0141-40E6-B8A5-99605178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operating model comparison 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D698C5-6DF0-4911-A559-62B1183F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70873-56AB-4BF6-A3ED-C2DCAD56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20E31-1D33-4A81-90A0-24079766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80235-98EB-4239-8B7F-63375435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3485C-CC49-48E9-BCEA-7502AF2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D428C-26A3-4E0E-B708-F6174205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4B65B1-4523-4930-9E3A-1EC09B1A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AADD7-2BA4-4CDD-AD31-92AF8FFF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Strength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23A26-D68B-4AFE-AC6A-22E858AC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E5069-D3D0-4B5E-8238-66472FB2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6E44FB-F495-45E9-99EC-D17A7A92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7145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DF6B2-5AC8-4097-9A69-7B00003B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18288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Use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B9F80-559E-457B-974E-F479C7D0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05FC6-93DE-4C92-848E-2D0457A6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In-house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FCF8FE-FCEC-49B1-B548-8CC5765A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64557-7775-4115-BF03-8CADC251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Control and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527BAC-D263-4D1C-BDE7-423EA657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1224A3-B8FB-434A-9CE7-94BC160C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Staffing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1FD563-EFB3-4F08-9E27-5B6F6D0B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45E06-EE1B-47B9-A9EF-6BF1FEEF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Regulated or complex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BFB48-DBB0-4B16-B9F6-51A5F11F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E14CE7-96CA-42C3-A500-C6B629F3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MSSP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1D3666-402D-46A3-B967-C7777B62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EB830A-C5EE-4A6B-AED3-83D523F3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Coverage and speed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9D3BA4-14FB-4DB3-8D1E-7F7D24E4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F70BFD-6246-4AAD-BECB-ED380BAD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Limited internal authority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4B0C2-F676-4F52-9511-E53DB949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1242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481D55-B30C-4285-9090-8CC112E3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2385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Small team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F47905-43DE-4E40-A876-527F468B3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7E5927-D37A-4D84-87A9-AEE77F2F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Hybrid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8B5BDF5-552C-4FF5-8CC7-4B26A2B4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5A2E80F-D611-4CBB-B094-35A29E5C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Balanced coverage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23D4C3-350B-440B-9805-5E4EFE6F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D74B06-96D9-4282-A3B4-8E6CB740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Needs clear RACI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C7BB49-E3A8-4407-87DE-340ECB6A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9243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CA5EC7-981D-46DA-BBFC-E65DC021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0386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Most practical start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9C5D09-847D-4304-8230-54E99AAC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021 / 142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656E95-5549-49CB-B685-068AA673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9911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67F64A-6203-4AD7-B1EF-0DA6A375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49911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146523952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52761A-AFBA-4FCE-B61C-FBB8AD78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define SOC scope and target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64546-19A9-43C1-9A32-049BC211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F439B-EF9D-4EC7-936A-97946728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5F207-8107-4E33-840B-EE1F5116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173EB-BEAB-4B45-A9B8-FEA454AC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40DEC-AA36-4C24-BD82-1B36AB69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CFDD31-37F0-4243-9553-C82C176D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478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DBA7D-128A-4E79-B697-4E75DFBF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02FD17-B520-429A-B819-5DBC409C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3CFB9-F708-4EE2-BA5A-740FEA7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92377-964A-4D31-B36A-660482A3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D12A5A-6962-44C0-8C25-F3F965B7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DF3E0-7D31-46B2-A65E-BD6A56DA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8BF69-03C2-4709-9F9C-BFEF94B9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4E9313-8432-4ED1-9141-BD071206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0DF7D-ADCC-444F-ABE8-CCA235F9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B9B9F-77CD-442B-B528-962BC766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815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B9796-0239-4B26-8DFE-B62285F8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16383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8393C-65A5-4A80-BD9E-D903AED9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C2B4DE-5DBE-4A04-8C4F-BFDE26F7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16383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CD0A7C-8995-40DE-83D4-85FE2BBB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1809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C44FDD-0BDD-4003-9474-273B825E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2576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942B4-6A18-4948-8EB2-6332C914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38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62BFB5-ED14-4ADC-BE0A-AF47B862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2576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F209D-FE50-44D6-B575-3DE6241F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438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209FF7-B159-48CA-8CD5-C132F302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6877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115BCD-75A6-470A-8FBE-27E7AC39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0485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906140-CA7B-4EEC-9A82-C86E21DB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6877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A06197-B405-44A9-8F3C-4F33D24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0485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67A497-0038-4E74-ABF4-540E1D5A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022 / 142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F45EC9-648E-4011-A6B9-0ACBCE77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24587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Foundations and Operating Models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A30D54-7BBE-456E-8480-D712EBD8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9601200"/>
            <a:ext cx="29146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00_Getting_Started, 01_SOC_Fundamentals</a:t>
            </a:r>
          </a:p>
        </p:txBody>
      </p:sp>
    </p:spTree>
    <p:extLst>
      <p:ext uri="{BB962C8B-B14F-4D97-AF65-F5344CB8AC3E}">
        <p14:creationId xmlns:p14="http://schemas.microsoft.com/office/powerpoint/2010/main" val="91479845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767A16-72BC-4F3E-B24E-7319D19E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D7833-2A99-41F7-8F4E-FC52C44B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023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B928C-EED3-4987-A9F3-37B20150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SEE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57BD4-1ADF-456E-8F0F-9116B949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0A27F-C5CA-4002-9B81-1E464DD8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Design the telemetry path that proves what happened.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281DC-8837-48EC-9C59-1E97D830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2F642-E05E-4E24-AC4B-D6BB91FC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C465D0-F820-44EB-A120-708072C6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38CE71-D031-4B2D-AB4C-FCA61932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What a practical SOC blueprint looks 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8D34CB-B699-49A6-A736-E388402B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03120-D99A-40F9-952F-3B201E8D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F338B-CD3C-4BDA-8E1F-C9C173DB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F1B1F-A7FE-457A-A719-70F90CF5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450E1-AB78-4336-8742-9E3CD137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FC060-E9EC-4A0C-8038-6DC2A666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686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781831-7B88-479C-AAFB-73AE291E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2AF5E-FB23-43C2-A444-F53CC35D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shows systems, telemetry, tools, ownership, workflows, and escalation boundaries.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403095-8D11-4267-9A0B-507CC7C2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448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727A24-9436-490E-BD17-928E3AF0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86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7959FE-778C-4E10-8A11-83D1A082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480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identifies what is monitored now, what is blind, and who owns each gap.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D6AB7F-9977-478A-AB34-8FC72AB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0386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FB9389-7052-4B47-8751-6308E590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767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A32337-D731-48ED-A91F-9563F5F2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386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is simple enough for executives and specific enough for engineers.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2D93CC-18A1-45A8-A27A-86A2CF61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7244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47CBA0-1F8F-4531-BF9B-434A0F82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9339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A3451A-63CF-440C-9416-B3101CCD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339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A93A0F-66BB-41B8-AF11-694C818F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1341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43231E-8AD8-4AC5-8188-B5D298E4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134100"/>
            <a:ext cx="4914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4C91A-A040-4498-B8B0-03990D3A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1341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30204515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92A7B5-B692-4569-B654-892BECB6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High-level SOC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6C7AC-6D4F-421E-8FA7-ECCC6836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C6D751-59CA-4EA1-B9F3-25598CB2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C9542-526F-49DC-9514-490E1CD7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BE5F3-389C-405E-9990-11A91087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2B950E-3C78-4FCA-BE9C-3401E1CD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B7280-87C3-4009-B939-1847C434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5E4884-A9CB-4AE0-A93C-013487AB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A2683-36A6-453A-90DA-7F2FC4B4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8923D-F1A0-4F1A-BF20-5128ECBE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DF3162-F30D-4BD8-BB84-F54236A2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C98B35-4F2F-4F0A-8472-60CB5ECD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62BBB-6A7B-4EC3-9038-B42F542D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DC0F6-8ED2-49FA-B4AF-73831365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27DEFB-116B-4C34-A71D-8161D602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82A742-4764-4432-BE1A-BA274107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6DE4A-8B37-4F94-B5D2-D3C4DFB2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529010-7EEC-4737-8B55-7B96CC60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18BB7-5A43-4414-A5CF-B1CFAED0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B7137-BEB1-4B72-A1AF-47EEF51E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BCDE64-830C-4FB0-A58A-BD05237E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113889-81F7-47B8-A3E6-DD226102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6B06A-8AAE-42BC-AC95-E3F3D5BA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Telemetry sources feed collection, normalization, analytics, enrichment, case management, and response.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337EA4-AF1C-4399-A544-B6D5B6E2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E4D3F5-80E9-4766-B518-A4404DBF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3D9E39-A644-4D83-A3B1-8DD8B540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architecture must represent identities, endpoints, networks, email, cloud, applications, and data stores.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489743-3B9D-4C4C-A079-2DC6907B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7D36D1-01E4-4C2C-8141-67205ABB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Control outputs include tickets, containment actions, reports, and governance decisions.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93AD9A-0AE0-443F-9623-3876EF19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ED26CA-10AD-4346-99A7-96DA795E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861E22-D6F5-4234-B0E6-6A070A7B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B68C0D-C9FD-4F9D-8918-16997FC7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28C530-7912-40B3-8F68-1F583C4B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83225040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ECF043-AF81-4665-B2B8-322648D4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pipeline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5ECEE-B8A5-4061-BF7F-8E5486A2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2D765C-3477-4E07-AB88-2B4E46E4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0F48-4AB9-40E6-96C8-C0D03977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C29CC-8DD9-4725-BD95-B91F9066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18F18F-F4FE-400D-AE10-82C59669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BBE45-66EF-4656-B00E-28A73676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2491C-F96B-4D54-A7E0-3FECC1A7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C234C-CA3C-416A-8222-11EE4273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2AC26-40A5-47EF-92B9-407508A5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0A3E1E-3F69-413F-B764-793340D0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724DD3-374C-449F-B6AC-A25C8B21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BDE37-3A43-43E5-B0BF-2B805E2E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BC1F18-B821-41F7-8049-AF6C1E9F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ADC3B-AE62-4B2A-98E7-D68633FA0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95D11-3AF9-4AA4-8FCD-15E01808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90843-A0BF-4135-8589-B4E555E7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1D12DF-7AE6-428D-90C2-B9547AD6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61B971-7AD7-4A50-9C6C-F8090535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883DFB-496F-4B8B-802A-E14087C2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7D8A4-C6B7-4D69-AE99-7DACD46C6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AC47B-D679-4B79-B976-9499E558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FD1633-E15F-43FD-8660-D16A3C8B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Collect only what has an investigation, compliance, or detection use case.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D41A60-4AD3-40F0-A23C-223C790B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849E8A-0912-4438-8B31-77EF582B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276F1B-E71D-4FF7-B092-18817063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Normalize time, identity, asset, and severity fields so evidence can be correlated.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ACDAE5-7DFE-4129-958F-1A883A12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B889F7-4FD6-4F28-9DE7-3F2FB320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Monitor pipeline health because missing telemetry is a detection failure.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AF04C1-A35C-4D34-A8B4-B2D102AA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4075AC-620B-42E2-90A6-9EDAC74F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2B61B7-D64A-4E9F-865A-7ED7A16E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025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B26317-D58A-4320-8292-D2D33446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31ADF5-6142-4F08-A9C2-D0A6BA55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9157929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956429-EBB0-46CB-A7C7-1B5B5270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Endpoint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89EB6-E9C6-4DF2-9EEF-726853A3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14C53-87E5-43A8-B549-58DD6F7D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69062E-E044-4F2C-8A1A-ABB0E9A3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BD92C-2CEB-41E0-A293-FF844F35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75920-B7C9-46E4-A5CB-456AA6B4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69836-0C7F-4979-A362-963BF2EB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28A2F-363D-4072-BAD9-51B48393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3B19EE-DDDE-41BE-8C1A-B33A5F30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06DDF-6F8E-4BC0-9178-07456D8A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9F6FAA-2A95-4651-9CE6-D8AC2A23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Prioritize process execution, parent-child process chains, file writes, persistence, and isolation state.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FF788-5F8E-402E-9D23-93029914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1DD3AD-6E60-437E-A07C-5384BC00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D4D948-4FEA-4EAE-A891-0925B6BA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Endpoint context is central for malware, ransomware, credential dumping, and lateral movement.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75BF8-30F2-45F0-9292-1AB62238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D6BBEE-AEC5-4D13-9FE5-EB896393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D52EB4-0B46-4E31-8F0B-F826A292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can isolate, collect, reimage, and release endpoints back to service.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5E09DB-BC5D-4220-B723-F0368547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D84656-EEAE-44E8-BF26-668B7451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FFB8D-6B38-43B5-B357-420C5196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935E8F-E183-4078-A5FA-3D3F2DF5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E8548A-A044-49C3-A01D-0208CD24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329FE8-FF8C-4A40-8332-68C425D0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17FED0-A38F-465A-87D3-17E5FA27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6C41AA-D874-4862-AC3A-625DBE35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D01229-20B9-43C9-B16F-E69EF279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C0672B-5445-4D7C-A6CB-FFE3ABA5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7EF67F-9D91-400A-8DE2-529ADB32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93666800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0E842A-D1F3-4F3D-AF2F-D790B28C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Identity and authentication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4CB0B-6221-4727-9AAA-B931176F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C6737-BF71-4267-BA46-4890C5B1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ECEB5-FA29-40A6-BD4D-8A481C87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21A13-01B7-4EAC-AFAA-FE2B7AF2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E5F8AB-38F7-4E33-8E80-5B35DDC3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66946-C4DF-4859-8594-69C8F28A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478D23-7CD1-4EE1-951E-936576D6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94D9C7-FDD0-4DEA-950E-E5395709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7E1E94-E50C-4ADA-BDFA-98111E7F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91099-CAC8-4BBC-98AF-9E77CDE8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Collect successful and failed login, MFA events, privilege changes, token activity, and risky sign-ins.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AE5AF0-C4BB-4096-B3EE-826498A9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0A789-D1C8-4B1C-80AC-B42A3226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30D29-E85F-488C-ACAA-02C2CD15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Identity telemetry powers brute force, impossible travel, account takeover, and admin abuse detections.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D02C4F-25D7-4333-B9EE-7142833E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61A40-C166-46A5-A512-A8959B84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68486-C199-47D7-942E-DC20F002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Tie identity evidence to HR, IAM, and business-owner escalation.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409025-F2AE-4280-BB9A-D786B5F8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F3BB08-D1DD-4C8E-A012-F05DC3C9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FF5274-4043-4B41-99FD-0ED0EF55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679EA7-61F2-4C01-A937-4F2A6833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FAADD5-9FAF-4B2B-9157-39A837D7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5FD12-1B7C-4D6B-9B76-2FA7E021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D6CC4B-9FF4-4D1D-8A99-8BD1E50D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83C32-425E-4FF9-8428-E7965597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E7203C-A265-40DC-A26E-97C59195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211DA5-FC1E-4AA7-8D50-43D2E08C2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FD143-E34E-44D9-8E3C-2D977852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908479456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FD7296-CC21-4D44-B306-C0DCF998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Network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EE5FA-0AC7-4463-B665-2E878698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2668A-AAF3-4706-940C-2E9E949C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42E7C-B824-4FE7-A59A-6525E517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AB53C-78A8-4B79-842C-96CADAB1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9FC87-ACAA-46D4-A229-AEEA0AE8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F1ECE-9EEC-4C31-BD60-CCA58262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01FDA-95A8-472D-AC76-C706D5A68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057E3-0E4A-489D-A387-48611C97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0ADD6-B6B6-458A-8770-C68EF5263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83A10D-B742-4B18-98CF-EE5101CB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Network visibility supports C2, DNS tunneling, exfiltration, scanning, and lateral movement.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28418A-BF76-4969-AD66-6EC120DA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E1F0D6-9C25-4533-A086-2FA8CC35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1DE29E-C931-41D2-8D3C-258A3D30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Firewall, DNS, proxy, VPN, flow, and IDS logs each answer different questions.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FBB3B-B217-41D5-A9E1-307356BD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5226C-1690-4EC6-870D-06BC8611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47ED3-F71D-44FC-90CC-FA27577F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treat packet capture as a substitute for asset and identity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3305B7-5A48-45CC-9F5A-875C5357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A1DA94-21D6-49CA-9B7E-5ACCE8CE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058BC-9DE5-4E32-B486-A9C80EA2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E67A58-2789-4C98-B045-1C45C158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D68AE-9983-49B0-A6E7-629A673A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3DCD08-79BF-4330-A625-931F49E1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F7E0B9-A160-4F1D-AA04-5FC0EF5D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12B470-20B2-4E27-A48D-292846C7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414821-FFFE-483B-A5C4-32268485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D444E3-0190-4D16-BA24-DB92D4DE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92C968-5C3D-47BF-84A1-9F3E77A4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74559599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7E67EB-2C8B-4AF8-BBC1-8FC550A1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Email and collaboration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3ECE67-C3E0-44FE-9162-2D5ED3D2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7DAAE-BC91-4B6F-BBBF-66D0EFCA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6D8A38-8384-4000-81A5-E75692B4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819A6-FA2F-4760-846F-3F7686A9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9E6506-B967-47E3-84C1-6339236F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66721-C04B-4FD2-A0C3-97D0CC34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585AB5-57B5-4100-A083-6A02840A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2C07B4-E879-4035-B874-A71B8D94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19E9F6-B211-45FA-A988-1467128C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D67A4-5BD5-47EC-8D5F-5EE2A81E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Email is the front door for phishing, BEC, malware delivery, and social engineering.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3D206-CFD2-44E7-84F7-5EBABC6B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901D26-6FD9-4A28-8A0C-44D9325C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D7D63-AA98-4278-BB24-AAA50A7B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message headers, URL clicks, attachment hashes, mailbox rules, and forwarding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F8925-1C66-4CDC-8F85-0D1782C5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408B12-4C23-4EC1-B912-D8BA2722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7B70C8-2B1A-4F67-8CEB-6594D8B2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Collaboration logs matter when investigation artifacts or personal data are shared internally.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97D974-582C-436B-8132-848CB918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EEE9E8-A863-4887-8B73-289D34C9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791DD1-DAD6-46D0-ABD6-EBA6E55F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F33718-C061-4ED0-BB67-D305F825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8075F6-9B1E-4E3B-BAB0-6430D20B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710BB-0E09-4178-A2E1-89CBADB0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C0C04-4297-4D5F-B836-E6014D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3B6286-C339-4130-ACD9-F3C0FA1D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8E276E-FA52-4C98-9BDB-FA9E5EC7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029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FE1F3D-24A5-4530-B61B-613D1E8B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9FB532-0E83-43DC-A10D-A2D49063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200372118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E619A0-A6D6-42D8-AC49-B32BC039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Cloud and SaaS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93D-A11C-4C61-AB77-7B3E1959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340A3-54B1-4098-9769-9FD336D6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1C558-F646-4A99-B2A7-D0DFCBD4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209571-83A4-4F12-A9F6-F7D73087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FB410-A2E5-48B3-92D8-609CFA07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28D12-0C5E-410D-AF5F-0103754D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1EBE8-D30A-4B8E-9B74-373EAF8C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74EA3-04EF-4DC2-9F99-663368C9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FF2C1-B508-4529-8F09-05C1F6C5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A2F0B-43F8-402E-A00F-A2849731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Cloud incidents often start as identity, API, storage exposure, or configuration events.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62DB8-1496-48E7-B031-3B5259AA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F5283-4E10-473F-B4AF-C2FF9624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34938-F158-4B4A-90AE-93D0A6C7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Prioritize audit trails, administrative actions, storage permissions, IAM changes, and workload logs.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FCC81-05A3-4A7B-836D-A2751FB8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FE6DE-ECAC-48F8-8950-83BF7AF4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122D3-16EB-4C56-BAD6-23550502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Assign shared ownership across SOC, cloud platform, application, and data owners.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BF3699-458D-4EB7-95D6-259E4D9A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4B55C9-F6B6-476E-9A79-F0F7BC9E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ED2024-5B12-46A4-8FA9-4E46DD0B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A757EF-ACBF-453A-8FC5-A5E30B5EB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D3644-714A-4381-A00D-DC0D9C87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7CCF54-2950-4E63-B608-E1ED3783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98E42C-FA2D-47BF-8316-A55FA6D9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76F92E-D0FA-475B-AC3D-3B514D7C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735A8F-9810-46FE-8592-C9E5EC47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030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B7A027-2D10-43E5-950D-F1EC0675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C727AD-2F90-4A47-A523-1F0D40C9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43356046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45752C-4F8B-49AD-98FE-3F37CC94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Application and database telemetry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15CFE-0697-4B59-8C03-E5112F2A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605AA-F913-4C1E-9116-9340C621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08375-F4EC-4291-9160-F0D8E114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41690-45B8-4EEA-87BC-80084457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D3210-2BF5-445E-AA57-7D892E79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BC32A-779C-4914-A77F-55923C7A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638999-EBE0-4015-80D0-C7833AE1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6C80D-3791-41D7-925A-7BFB17C3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EB522-BBA7-4EE1-8202-6B0D7A1A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546C6-3867-441C-98E8-EB21C879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Application logs prove user action, transaction context, data access, and abuse patterns.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F0F75-84FF-4F87-B15A-A9FD1CCA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71118C-DD5B-4DF5-91D3-484467CE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41846-86FF-4196-9012-32BFA1F5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Database access logs support insider, exfiltration, and regulated-data investigations.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3E999-804E-4CE5-B407-157BF134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4816B-100D-49A6-A687-ED75365B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AAE80-3FEA-4194-AE98-0B7F818A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Instrument the systems that hold critical data before low-value infrastructure noise.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23E1E0-83E2-4FB8-8159-C5385713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3F9956-4BC7-488B-A188-05F28BC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58984-4139-4F5E-A78B-FCAEC210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BE77D0-AA8B-434E-86BA-FA9612D3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818219-578E-44DE-A1A4-83661DD5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611EB-E696-46C9-801E-58E1C118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01303-A6F7-4EDA-86B6-8789D213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5CCCE-87BA-4F1F-8BE9-CEA0E84A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5BD96-1DD4-48AD-875B-D55B10D6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F6866F-C0A3-4A8C-A19F-E3F9AC87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A09A81-9C88-4D57-8EED-005DB808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89785422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462F63-8457-4759-8ED7-C4D67C7D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Alerting and enrichment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13451-D2FB-4C68-856A-BDC53331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47EC5-C5BF-474F-8332-16AE999B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3821E-BE5F-46DE-897D-FF915BA3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72559-8B1F-4AA6-BC41-398C93CA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98571-47A4-4499-BC82-2A74830A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047CE0-359D-41B4-BE6B-61F1C846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0F65E-7C3E-4A68-92A0-4BB976F3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B7CF9-5462-4F0D-9955-7FFDB544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E6E20-D060-4C88-9C05-1C585A35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5EE2F-F230-424B-9B1E-AD67DA3E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4B4B88-B3AE-47BF-BF45-1D11A559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9FAF7A-FC16-4A98-BF48-5520CB34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5C083-EE71-4E25-A051-3A531DC2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166FE-8270-4A6E-BEB2-E1262D62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1C1E9-25F7-4029-A375-C2036882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C2A0E-4F9A-40EC-B7FF-1821B4A0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3EF7D-5C78-443C-9A02-3CE07358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EEF80-0978-45E8-9CE3-3DE9D33E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B271D-CE09-470C-AA49-CAA7933E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E43B8-CD68-46B7-90C2-EEE424B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A5CD2-8FF6-409A-BF17-B5E78C71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4E53F1-A7DD-46AA-B60C-D8B665E7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Alert quality improves when enrichment adds asset criticality, identity role, vulnerability, and threat intel.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0FA90F-0DC6-4A4A-AC91-A2D67B9C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418CAD-413C-4087-9207-98023150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DB7105-9472-4F87-9468-4195F86B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Enrichment should shorten triage, not hide unclear detection logic.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A05E03-5653-4740-A9FF-047D15C7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FAAE93-C6FE-4BFD-8F37-42F87024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Every alert should route to a playbook, owner, and closure reason.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334092-1D91-4BF2-B36F-305C717C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9151E2-8317-4B24-9D5F-872C1722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B3CBF6-2A9D-4BFC-8E7C-4F62F73F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7F20D0-9250-41E2-B09A-27EF0FE8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63C6C8-11E5-451F-B5B8-C07BCE18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51676059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9883DA-1082-4585-B1BB-F204E874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Case management and response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413CE-FAFA-4F95-8105-B5AD5510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F1F8C-89DD-4CD9-9A1B-F8EC6587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56C330-FE87-49C2-979C-1E2A5D7A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82B1F-E175-4CF9-862C-3A34AAEE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BDE2B-778E-4647-AFD4-B0BB54C2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CA8ED-29C5-4350-BD2A-226290FB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BED63-95FE-4252-8E9A-61172725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CECE3-F505-4977-89F5-D791FCDA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E7DEE-77A2-4E2C-858C-F03A93B0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B5809-1826-46CA-8D64-E410BB57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61E457-62CC-4CE1-9EB3-E2EECD92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ACD46-DA75-4643-AB4C-6FA62CEEF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E3E87D-FA0F-42EA-8811-903A0ABA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0CCDFC-EAEB-4F3D-8CDF-23301AAA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54296-5E7E-4BE3-8F40-E9683585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858C7-40DB-4550-9CCE-5A2BE07D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9B956-4331-4E78-A05B-CDA1A6E9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81278-4186-490F-A0E6-5B72EDCC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4EA5F0-B553-47A0-A833-7D5C6405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BF533D-AB14-4E23-B7CE-BE10571F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2DC2A4-5F6E-44AD-A900-27BD9A0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3EE71-0E85-46D8-A127-9E5387D3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The case record is the operational source of truth for decisions and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37B18E-23A4-417B-9444-8722B77A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56154-4162-45ED-BE57-1DB52ADE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A23C8E-A0C0-459B-81C8-FD041172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Separate facts, assumptions, actions, approvals, and open questions.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DCEE4D-625F-4E95-8BB8-1F9DC533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24667B-67FB-4FAA-8ECD-59CB629C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Design handoff so another shift can continue without re-investigating the same evidence.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9BA352-E335-4149-B162-CCB5F86F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85F486-3FA6-451A-804E-C52056DE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4335CF-CE2C-4EBB-BFDE-EE5BF09C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CA20DE-9A2A-42B4-8A4B-C20D1166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9515E-EFC6-4B77-85CF-2253A2A8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2042011724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119538-7FFB-471F-AEDF-04369A2B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Log-source prioritization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CD097-ABC6-4EEE-9E8C-05553B68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9101F9-3495-445C-B519-4EC5257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F980D-3859-40FE-9CEA-F144420D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B120B-03CC-4A0F-B6FC-386FEC6A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4F64E-F4A7-4692-8783-47581422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18433D-E620-44AD-9F5D-AC833F04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DED25-BCD1-4829-BA38-82E3564B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4F52D-FF24-4035-B105-E807498B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E19AC-13E3-42C2-951A-8BD906F8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9BF3A-46EE-458F-8A12-8269D18D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F94A1-E45F-4043-953D-389B5F8B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989F8E-1F87-4B32-A6B4-55942A23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24A64-F4AA-4B11-98CA-83D7E9F3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9F357E-E229-456E-BAF7-4B3A2220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47931-B2FB-496E-934C-A8E33C3D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D763D-C298-4FBB-95BC-082E5295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99823-274F-4699-BBEA-7477B134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19DA89-FC32-41C0-B08B-A3AA6E94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5DA88-EBFF-4540-9539-32147828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A7CBD8-4289-4110-B537-69081828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40AA2-C158-4A7B-A6CB-2E0239A2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372EB1-6A1A-4D04-A237-CD0070FC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Start with identity, endpoint, firewall, email, cloud control plane, DNS, and proxy.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8D0FCC-9780-49BC-B600-88A80829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BFEAC3-1AE1-4720-BE11-08005480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B43935-F24A-4A8F-9DED-CDB9283D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Rank sources by threat coverage, asset criticality, investigation value, and retention need.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EBC94B-F48D-437A-8598-44B0A1B1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2ACE54-7C3A-4394-902C-05D69EEA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Delay low-value logs until storage, parsing, ownership, and use case are clear.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235BBB-5167-454F-BE64-D5D7B71E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0EC7E0-2576-4A17-9693-FB122B64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5B3BF6-FB8C-449F-8E40-E10B4A8C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68F910-6A26-4084-A028-C268F10CA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D1A310-14D1-4064-A8FB-6B8F7D4FD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00262763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7B1A50-E596-4E8A-88DB-119FCE57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Trust boundaries and data sensitivity zones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4EADC4-6E7D-4E71-BD28-CFD2CEC1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08284-519B-4EB1-A05C-1D9986D0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CD51CF-13F3-467C-8B24-C889A5AC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F2921-E39F-4845-B4A5-F3244AA8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21C5B-DB49-4516-92C9-A4E5B59F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19EB5-3636-42FE-8B53-9A42DBF3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3F7526-9FBA-45D3-B35C-77DE3DB0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17A6D-28A4-41BD-B381-1B563B38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D5CB5-A92A-4212-8F69-5CD46DF8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558FA-EED1-4895-84D4-16190B34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Mark where personal data, regulated records, privileged admin paths, and third-party access live.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E0A9AE-1691-4254-B31B-BE9F4BB8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7DE693-B8C1-455F-A36A-22E1B8FC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F704B-5089-471F-BA02-9A104E77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Trust boundaries tell the SOC when evidence needs legal hold or privacy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3F3E4A-6756-4652-B0FE-4B849647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AD6FA4-E5C7-4B64-BBB1-08784020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BC5E7-3CFE-4EA3-B45F-B154574C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They also prevent response actions from breaking critical business services.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4DF0E0-9488-4D15-84EA-9996A83F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F3286B-9875-4585-8709-126FFEC0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62968-F10D-4A16-AB81-E0514AD7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54F13A-64DF-43A3-BA7A-1525DF35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CDBB8-F72F-48A9-8B35-EE8171BD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56495E-55EE-490F-96A6-111DAA04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AABC03-9450-4233-8580-CC49FEFC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2B83A4-E282-4A63-ADDA-2479D46A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21D12C-5F25-4570-B49A-54B04597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56C1DA-562E-4C7E-8BFA-3B3A5385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E81623-41B5-4CD4-9E53-A22876FA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2073228658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F4013D-1928-4219-809C-6BB56027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architecture pattern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730062-0047-47EA-97C3-D62F5ABF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B8BD3-F36D-408D-B814-8DA0CA13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603E2-34AE-456A-AB89-B198CA0D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448C8-B0FD-4649-A8F5-53580750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C145D-4E6F-4627-94AD-4A74C463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2FE8EA-BA13-4AB0-A238-A95B9983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C6C23-E5E5-49F5-AD19-ECB8B28C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988378-0CEF-44AA-B5B5-FB917CA7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BA3A0E-9614-4490-83A6-C7CCE39B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Pattern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62483-391F-4B51-AB7D-346BA699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D8E5B-38C9-4B30-96BB-443300E1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Best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6D6D53-F728-4BE5-82C9-11B260EB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9B8108-A953-4425-8904-FE43DADC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Watchout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CAFDA-6D2E-4ED1-9A56-551EACA6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2D437-DE6B-4465-A90C-793FF197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Minimum control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8D5FA5-5F82-41AD-893B-DA7E8B3D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256BC-023E-4CDC-B589-3735EAF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Central SIEM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09706-FB5B-4959-B78A-ED2A69FA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C29F3-7048-4610-8C12-C528AC88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Mixed environment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26DCDD-C129-4BD6-9011-40B51D71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BFA03-C3D1-4557-B548-D78C83CA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Ingestion cost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F5EEF-775E-4679-9CDD-FEE8671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159D38-6872-4497-AE04-4D48B87C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Source health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5D1EC-6478-42EE-9607-E5520400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250692-5737-4455-8F88-8E32A31F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Cloud-native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E330FA-A9EA-4C3A-8CED-71946A3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6D0F22-2C35-45F1-B929-914DD2B6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Cloud-heavy org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D8EFB-D43D-4A3F-977B-4BE10908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25AF79-E09A-41F0-B602-72BCBAC7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Provider blind spots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970BA0-7A38-4B08-BB3A-EF43D5D3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E5ED3E-96E9-4BC0-8E3C-24FF268B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API audit logs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59635D-D04A-41DE-B1AE-8CC46AFF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FE79CF-B504-45D6-B71D-D75C468F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Hybrid MSSP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8E5B18-BF28-4EEA-88E8-A33F1C9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BC76C1-B7CB-4F36-B7CF-485BA60E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Small teams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7EBD67-B4D7-431B-B4EB-ADA628C7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2C4418-EC86-437C-BF21-242FD132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Context handoff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6B8360-3921-4DE3-A550-E87B7A4C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36B0BB-76FA-492C-A3BC-447DD842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Escalation contract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3A98AA-057A-4854-B8FC-CFD61645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036 / 142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692CD-ED84-4622-9C42-291647FD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4864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AE6108-AB9A-48F4-9486-C539FEE1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4864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575280442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8B34A1-466C-40C1-903E-DB32979A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coverage and blind spots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53697-5463-45ED-A73D-5A09FD13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05A9-E286-4929-A242-BBFF66CF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4BDD3A-7F76-4930-9E00-882E2252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B6771-D05A-4405-9196-A66F62ED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9F3DE-C99B-41E3-B780-E98DA831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4C982-0888-458C-8831-E9E0BD69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3F05A-E949-443F-BF87-22A2EA16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5614C-ACC1-4287-8E0D-F0998F7B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D97F5-AFD8-40A5-A8C1-98C83992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B3CC8-4053-411B-9E0F-7387A154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EC25EB-989A-49C6-9CEF-3A8DF632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Must capture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C78144-BDFB-4F63-B6CD-2482E347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07700-E368-4606-AF3A-BE0AA844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Common blind spot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74A3F3-C484-4C44-9B51-E36D874F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A483E-018A-42B8-81E4-275A386C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783DE1-2488-479B-A0C4-84CC99A4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7A2F7-5FAE-40D7-B751-1A8181AB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3C05E-2778-4780-BA31-17B1BE17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252BD8-7D74-4C99-A1B7-DCE06B86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Auth, MFA, admin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A00B98-6B42-487B-BF88-DEADCBAA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8CF350-EB78-4397-B24B-B1B2E764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Token/session abuse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564308-BD92-4274-A491-DF42409D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DBD160-3FFA-43F6-9B04-DA952605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56C11B-8050-4706-A81B-CFB9FF0F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263807-2E79-4A64-9218-487E9ED8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213AC8-27AB-4FCD-B93B-3B5087AA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E1087A-841A-4EE5-A5D1-00093F0F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Process, file, isolation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A58C5C-3C1B-4899-81FD-098F2EA9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89DB4-A4B9-4C8C-A047-60434AA6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Unmanaged hosts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8D24A0-FF57-4719-A87E-536C351D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F279EC-0430-4649-883F-BD22197C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 team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0CC7F7-B2A3-4E41-9158-29599445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F7B69C-44D8-417A-9067-3F1D2B24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Network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4268A5-DC7A-4210-9DAC-75E34565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0F317C-8382-4450-92B8-91955DD1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DNS, proxy, flow, VPN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22FBCF-0E27-4B2F-85A1-A4DF87D8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269683-76D7-4B8B-BFFC-F5998303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East-west traffic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520DC0-9B7B-4CD3-827E-FD9505C2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DC027C-543E-4F93-8670-1A3729D9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Network team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0E7BC4-BC7A-4655-B4E9-426648AD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5F0E52-7E2E-4034-A799-84473CBB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55E6001-727D-4EB2-B1E0-31E6D761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AF8DE51-E651-4788-91EB-D575017F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Control plane, storage,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E96463-0E41-4318-BDAA-B9BFFA47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45EF55-9BC2-46E8-A696-9D10BDF2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SaaS admin logs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7DB209-EF8F-429C-8A0C-05D04280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9D1A43-BDFD-4D42-AF53-DCA55D45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Cloud owner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F7FFCB-6326-4839-8B75-D49016F5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037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2234A37-5E31-4663-9CEE-6D6D1FB9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DA46914-DB24-40E7-BA2B-4B4B91C2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865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169139143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CFC361-ED03-41A0-A45F-9EA822D4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draft target-state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C595D-88F0-47D3-B0E4-C2A9A351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5B4CF-387F-41F5-A38B-09346480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3E439-0F31-4054-AD04-64BA522B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DEA9C-FFB7-4A1D-849F-D0254FCE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08D5C-7B55-4A5E-B479-51AC34F5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7CBECE-507E-4513-911F-3CB4DC86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08C68-0138-4CDB-BD5C-05A617DA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public customer portal is now in scope for the target SOC architecture.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1CB0F3-C13B-45B6-8314-027D9BF2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DA0DF-2C26-4FE4-9B3A-F95D4411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C0D63-995F-482A-A5BE-B5FAF711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B484F-DEA3-4DDA-B7A4-DA2A39E5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43ED8F-4369-4731-9A8F-1E6EA40A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C3A90C-D8C5-43D6-9655-85AB62C5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AB1EC-10E3-4E5D-8047-A87B13A4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44DDE4-73DE-4043-8264-87D51981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C15A6-40A7-4AD8-A226-C42AA57E9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7C433-3999-4F47-BA26-779C392D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1D0F69-9694-4096-84E7-527BADC5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E36DA2-A8AD-4B5E-AF0A-5530F74C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75BD8-FC6D-4624-9D0E-21DC259A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7101B2-EA0F-43A5-A1E1-DE190364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E71108-863C-462D-B9EE-FC041CB1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6CC23B-1150-4469-A28A-429F6C08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4DC912-9DDA-4582-A5E1-3A7B61A3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B380F8-A6AD-414D-B02E-198F8667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F2B755-2B91-4A4B-9C36-2AC133AC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EC31BB-337E-4F69-B62B-3E6110F5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060479-673F-414E-BE02-BF80D22E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D99D2D-693D-4D32-AF30-CB9ED109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2B934E-E8A0-43A8-98DC-AB9B841A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1E8E4D-C15F-419E-B67A-A8DAEAB1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044B98-4FD1-40DC-B83F-69EC921F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038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2C4832-AA6F-4372-AB1F-F53981FD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1258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Blueprint, Architecture, and Telemetry Flow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5392A-4135-4D23-AB78-883FCC18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9601200"/>
            <a:ext cx="4114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SOC_Building_Roadmap, Infrastructure_Setup, Technology_Stack</a:t>
            </a:r>
          </a:p>
        </p:txBody>
      </p:sp>
    </p:spTree>
    <p:extLst>
      <p:ext uri="{BB962C8B-B14F-4D97-AF65-F5344CB8AC3E}">
        <p14:creationId xmlns:p14="http://schemas.microsoft.com/office/powerpoint/2010/main" val="1476297886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774CE7-72A9-43F9-8242-F6BA36DA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DBF0C-BBA1-476F-B30D-D713A223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039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FDADA-734B-42F3-9F1D-6E06AF6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STAFF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6D921-DA61-4AAB-8E2B-95C91500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69D5D-B0C5-405F-8B5D-007A3D67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Assign owners, coverage, shift rules, and escalation rights.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D2434-60C7-4A99-B2D0-770ADFE9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E2E1A-FF79-4364-B983-62C75C42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2C86A-84CC-4388-8E24-6F0420FE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590F73-1F36-43EB-A455-CFDE51E0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organization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F1F4B8-F1F3-4589-9FC9-C47E8019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CE4EFE-9E30-47D5-9371-02AC0F78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8E206-F1D4-4E9F-A6F1-6CBD46C5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B9A6D8-6612-4410-9089-D537CF61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6A0F80-7700-4EEB-B6DF-17DBB9CF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6CE8E-C2C8-47DE-903C-CE34CAB8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436DC8-3AFC-428D-AFDB-31DB7E4F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58FF31-AFE0-43B6-B160-D10CD6FE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Separate monitoring, engineering, IR, management, and executive decision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F5D48-21F0-4165-A35E-1159A53A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EDB96-AE80-4ACF-AF42-6E5C8A19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40F7F-9D6A-4B80-B92B-2E01FE3A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Small teams can combine roles, but decision rights still need names.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04C2D-D977-437C-AB9E-A1CDF27A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E6A123-4D45-4A1E-B148-E262EBA8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453EB-1F4B-461B-A77F-3BB74E11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Document who owns triage, containment approval, detection quality, and reporting.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9564F5-C9BE-4AEF-8F40-4ADC2D0D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42EC9-D7D9-4DA8-BED1-FB30C24D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A26F1-916D-4BE2-AAD8-BE22B786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F8B44-7ED4-4498-B8A8-C9FA8F6A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039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6C9265-A5F6-44C4-991F-8D0221C5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4152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E42C9A-FF5A-445C-BA30-14927D65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57912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622727022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D90010-8C66-4380-B300-FFF13B55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Role map: CISO to analyst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80832-C103-417B-A0DE-FDD3262B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A7C23-EB9B-45E5-9AE0-769062A2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771CB-A68A-4C47-BBDF-9DC3BFA7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CD57A-5461-4851-B152-44340C65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4DC12-CE89-4E17-9557-8AFA409C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AF7C24-E4A8-4E4A-B494-DDC4C564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F5218D-5D31-4DB7-A13E-B649A7E5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51F19-149F-4684-9261-A8AF66CA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1B9B6-DC57-421E-8EA2-75447BD4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E314DB-2204-4B1A-AC58-3F181E5A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8B49A-7838-47CA-8793-C4F9648B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00397E-94F2-4FFE-B759-9697B1C7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1A6132-48CA-47AB-83DD-786B9F0D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22ACA-1104-4926-8553-52A164D3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CBBF6C-1A87-45F4-8568-8BE32338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C88FF4-8DFC-42FA-BEB3-80F27142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AC7553-B7A2-409E-9C07-14F0C54D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85045B-9175-47FC-BD6A-F82CAAEB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D5702-786E-43AF-96FA-B64AE4C2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180D0-E3B7-4F6F-AAD2-2BB0D745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94D5B9-E414-45CC-A84B-D429A769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79F6B-54D7-41A9-94A9-4F501E74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804A06-E7D6-4CED-B0FC-58F4DA92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513D49-E8B2-4B75-ADA3-514D551B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2F1E0-BAC0-4EC1-A915-98E4429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0895-3619-4DCC-BD00-13265E5B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 sets risk appetite, escalation expectations, funding, and executive commitments.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F608A-80A7-4329-A9A2-9F50680C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1CEC37-D69B-4C6A-ACDA-D9C73DF2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 turns strategy into staffing, process, quality control, and cadence.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2F9E70-B68F-4AF1-96FA-05F7442C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3DC78-A220-41C8-8D2B-57ADB36E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Analysts, engineers, and IR roles produce evidence and action in the incident lifecycle.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77A85C-CE0D-4B13-BB73-B7429C72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CEFD83-6415-4032-AAB4-815A68D1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878417-BE45-45EE-8403-55704398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932985346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2351E4-1998-4E15-A402-956A2BE2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1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29E07A-648F-4A73-BDCA-27A05720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E34BF-5D50-40BA-9B41-7718ADA2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B2BA7-D3DD-4C72-92CB-C94A598D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95C58-B170-4EF0-A787-8933F30E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62A7C-5F93-442C-ADE5-8FBD3F71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D9D30-AB58-4C0A-BAFD-3CEB0910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40CAE-EA1B-43FB-B204-6F2D1D35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AD66C-F005-47E9-817E-4D9C962B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C5273F-8555-45FE-874D-C81EF2F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3628E5-8B86-4842-85B7-EE098A25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Monitor queues, validate alert context, classify obvious false positives, and escalate confirmed risk.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4A836-6D7F-424D-9E6E-1D15E36E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3D2E1-C269-4834-9F18-4D2EF0AA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846EA-3A19-442F-B185-3B632C88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initial facts with timestamps, source systems, affected assets, and confidence.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19D6A-1B84-4199-9887-8EDB42A0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904E71-A3F0-4CEC-BC70-5331F733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0C41F-890E-439B-B6D2-92755E5F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Avoid high-impact containment unless the playbook and authority model allow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22DF11-7A03-4F38-92C2-D20EC4CA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3B9FF-9FB0-4BEF-BE06-DAA547BF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B948EB-A050-45BB-95B1-DC7BF7CC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7C092-68E2-491B-8FA8-936F0461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F361B-5805-4992-A0EE-A97981B7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9E91F7-4E1E-427A-8E42-838596AC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06581-5B8B-4AA1-81CF-5F549233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F6998E-EF32-479B-9C3E-187FFA6C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F8C3B-E6CE-4B69-B048-8DE37283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FAB129-66C9-42A0-A244-BDA52D5A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28A4C6-5F5A-431A-81C0-06A738BD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225467965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17FE4B-D9CB-4893-AA0C-731CC199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2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42F97-7956-41BB-9411-10B342B8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E0EBF-CEC0-4B7E-A47E-F676A67B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BB53A6-69E2-4C03-A06D-80DF4B41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115FC-FE21-4995-A29D-F79F2E8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665D9-7E49-464C-9F8A-6B1AF9AC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40736-B9B3-4627-8F8D-5A0ED976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F28E0-DE91-42E6-8ECC-ED473E1F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122636-3F5B-4A11-93CD-7C79DB3F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5D258-E13E-4E69-A657-FB0AB60C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7CF2E-3CC8-4D99-8D86-9864D353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Perform deeper investigation across identity, endpoint, network, cloud, and application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80F78-4C7F-4EE9-A596-39872309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4DF38-7E9F-4D0C-AF1C-F4E49FF8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46927-60FF-4BC1-87A0-71EBD419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Scope impact, recommend containment, and determine whether IR should lead.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8C1EA2-139A-4930-841F-FC4F25B0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6B050-E0ED-45F6-A4A0-8F2E15B0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233D0-AE18-4532-B128-BD6F3FC3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Improve runbooks and tuning based on repeat investigation patterns.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0F5AB-E2A5-4582-9D3A-5F7C3B9C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E0CC8-B61B-4F8B-AC2B-3DAB184F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0A3FE0-CA45-4CCC-B12E-B27E3D1C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C511F3-75B4-4CEC-8F53-4BD6217A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8A2FB8-2388-4003-86EC-8F4C7D16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0D270-8C60-490C-95E9-29E67FCEA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20815-F12C-4F21-9837-5536CC24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A2F4DB-631D-4B30-ACA1-016C425F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79AC68-5BB8-4C0A-A58F-A77E78D8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C0D883-8EA0-46CB-932B-8263088D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8DB933-48CE-42CB-A844-74D0EE6C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2131977865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309B33-545D-4073-B229-A5BE88D9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Tier 3 / IR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40B1D-923D-4366-AE97-31B2DF31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F9858-A883-4656-BA42-CE2859DE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A612C-89D9-4EBE-AF6E-D764CAD8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2A9D8-FA30-4800-A3C8-9EE92C93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2A892-E97C-4CCC-8C80-3655C0F5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C80CB-4A0E-4DA2-A8DC-F3EA7D6C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7A3E5-7D02-48E6-AC0E-970F203B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4391F-D293-4853-9EBB-C3187EFB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63FCFF-876F-452F-AC80-6B071979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70664-EA72-4172-ACEA-5AB1AB2D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Lead complex incidents, containment strategy, eradication, recovery validation, and PIR.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B5DBC6-0B94-4BB5-88C8-8F80F647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8E276-79AE-48FB-B640-3437698D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6DCF4-923E-4A16-AD47-80C246F5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Maintain chain of custody and technical evidence quality when legal or regulator impact is possible.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37720D-B6C2-4028-B9ED-9DBECABB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F8EC36-41F3-4803-A77D-22D54A92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7E2874-20A4-471C-AD98-552A3F10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Coordinate crisis command when severity exceeds normal queue handling.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3B3401-692B-4351-A0D6-8B9D2283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19617A-6E71-44FA-9782-577ABA3A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443B91-4904-4D59-B3A6-8BD87E87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3DDE35-1E32-497D-BF4E-ECCA80D7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E0211D-D83D-4B72-B608-D369CE9F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A1D29-258D-4873-B430-6AF483E3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0671C9-C4B9-4273-82A5-C41E3ADB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C648C-6FBC-4BE9-B928-BB53A46B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93E4D9-CDC6-4F49-A1F4-A9294029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301969-EF2F-414C-80AB-11D332AB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BE383E-529F-4622-B692-14DDA390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6205834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6D1AEB-6342-4711-A0A0-7D620565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Security engineering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A4E35-F8DC-448C-99B7-DED5DEE8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91B3A-A60B-4877-8B10-FE78D511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7ED9C-461D-4AF6-9098-22879DBC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2714F-BB63-4B32-805F-99EF2F62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AAA581-AAB8-425B-87D4-797956BD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A36BA-FF85-4685-B3C5-E0A5E551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AA08D-8F65-48C5-9DB2-C483E033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7D3EA-228A-4E59-9C3C-AB793EE5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E5770-E3D4-4CB1-96AB-9791BC31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061333-6B19-4CC7-AE5A-25E23D2B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telemetry onboarding, parser quality, detection deployment, tuning, and automation guardrails.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1BEAA-DBDB-4D2B-A7EB-1DAAB008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B16FA-2124-44A9-A8E3-20346690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B0E48-A470-4A09-BF8B-DB8B5030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Translate repeated SOC friction into engineering backlog.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1B557-1F76-4516-AF1B-3798E2EC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A53B9-7B29-46C4-90E5-4F180BCB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F57592-3B96-49A6-AC5E-81C9A5AE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Validate that controls work in production, not only on paper.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86AC3E-3169-4892-8781-0B1C4430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6810EE-E4C7-4FEB-90A4-3B2FF03F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D2FF22-C931-4819-BC37-6CA9C857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D8FD56-61B1-4823-BF74-CA3DD86B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CA3285-68FF-42F4-A66A-3DC0A9CB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D7E9C3-C8E1-4BB2-8427-92C64566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D96046-3ADE-45AF-A5EE-8636CEB3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0DB25C-75BE-46FE-8ED5-B066121F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362CB5-9C7D-4D4A-9313-6156B11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044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BB9370-EAFB-4304-B668-0DA07D74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121B81-A25C-48FD-8945-19B50823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320856419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8CB771-A37E-4D66-9E79-1FC536CF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Manager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866A3-A4A3-42CB-9BE5-EB2114C9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BBC587-1742-448A-A162-2A64BA8A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2F327-3D4A-450F-B3D9-E420F7AB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11957-AF90-46A0-ABAF-6AB5DCB6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AFFEB-AA69-426E-B2A6-A22C5431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41819-8783-42B0-A222-70EF14E5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F1BB0-B387-478A-9BA7-6AD70756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12628-CC1D-464B-95AA-F51BEC6C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A1C85-0400-49C8-AFAF-ECB10563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0B7E9A-D6BD-4EF4-A8D0-3E45E665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workflow quality, staffing, escalation discipline, metrics, and service expectations.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003DC-FF4C-4B3F-AD40-80F20F22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724DD-E79E-488F-B3D9-873B2478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881461-3055-4AF2-A647-90F400ED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Keep handoffs, reviews, dashboards, and monthly governance grounded in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1F9BF-44EF-46DC-AF58-2D34A086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C4374B-2334-48DB-9E94-99C6CC6F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35CE3-28DF-46C3-BCAA-FD68858E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Escalate repeated gaps when they need funding, ownership, or risk acceptance.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9A19D-B68C-4EE0-94D0-6E45C639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F0BC8B-8448-43D3-8C77-0BC528E6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6E3D60-16DE-44E4-B831-78B4D2BD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346EB3-5437-4351-99B4-065D9299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1A0D76-FD8E-474D-B954-425E6113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94D2BA-C61A-4BCE-87BD-F6F2D058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3708C9-C077-4919-BD41-9CE5C629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50798F-F600-45D8-8810-B5100B04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D97E92-6889-4CC7-B376-C2EF74A0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469B92-C956-47BF-9D1F-B3EF89FB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279ED8-6E01-474B-817C-095DF57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611694546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F210CF-AD2B-4C46-BA55-578AB58A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CISO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822E6-7096-41FC-8F75-344F738B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3DB784-E483-4D67-B7FA-C69F993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DCD65-6CE8-4321-B7D0-F7BB1F7A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4CCC5-900D-4F1D-8232-60B3D3DD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EF5D3-3AFF-46DC-B3ED-584694BD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24286-09B0-4901-9B43-15A88684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69951-206B-4E22-BBD5-5B1EA11A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DD5A09-1825-46E5-9086-15ECA778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D3379-9DAB-47E7-B2D6-730240E8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D373C9-B820-415F-88FF-D09B3CF8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Own risk decisions, external posture, board visibility, and investment priorities.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4677DB-2D65-4507-8077-724A9EDB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37334-5D45-43CD-92CA-FBA0455B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D4BAF-43B2-4D5F-996A-53FE1F2B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Approve or delegate authority for containment, shutdown, notification, and public statements.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1782B-CDA0-49EA-B366-5D6B7892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320E01-2839-4E22-AB1E-B142CE9F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656EF-A49C-4026-B9F6-C648ECED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SOC reporting to make business risk visible and actionable.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68EBD-DEF4-4120-B492-B73240FA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517E74-6654-4EDF-A13B-CD205AE6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DBFDE9-C850-4D3D-A8A2-2F0C25B3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AFB5B6-5FA2-494E-8AB4-5CB82638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F8DD9B-65C8-4B75-A266-B41E01AE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CA65C1-67B0-450A-B440-B4D063B0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87C29-2B18-44DD-A2E9-C1F2A99B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809FE6-EE5B-4D0A-89A2-2D900A6E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06BE7C-C5D7-4E00-B310-5422DC26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7A39E-7F7C-4DF1-B5A2-1240D372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8E9230-5AEC-49FE-A019-0F9D0160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019609259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B9735A-E823-40A4-9FA9-A3BCFAC2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Skill matrix across 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31171-0D86-4DBB-B181-91B42536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2A0FC-C7B7-4120-A9AC-96DA249C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20F591-66AC-45BB-A0C1-9490C447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C6389-0BCF-4361-A906-066424B1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F1584-7C84-48C9-B8A5-B5390825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8A30E-3A06-454D-BD5A-5CD6AE70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D4BBF-139C-4528-A56F-AC3F6BB0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6C8CB1-7A6F-4E6E-AB7C-008D7DD0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E8F87-FFD2-4504-A9F0-134F9AD8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F51D7-969D-4289-9835-79451EF0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D0A48-528E-40E4-9DC9-83C0B4EC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5EF25-1B18-4130-9B7F-862C6505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1837C8-BECF-4792-9BBD-ACAC1F18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28702-A831-492B-B3DB-76A48443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B952EB-D042-445E-8D83-ED4CDF09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8BD0E-655D-4C41-866F-CF12109C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8C65D-F137-4F72-B2B4-7C4E4715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1114CA-EB6D-4C6D-BDD2-354956BF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50B5EE-8111-4F0C-9610-BEC2B444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2F040F-F15F-4478-B75F-BDACC439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4BA658-34CA-499E-B91A-FAB71F18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D2BA4A-727A-4C97-BFBA-C493240A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01FFA-E8D4-4944-A7DF-F4A03392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061751-DC83-4FEC-837F-2906C85C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2EE712-C23C-4BFA-95AB-BF1135D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C6466-5382-47B1-BB9C-CBA9415B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Analysts need triage, log reading, evidence notes, and escalation judgment.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D03D26-C096-4849-875A-B0FA2E3E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C55A6C-BF97-4F06-B938-0E73BED0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Engineers need telemetry, rule logic, testing, data quality, and automation awareness.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182F64-77D3-40B4-A4C1-FF04B2D4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AB6BE5-EFBF-4641-A43C-4E69C5ED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Managers and executives need governance, risk communication, decision authority, and investment tradeoffs.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08D5A6-8933-4902-B0F5-D6735216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047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EB7F7C-8537-4FFB-951A-D2858E6B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A641CF-0DCF-42C5-852B-1E3DEAC8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434457858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B8F60C-9329-426D-BDE2-589BA7AA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Staffing model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54724-25A8-4701-AB89-56A881E1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293CB-3F9F-4AD2-BCF4-994801DE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331B5-64E0-41C7-BBD6-0BC3B895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95ADC-046A-4BFF-A6BB-083FE09E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F9F5E-D834-4ED0-A5F6-145B8D3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842498-EAC1-4C69-9594-F77AB492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DF18FB-79C5-47F4-A355-3B1D1889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5B271F-C43D-421B-9BE2-F7747096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60549-A5F0-467D-A678-16F7C387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E6527-712D-4584-AAD1-3207973D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25083-D7F5-4900-BD43-C00BA913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7505D-EDFD-402B-96A3-2DBD8F64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D7F16-1ACC-43EE-B77D-AD5EA7C7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3223F-6A73-4864-A0A4-6FF055F6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F3DC6A-AEA9-47E6-A3FA-BDABC92A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CA8DC-E9F2-479C-8037-FCC41424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F6054-6222-49FD-BA16-B907850B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163463-DB01-4ED4-B2F8-15AB6B13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4B40A-FC5A-44A0-BE92-824C4F05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0CF4AF-716D-419E-AEEC-E1289320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7F18D-EF35-4DDE-8F82-9E31F51E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FC0EA6-0168-48FB-B5BE-6BE1A69F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Calculate coverage by seat-hours, not by job titles.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3AADD7-3AFF-401F-9EBF-7E7A1CB2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5F1328-2D15-4FF7-8C42-74BD571A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9F961-EA97-4BD1-916C-6C08BBCD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One 24x7 seat needs about 5.25 FTE before overlap and supervision.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7B96A-8562-40CA-A1AC-6DDEC2B1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37218E-9BA7-4C63-870D-8CBFEF2E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Include time for training, tuning, reporting, leave, and improvement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9DDED-5A25-4C43-9A1B-B6FD041F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2482E9-B34B-40AA-B516-C76AE471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429D3D-359B-4CED-B147-4E9B28F0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E3C30B-CC55-46A5-94F6-3574CAF7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80DE40-1937-4626-819B-57DF0A7D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810638748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CF3829-6131-4E2F-AD40-F8FCDB87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8x5 vs extended-hours vs 24x7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68AB8D-892F-428B-898D-A1308F2C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42EFB-2BB0-49D6-B0B8-7A9BE2D1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C346E-BAAB-46D4-9C0C-9B095E4F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BAA164-F781-4D2F-8227-B5865DAC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989C3-F95A-442E-9C8A-14537EF1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426D5-2FF8-40F0-8544-1293157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50E64-A8D8-4D48-A9F4-E5CC428E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DCFB99-2FCB-4614-8FC8-2DD061D8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0D98B-63E2-44D6-AF03-61EF5505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9C31C-797D-42F8-BB5A-95EFA789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8x5 works when after-hours risk is accepted or covered externally.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0426A7-AB4D-4476-9750-0D58175D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0BA0E-05B1-4747-AE3F-D11C1C45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1144B-2B14-4EE4-9E0E-7100443C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Extended-hours covers business-critical periods without full 24x7 cost.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1F7196-E38C-4A4F-901B-37A4A6FB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6890E1-EB95-4C78-A5B8-BCDE836B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21DD4-B81C-481B-9930-D655B5C6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24x7 requires mature handoff, quality control, supervision, and backfill planning.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7E26B-9512-4164-A159-78C73F37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746A5D-9A54-4300-A4E1-EEA969D9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70E21-C4A1-4AC1-AF75-003E9170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D3843-1645-4F1F-A13B-2757FE76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CE1177-1422-4B60-BB72-2120FF4B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963689-83FD-48A5-A2BC-4CE50572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6C6C06-8EE0-4FA0-BEC1-9FB78982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6AC50B-B61D-4FCE-A553-B2B07C03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203EA8-7E39-4DB8-875C-6A585E50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049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A1963C-BE8F-4752-9690-1F8E1240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1996D4-7FC6-4BD5-915A-EAE117C8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544545188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262D67-5B82-4B31-9AD8-274F92B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design patterns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E543A-9070-46E6-A0CC-994C89A7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401F3-0EBB-41C5-8681-CEA24E8C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DD28C-437D-4E05-B354-34E78333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1417C-99AB-4E9D-B946-D3986435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7AC176-AB21-49D3-95B8-6D31FBB9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0D74E-DF62-4DEB-B11E-17461B43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07D94-1D5A-4A2E-9070-832F8400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189D35-C8BE-4874-BF6B-E155D293D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828C69-6D86-41ED-9B5A-D323D5BD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3877B-791D-4F66-B00B-73B6C0BE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643CE-E798-449E-B808-EDA82A99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260F7-2E01-42FA-88F3-1175F378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9D4FD6-0FD3-4882-99C6-0D82C475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11601-F98C-4F47-9344-281CB598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8265E9-A7A1-48B8-8C53-68C81417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062981-4C10-4E01-8BD0-D82CFFBE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DC396-BB73-48B8-920E-393D73DE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D252F2-1DE6-4FD4-B8A5-79A7E290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51E3CF-C906-4276-9CF9-663AD889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95C317-10F7-4BAA-9C84-B5DE1CE7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311FF4-132E-44AE-B944-195E2018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43FBB8-D55C-4ED6-BA83-B1F86DE3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Design shifts around alert volume, business hours, service criticality, and fatigue management.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6C7E5C-D88F-425D-9CD5-BB4B4A2C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0BCA01-E86C-4C04-88D8-036DE932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358CFD-B259-482F-BE3C-7797F24F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Each shift needs named lead, escalation path, and handoff artifact.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2C883A-6A6B-48E1-9A3A-7B3BF14D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D5083-0F62-4D29-A5F3-9F094D24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 not run 24x7 without enough people to cover leave and training.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F3D0BB-CEAC-4C27-8D4C-989817CD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DFCEF-2930-4BE9-8B5B-6156779A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B57396-B185-46A1-8FC6-0490F05F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050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3DE4AC-0F26-41C6-8A0C-CE67EE87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1E8D1D-FBBC-4C80-9B2B-81ED3974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1363227957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E87BAC-14C8-477A-924C-F5F39524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handoff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B3F40C-7907-4B5A-8C19-190D283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FD6D6C-405C-4965-A08C-11B6AF71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42036-EFC9-404D-A63B-9B9EE152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13729-46CF-46C9-B926-9C878E7F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A08E4-4174-4F4E-85FE-EF0513E4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14F3C-86B7-4D96-B9CC-132A5966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682F8-BBE6-4FDF-9B6B-A3572C20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18B66-983E-4051-BCA8-88A65709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D7FBC1-068C-44A9-A28B-E69684DF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46A4D-7E65-4AC7-B53A-EB341C32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4895E-625C-4FAE-A420-11B79039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D66DD-8EB3-4DBB-9DDA-B28CA6B5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E2F15F-29BE-41F5-9020-AB4894AB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68277-68E1-4ED5-98A5-A40F9A17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E71115-2405-4D53-930B-66AA2184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116FA6-E366-41F0-82A5-1CB604F0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8E39E-9221-429E-9A4D-2F1F8409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7EF2FD-4A23-41CB-9CEB-4F5AA58A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25A08F-D7C8-4497-BC10-BF3B2A12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DB9A29-29D2-45A2-B430-4C9AED49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15676E-B55A-413C-AEA2-BE7EE5A9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FD919C-57D1-414A-8EB1-364400A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Handoff should transfer active incidents, pending decisions, fragile services, and open evidence requests.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C19F8-A41E-4CA9-98FE-0D2E8E14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5AFFC3-5496-4E80-835D-64BDBC11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2B51C6-9CE5-48D4-8E1C-5F7ABDCB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 good handoff separates completed work from assumptions and next actions.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FAA5CB-AEEB-4B52-B5CF-3CAFB67E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15A51F-1599-4E12-A473-3EE2501D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incoming shift should know what to watch and when to escalate.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894E9D-B430-4DEC-A7EE-B8228F72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7BFD73-F095-4716-B77C-F70D89A3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B444C0-6971-4FCC-842E-80646093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051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F9AF27-3312-44BA-8DAD-84729F30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4774B2-B65E-4321-B701-872063AF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962122128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3B881F-0783-4D30-9603-737FA254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staffing benchmark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F7E12-F620-4C1E-B753-2C474756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3D76B-3D4F-4D6C-B7CF-2A1ED66B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6AB1B8-355B-42C7-A8CA-0FD0C101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7D0EE-CF25-4902-A35A-2278B3B1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3D5D0-A611-4AAF-8B27-CCD19F6B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8719B-96C8-4EE2-91EA-9AF43219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CD121-0C46-4111-86FA-2D8F136F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F6DCCF-D7E2-435F-873F-14250982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71146-162E-477D-98DC-07EDF25F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Coverage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1621B-11C2-46C6-8F73-2185E06E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34769-2798-4678-881E-9A3F810A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Typical team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FC357-CCB4-467D-8A79-1E9DFF92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44C79-E774-4859-AC5E-B80E6866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Best fit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DDF0B-9B25-41E8-AC31-15A2275B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CEAE3-81C3-4053-9236-5E09000A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F76EE2-B4F8-4B48-9415-6D6BC045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8FECAA-07C0-4439-AAD4-A73697A6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8x5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DD883A-7C03-480D-AF10-A81773CF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56045-F7BF-4AA7-8E0B-11938E6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2-3 FTE + on-call/MSSP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44869-1BE6-44B5-AF1C-0F59E8D3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D471B-1C96-4F63-85D7-4880E4E1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Low-risk / small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EFB692-B6B3-4021-94C3-E0F12E98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3BF20D-DCD9-444D-B801-3698E6E5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After-hours delay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EDAA4-7F4C-42F9-BF77-B747ECE3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FD33CA-7912-43A3-B6FD-0AB21ED4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16x5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3D576D-3332-4AC9-B06F-4C07B12C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C49A3-8C32-491A-B936-E303ADA7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5-6 FTE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62B702-1782-4CF2-A3FB-9ABA4AF0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6DF0D7-A056-48B3-935A-47E4AFE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Moderate risk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226B43-AA81-4E8A-95FA-A00C93C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E007ED-FC61-4CC7-9B1E-B2C7E68A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Weekend exposure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E421DA-4E97-4CEA-ADE7-7A46EC32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2A2954-B89E-47C9-9957-21A99C0E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24x7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CADED-213F-40D8-AFB5-F1473EF8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2D5425-9EFC-4101-9F7D-C0511850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10-15+ FTE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EAD4AC-41E2-443C-AECE-95EB3B3F3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54EF3A-07E4-4405-A9FF-59FEAC4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High-risk / regulated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7DE7D3-45F8-4E37-A5A6-CE27EA5E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5DCA1-D1AA-463E-BC52-5F3723E3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Cost and fatigue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325C3A-80CA-4B00-8B46-038AE9FE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052 / 142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3067FA-F530-4385-A803-13032154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4864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18EE32-5B82-495B-B715-1470EC16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54864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2077190182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FD8DA2-FF73-4093-B864-03267861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role-to-responsibility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92DD4-AB88-4C06-95E9-1757B2E3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C3232-F2D5-4423-98A9-93061F88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4D4979-8551-4EE3-B887-DDEEB1FA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57370-BD9B-4179-BF2F-A819BA44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63FB0-934E-4B81-B313-87921F47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A1B259-32A9-4653-AC48-2D9A6BFE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3C6B78-09AA-49DA-9397-2EA8DA6D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7F482C-0330-4309-835B-BC0343C8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0E3877-F827-4536-8484-96DFB3F5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2E95C-F7E8-4CC4-B881-BD048842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CA3A2D-A1F6-470F-99C6-1F06DF86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05E6F-11C4-4A10-AB05-AAFD19FB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A6CEE-100B-4526-925B-58AA9EAC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Produces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3E599-2708-4091-B0D2-E0A89E76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B6996-8934-4D65-8BB0-D69168F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Escalates 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D0B8D-9EED-492E-B435-254E25AA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0654F6-D574-4F2E-9D79-79656B9E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Analyst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DE054B-E8A3-4576-8B1D-44200131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2D74D7-F3D1-4BBC-B459-B491EA4B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facts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844E10-178F-40B5-9E49-CD711BE5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7B5AAB-24CD-4EEF-969B-DBD773EC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Ticket/evidence pointers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159365-8527-476C-9B76-0937B8E1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05FFDD-57B7-40AE-9028-D73FC39A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Tier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82738D-4543-43B7-8243-BB22909A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9CDBB6-F24E-4C24-A7AE-FEB351BB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ADB674-7A38-45D2-A047-4407BEC9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8D71E5-452C-4235-9957-971ACA74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Telemetry/detection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3FEBFB-18EC-46C3-AEC2-6F1216B2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232DF8-519B-40B6-92AE-6C4EB005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Rule/test/source health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3C7A33-12E7-4B00-8243-93FBAEF1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F770B1-DCFE-448D-A2A7-F8DE0F9C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567417-0C5A-4D78-882C-F7D699ED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947DA2-61B0-4A32-9D43-9FC40330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80163B-72F0-4593-B50F-9D5DF8C7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D27324-E93F-4CF6-8722-191D99C4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Complex response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48C35B-02BE-430A-BCA4-586067E9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F7B89D-E9B2-4886-A39F-99DA1AEA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Evidence and recovery plan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CFA9D0-6E69-4FEA-9DFC-CF549637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19379B3-6569-4F29-BF74-3BB4CAC7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1BF451-4BA9-4BF1-A2E3-1963C4D0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DB6682-FC93-45BB-B299-AE5A3F7D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965820-853E-487D-B94B-47C31B85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AAD3B7-E9D3-44C4-96D8-5BCBCC9D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 decision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80379A-8781-4D5E-9AC6-2F97DD88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BE9BAB-31DD-43DB-9D17-141FEEB8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 posture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4EB0AF-5B1A-4A6F-A179-5F3521FA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D04561-E3A8-459C-B304-C8D336BA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Board/Regulator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04910F-CD7F-4175-A4A7-6FB859F5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053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D784C4-5504-4E70-820E-7936444E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86DA074-9FF4-46AB-9B31-248A3ADD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62865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2138714234"/>
      </p:ext>
    </p:extLst>
  </p:cSld>
</p:sld>
</file>

<file path=ppt/slides/slide5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EED2C6-C844-4082-9A21-1D310670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design staffing and shift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F9AC9-E7F1-4C02-97D6-80B23BD1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A179D-3990-4103-83C3-FA158F12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57408-184F-4672-9928-FA54702D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F54CB-5239-4E13-8170-83FDFF68E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8B522-0DBE-460C-8029-7018334A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C1160-E913-4B96-8703-0EDC2445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CE991-86AF-4D18-A1AA-9F3A63C9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Repeated failed logins start after business hours; shift coverage becomes material.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56276-B444-4CF4-A029-13C77584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AFF4D-4458-4244-8971-48EF8BE3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D7C66"/>
                </a:solidFill>
              </a:defRPr>
            </a:pPr>
            <a:r>
              <a:rPr sz="1200" b="1">
                <a:solidFill>
                  <a:srgbClr val="0D7C66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4C157F-5012-49AC-B6A1-5F94296A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4C1C4A-2A60-4BFC-950B-7E5C091A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D5ABDE-EDB2-4236-81ED-25119CD0D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11CD0C-8BC0-46A1-B033-731A1BC9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428C98-0123-42CA-BB0D-1D342FF0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228AE-58F7-4D29-824B-0CBD969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623C52-83D8-48FF-8891-5A119945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AFA07D-3679-4837-89F9-ECD5AB26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07ECC2-4C4A-49B0-A81B-5F11B583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49EEB-01D1-4C3D-AFD0-577F1219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4602D9-52ED-463E-AF11-D5052F52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3FBE58-73AB-4EC5-B831-894AC732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E19292-3AB2-4A87-A845-D5510662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3C1579-222C-4806-936D-FAA7BDB0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A71EDA-D564-423A-9498-E9F9EBEE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D9555E-78F9-4B82-8209-DE3A2802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2CDBCB-4D66-4133-9AC9-D037E28C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FB6E25-9365-4407-8156-32079D23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0FE261-D097-499C-87CC-CDF71E18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E46CE9-B09E-42BD-ACF1-F747C96F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89A34F-F9FF-4A28-94D4-36A09887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755964-B426-473F-A7D8-3FD4EBE5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020FE8-18AE-4967-9D5E-80CC7AA4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054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E2BB4F-067D-413C-AE9E-D715E1D3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15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People, Roles, Staffing, and Shift Operations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8111F8-61EE-49DA-9D05-6D9CBDB9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9200" y="9486900"/>
            <a:ext cx="4857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SOC_Team_Structure, SOC_Capacity_Planning, Shift_Handoff, Budget_Staffing</a:t>
            </a:r>
          </a:p>
        </p:txBody>
      </p:sp>
    </p:spTree>
    <p:extLst>
      <p:ext uri="{BB962C8B-B14F-4D97-AF65-F5344CB8AC3E}">
        <p14:creationId xmlns:p14="http://schemas.microsoft.com/office/powerpoint/2010/main" val="600525390"/>
      </p:ext>
    </p:extLst>
  </p:cSld>
</p:sld>
</file>

<file path=ppt/slides/slide5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B07A5E-F942-4ECE-973D-8840AFA3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E6054-8A4E-4029-BCC8-04F885CF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E1D14-3FEB-41EA-88ED-CA2AF6ED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FUND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0D45A2-1759-4167-A4A3-30779C7A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F0078-35B0-466D-AB18-CC8D1661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Prioritize tools and budget by operating value, not tool hype.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46747-0F2F-4317-BD89-9341CA36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D8715-56E2-46F6-8F45-A2A5DE8E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E249A-0E48-43B4-8835-89A6C55B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3C8B80-B41C-4DA8-8655-246A7423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Core SOC tool categories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F801AB-CF71-4E20-99F7-A163BD1B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C16F36-84CE-4341-B4FE-94F21F9D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D295E-A1EC-4B09-A68B-3905B6FD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24A93-D562-4754-8A07-32D05334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63CB9-E978-4607-9D94-370614E2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D2C078-637F-4462-AA1F-A97D9B71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671F7D-6E58-4110-AD1D-F0462382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2952F-02EC-4971-A298-3995BA64D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SIEM centralizes searchable evidence and detection correlation.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F46C3-ECB3-4A80-80CB-E8563666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762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BAD2B-F2E7-4A53-8F09-7046835B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8BC8F3-E4BF-47CD-9C98-E890FD55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62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EDR/XDR provides endpoint investigation and response control.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78F98-17E5-4D51-B3FC-365A3A4A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3528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B6A2A2-6116-45D6-855B-42D29F57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0FA15D-F4AF-463E-A5DB-1E792F5A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528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Case management, TI, SOAR, vulnerability, IAM, DLP, and data tools complete the operating picture.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BD90C5-06D7-4EB1-9DD8-BA4B2951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53D301-63E0-4C0C-B412-9425C470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FE2BCE-99C3-45F0-B861-FEE806A2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8612B3-733C-4EFA-A74F-7017D48C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055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07B9A8-226C-4407-8644-CB82FCBA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43624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FD0B6E-7F4F-4927-84FD-7E8E0A25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561975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36158653"/>
      </p:ext>
    </p:extLst>
  </p:cSld>
</p:sld>
</file>

<file path=ppt/slides/slide5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72A928-6F3C-41EC-96EA-00A16944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SIEM: job and selection criteria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73C58-8AFD-4DF7-A5BB-A5BC506E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0A75A-8FC9-48FD-B934-BBF6D48B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709AA-DF28-4B18-A6F9-9FD638F9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80461-1C9D-44B8-8CB4-5A9D7A4D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F0C07-8FD7-4129-8DA3-658B12A9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C8747-EE33-4839-A42D-F297E0AF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0D769-C0BE-4F18-A029-9AA7885B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A16CF-7F6A-4BA4-B2E0-152FC053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87BDA-7921-4B7C-AAAD-8EE1D2709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F6AEA-B975-40E5-B6CC-F8370106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SIEM's job is searchable evidence, correlation, dashboards, and investigation continuity.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FDD51-454F-40C2-AF09-CE00322F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FDD0C0-AC9E-41D0-A040-B8F5DC1B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07D16-9339-4875-A479-27358CB2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Select by log source fit, query usability, retention cost, parser quality, and team skill.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A2993-536E-4492-B69E-0584E4E0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E850C-F0D5-4FC4-B4DB-A20E74D0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140AF-9F8C-447A-AE47-D83C01D1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SIEM is not useful if critical logs are missing or unreadable.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C99C67-1A0C-4F81-B921-3EA70EAE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FB3F1-8E62-4964-9FB7-06BE412D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11974-56A3-497F-8960-89500251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C9C38-7D97-4AD2-A66D-3A5DAADB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DF54F-A0F0-4FF2-9A90-FB92BB9C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4A09D-B458-4415-ADF8-1F8B8524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B0E79F-5CF8-460B-BAE8-26C8FC8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746D76-FA65-4E61-BAB6-B3F89F7F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483BDF-0854-47BA-A17A-2CF626DA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0EDFCC-96FE-4147-81CF-B5914BA1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52ED42-BB51-4DAB-8B27-DDB78FC4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69723991"/>
      </p:ext>
    </p:extLst>
  </p:cSld>
</p:sld>
</file>

<file path=ppt/slides/slide5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BC0119-7DDE-46B2-AFA8-000E1737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EDR/XDR: job and selection criteria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FB5B1-519D-4503-A0AF-F2883409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F255A-F546-4A8F-883A-1B465A4F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C1490-96D4-4CD2-93FD-7C5AED9A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AE7A3-7803-41E8-B7C0-DA716C05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60CAA1-7A15-466B-BBB2-2A0344D7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3B7E6-58CC-4180-BBD2-94EE9445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174E43-08C3-406E-91EA-61FDD89B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C546A7-83DA-4211-A007-59443607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C5A3A-D868-4954-B4EC-0563EDAC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9E54D-6869-444D-86E7-2046D58C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Endpoint tooling must support process context, isolation, collection, and response audit trail.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AF971C-7CDA-4B4A-B56D-24C85CBB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956B94-5EB5-411A-BAB7-339B3C05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E0D15E-C2BA-4132-AC1E-ACF7FAB9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Select by coverage, response safety, telemetry fidelity, and analyst workflow fit.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80724-13AB-4720-B193-62FFA23D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1F8D80-AA13-4B93-AEEA-66DCD314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FDC78-0A27-49C2-9A8C-9310D6DE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can execute high-impact response actions before go-live.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9760A5-90ED-42CC-B174-3D6F256E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4DD102-ABEE-49EF-A87F-732D19E7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19A87-00EB-4F22-816F-553512EF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6E7D88-A5CE-4D7E-8655-6C21F12A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B6694-22BA-4C1F-A0D3-9BAA53F9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5EFEA4-6B9A-48C9-B7E4-57A838B9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C994B7-328E-4714-9D2E-0B3EF0B5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8D1662-95F7-4795-9D13-D702269A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84BCBA-57D5-49E2-AF4D-A0AD1FE2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38C7AB-A985-4065-9D29-47685BD6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42A724-496A-42D3-A6EC-9809C887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480326184"/>
      </p:ext>
    </p:extLst>
  </p:cSld>
</p:sld>
</file>

<file path=ppt/slides/slide5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E9F991-106D-4C71-B8EA-BBDB718E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SOAR/automation: when it helps and when it hurts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DEC8E-F597-4ED8-A078-AF0CF481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AF4F1-D533-449D-B8C4-F467C7F8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831B6-75C7-4276-A7F3-FF6175AB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197F6-1EDF-4893-AEF7-E13506CA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1BBE3-F0B3-49CD-8B05-0C1C5258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22EBB-2D27-41D3-ACCC-DE2AB8AC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12025C-5EDA-4801-B1CE-B1FA69F6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F91B2-E6EA-4DC2-BE5A-0DF251E8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7357CA-1597-490C-8A52-939D5F67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081F0-1C41-449B-9506-05F11096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Automation helps repeat enrichment, routing, evidence collection, and low-risk containment.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FE6D4-87F0-4A16-9C36-C708B732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36ADB-9AED-4EF9-A6B5-52AE9D0E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45F24-6702-4753-AD1F-CFEDD80F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Automation hurts when decision criteria, ownership, or rollback are unclear.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EE015B-EBF7-42B0-8835-418290D2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13AA4-75CD-4B9B-B4A0-8AB1AF2B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91698C-1D74-4891-99BF-004015FB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Start with assisted workflows before autonomous actions.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784B4C-EA04-4AD8-9953-FA53BFF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C6553-B0DB-4B76-9944-8A39FA82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2F3069-FC12-4373-961C-993A9897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E8D782-A285-4717-8801-707AE96B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677F7-02CC-4126-A100-31182928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E58BB-872D-4251-881D-29CE4591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3D69C-56BA-4CCA-A155-A497F195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3D40F9-9353-471D-BA18-75DC2F28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B61F8E-A2E4-4631-8ECC-04B8CF00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B52D4A-58E9-46C0-A65D-CD6A5D9A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8C537F-5E92-4961-912D-80C03DAE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71249933"/>
      </p:ext>
    </p:extLst>
  </p:cSld>
</p:sld>
</file>

<file path=ppt/slides/slide5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F82CE9-DC02-4DD8-9803-3C09D62EE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Threat intelligence platform and feeds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6EF41-1460-4886-A36B-11308974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14AF7-D5BB-4C51-839F-416CFC2D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5204E-0DCF-4021-BF68-6C2C6CB3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B7CE4-AC26-4004-89D4-62C0561E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08D29-47EB-46FE-9499-0994C0CF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85CD7-4F54-4F60-97BC-8691592F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75E1FE-AE66-4C28-BFCF-147BB3BD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816C3-B3D2-401B-9F19-6D1599E1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5A8C2-26BC-4994-8FA5-15AEA9F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0E5AF-C9A9-493E-BBFA-B8730ADC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Threat intelligence should answer prioritized questions, not flood the SOC with indicators.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1C021-FF79-4D8B-AC87-2037FF55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2FA88-4CAE-4AE0-9EC0-CE582FA6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99B38-1118-4463-B00D-468EE6CD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feeds to enrich detections, hunts, watchlists, and external coordination.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4768C-051D-46D5-AECE-1219AED0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CDF139-D06E-4C7A-B8AA-0C7A25B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D6F0B-3F89-440F-A3C6-361A9E02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Track source confidence, relevance, expiration, and action taken.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DCBEB-3167-4668-9F0E-026D760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03778-5455-4AE7-AB6B-E84430D4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BC638C-A535-480D-80C7-ED35F446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B2E8D8-3108-4ED2-AFA8-4AC544A6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00ACA4-5A17-495B-B50A-AA3DC18C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D8738-F845-4710-B656-2BE03AD5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E593F-BB2B-4ADA-87E9-91715950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6AA298-F569-4EDC-9139-AD730C82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52FB5C-312D-4F10-B00A-C8C1ABC54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059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7D633A-55F0-4FB0-A313-ADF390D6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AF0ED9-87FD-4E97-BF61-B60ED4B4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538662573"/>
      </p:ext>
    </p:extLst>
  </p:cSld>
</p:sld>
</file>

<file path=ppt/slides/slide6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F47F6E-DCA4-4D3F-85F2-8402B42B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Case management and knowledge base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FD554-34E1-4483-B1D4-C129AD27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F9C0A-7656-4BA5-AFE1-89C0EDA4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53C3C-03C1-483A-A4D8-90E87CF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665E0-2939-465D-A325-A9877ECF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60F9C-9850-4F48-B664-1437ACE7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E8962-6C04-46A8-9DED-804D85F0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E5E2C-8560-48B0-90FE-656C4EC0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4748D-F1FA-432C-B113-8EBCC979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715A65-BF9F-4538-B78F-AF6C77CA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E3226-F466-4DA6-AFCD-4D48D0B1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case system preserves timeline, evidence, ownership, approvals, and closure rationale.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78B54E-F112-46EF-A440-6C175F32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F0DA1-6216-4B6D-AD12-601EC6AA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6C53B3-93CA-48D1-9898-00CFBE19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knowledge base keeps repeatable steps outside individual analyst memory.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015FD3-E479-420B-A21B-F7D76521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759D4F-CFD1-4E3F-AA2C-B14F1955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884D1B-13C8-4963-BEE0-2C2B59E5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Both are required for shift handoff, audit, PIR, and training.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E7A746-0F11-4256-B74F-6B63032C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DC27F7-4D91-4B47-867A-8E546B7C2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1B655-5751-4E29-8CD6-B7F61080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256A0E-0972-40D2-AAA0-BD2442B1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08D530-0C92-428C-9304-B277511E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057481-32FD-4F06-A271-85045E5B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8DF663-74DC-4278-8865-51229464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5B7037-EA4B-4CD4-9EB4-0AA1B4DA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081A47-A501-4A31-960A-A619F39C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060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D27F2F-9F78-4FC9-9BBF-E3737A73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F32B75-3C03-4429-8548-2876085D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949567102"/>
      </p:ext>
    </p:extLst>
  </p:cSld>
</p:sld>
</file>

<file path=ppt/slides/slide6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B16D37-1141-46E3-9AF3-A278F4D4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DLP, IAM, vulnerability, and supporting control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E66FA-4957-4A01-A712-C6EB1724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8276A-FBC8-4013-AD3A-8620D502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A6C8D-347F-4BD2-89A8-95837EC6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549B5-0AA5-4902-839A-A9582342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1E273-BD1B-44AF-B35E-52F52A57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5B518-4249-446F-930D-60C41A27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D8607-9C0B-4828-ABA3-E05332E5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77071-FEC1-47CE-BE18-9D2EA979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D798DF-7695-41C5-94BF-CF023E33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CF521-D9BB-4BF2-8F0F-9B285AC2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Supporting control data turns alerts into risk context.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41043-98BD-4331-A932-4A385EDD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AB237-00F8-47D8-9AA6-69569FAE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3F772-372B-4F8A-AB32-B88D8CC1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Vulnerability, IAM, DLP, asset, and data-classification systems help prioritize response.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38B37-5B6B-4E34-ACB6-BE7FEA5E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9D238-479A-44E3-95CE-B2AD79E1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969CFE-8654-4505-B440-714D6372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SOC ownership should include evidence use, not ownership of every control platform.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B90C41-05B1-40A1-9D3B-D8117B8C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8B856-2B29-422E-8320-705CEAA0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8AE27-20B2-48DB-AA3A-712A8E6F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CC3C67-6EEC-4A44-BF48-8DFF3D9D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B56157-6ECA-487F-929E-C2BDF5E7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395023-9C1C-4C1E-95D4-7D806A8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817D7-7E66-4D67-AA50-BE0FB76E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96AD07-CEF7-4FD3-84F1-0B67D87D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D2203C-65FD-4537-B398-4BAA685A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9BE667-9F53-4C0F-AD44-D3E36BC4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16128-4ADE-4038-9837-21753154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852957827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E3BAC8-E97A-4466-9A92-78F57E77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Tool integration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FAC97-4A73-4526-BFCD-98A060EB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50EFF-6959-4F07-9E2B-4736D480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46B023-C766-41A0-96EA-86017123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EA9E30-C487-4F10-87EC-2056C234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92C1-84AA-4D6B-A132-29431E2B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3138E-65CE-48B2-B9C1-A48A9324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9EE005-A960-4E23-BDDD-25331D7F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2EBA11-4F4B-4A3C-B15E-5EA6DFF9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3991B-06DC-4B11-8D8F-2F9FAB5E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42BE76-C0EF-47C6-81B0-83E57764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BE90A-7338-4D03-BBCC-3FAEB8B3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2D8E1-EB17-4483-A58C-02801B16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BCFFA8-F62F-40E0-BDB9-E69292CA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2B6BA6-787D-4BB7-AFD7-C1C09430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7C74A-F18D-485A-9D76-E2C853C3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73609-B96E-43CC-9AA1-4E1C0A83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595BB-CFDA-477C-9E3D-0D4A5640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19BD91-2382-45CA-857F-F6B9DCC3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51E696-8C88-4C40-B9D2-FA714561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1A111-19BC-444A-B3AE-CE4BD0D6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974E04-049D-4256-B096-F1441290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BBFBAE-6C88-4D55-9C48-844BB75D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Connect identity, endpoint, network, email, and cloud before advanced automation.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FA1A64-2EF9-4995-B544-E3F58546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5F7BDE-82E7-45E3-A2CB-17973B6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7E07ED-3C6F-4DBE-960C-9C12DEAD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Add case management early so evidence and decisions do not live in chat.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6498B4-01CD-4265-9227-3BA1189B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045447-D6DA-482F-BB0D-0B70FDE4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Introduce orchestration after playbooks and authority boundaries are stable.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4D030C-3A11-4891-836F-D24743C7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102350-82A2-4552-9DE3-B3C94A1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166CE2-B688-4D84-AD0C-3CA09A89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45357B-45D0-47A8-A03C-6EDB665E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5B47FC-0791-4712-8F0A-7F3D95786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324034216"/>
      </p:ext>
    </p:extLst>
  </p:cSld>
</p:sld>
</file>

<file path=ppt/slides/slide6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F506B7-1168-4FA0-A25D-06D6800D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Build-vs-buy and complexity 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24EEF2-4828-4D47-B146-93CB7D5F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9A5D4-4FCD-412A-987F-1B417BD9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B62A3-018A-4AC0-9323-F4928D8D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15C73-939D-4ECF-BCCA-1F95EFC1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B6803-5596-4898-B4AA-05053184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96018-D40F-47D6-88E1-B40F1DCA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395D9-9350-4727-A2EA-4F49CAD5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61674-22E2-4F19-846B-3BAC89C1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AEF5F-8188-4B98-B47D-48803AD3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959DE-C745-40EB-83EE-1EFF90F9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Build when team skill, ownership, and maintenance capacity are real.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F3435-4198-4B30-9FE1-D9E0EA52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02780-1FCE-43D7-833C-650F55B9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50B587-89F8-4C3A-A2DB-B36B06B3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Buy when time-to-value, support, and integration risk matter more than customization.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76602D-00BA-414B-8568-99D3C747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8E8742-3181-4683-AC64-9364D251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6A6CD-F0E3-471D-88EC-A27BCE48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Hybrid approaches still need internal process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0E0ED8-D1B3-41E3-8346-31F22B1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9DB210-5A26-4DFE-ACD6-98656DE9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5450F9-80D2-4F2B-8441-A8442EB1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90E451-7C7B-4735-8D81-44C24250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7DF18-0BA5-4DBD-8E15-C137356B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063373-73B5-4F14-BF81-B90B8DE9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6A9966-1656-493F-AB5F-01487956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28237-1B93-4177-8137-30C706B5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17E6E3-DD9A-44B9-BF7B-F35CDB07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C5BECF-87B4-4112-AB07-253810DD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4481F4-F51E-4B41-8DDD-0C550DD1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825502871"/>
      </p:ext>
    </p:extLst>
  </p:cSld>
</p:sld>
</file>

<file path=ppt/slides/slide6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7A283E-CC13-463D-B5D9-57C476C0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Budget categories: people, platform, content, operations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5FAC8-E59C-4A84-BD3C-02CAEA30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BA378-C9CE-44AF-8C66-5A5498B4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B316F1-EE37-413C-9552-FB2EC551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09E05-5B70-4489-A96C-39C95552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33FED-7618-41B3-AAA7-32446E15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954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CAEA3-0A81-45F5-85C7-52BCAF43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F78FB-23C6-4C9F-B568-A5012D56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192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24B140-0FF0-4AD6-BD37-13C60F65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2EDD7-BBA2-42DA-A505-5608CDC3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66124-F6FA-41C5-A7D6-12731598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DF7B2-C6EA-4888-806B-99517F13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2193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4025B-9F3E-4FA1-84CB-2B1DCBA6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E6935D-66D1-49D0-9017-E1AEFD40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6860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2656D3-5D70-4812-BBEA-88635FDF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4538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27D8A-25E2-4321-B963-4193343F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007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FD6C8-FA5D-44E0-A423-18BB94A8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375C3A-3747-41DE-97C9-BFFA0ED3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824538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C6D50F-66B3-4920-A0F2-EDB35C3A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007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96CBC7-4B02-4052-85E1-7BADA7CB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2865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E0C4D-EAD2-47BA-B9F8-F788A728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22885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ABF9E-67DD-4E48-AA6E-846CA618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600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B1C56-BF74-4236-B303-D4162920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8553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People costs usually dominate a sustainable SOC budget.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8E678A-26A8-49F9-99E4-FCFCD9C9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743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F2BCF-5399-4E7E-A55A-4B5CDFA0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92430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Platform costs include licensing, storage, compute, support, and retention.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95D694-AE28-4A78-A90A-2CB3F066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886325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99FF78-361D-4A4A-AFA3-E6304A08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67300"/>
            <a:ext cx="85534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Content and operations include detections, training, exercises, reporting, and improvement.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3B9B58-9C4C-4FAB-A830-B219A49C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A427AE-9E80-4427-B7FA-9C51E262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547EB5-A5CA-4DDB-9095-1D9A5787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329489506"/>
      </p:ext>
    </p:extLst>
  </p:cSld>
</p:sld>
</file>

<file path=ppt/slides/slide6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E82EFA-F0C1-4FE4-8D98-26E34632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Phased budget model by maturity stage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2BA7DA-DBEF-4461-9E76-C9E9E822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A959A-3272-409A-B9D2-0771EEBD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CB1F87-FD44-4A27-A348-1C3FD566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B36DE-5B64-4FC1-B42F-BE957CB2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BD033-7751-4E57-85F4-C3E53669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2C0400-AD8A-4906-B89F-B9985340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D8B39-33F3-4A43-97F8-5552CD83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A97D3-BE04-4D82-9014-B2C4F4C4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0C35F-1214-415C-BDE5-83FC90BA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DD645-5CC2-43CD-958A-67136FD2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1042DC-07D0-49FF-BADE-ED8FABC9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7491C-3857-41FB-BD76-33063A04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E6E72-B01D-4DBC-AC58-90FA144F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93DB5C-9FF1-49BA-A97C-AC595227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F2186-F16C-4FF4-BC51-CEEFFD6B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579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13849-E920-4914-A2F5-F320DC40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436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04766-64B8-4492-AACE-63AA151B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876925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E9CF0D-90B2-43B1-9072-580BF351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579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7A9D1-6B5F-42B6-A6E3-BC4FEB3D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436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FC5C91-774D-42F0-91C3-1C77FD53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5DC21-F276-4DF6-960E-6FE85536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EFBC7D-9674-4E43-8018-F9C8A789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Foundation funds minimum people, critical telemetry, SIEM/EDR, and core SOPs.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084FC4-9E4B-462A-BD33-B1060022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E1FA8D-9C1F-4BD4-8073-AF32762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Operational funds shifts, tuning, playbooks, metrics, and service ownership.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1B9C8-8BF4-44DC-9835-6EF5A654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0A87BE-C111-4B39-96CB-9E7E7854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Mature funds automation, threat hunting, advanced analytics, and governance cadence.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041C94-6B37-44DB-8FE0-B8132BB4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065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C54C7D-4C9F-46E5-B9A0-4F9EBC82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0C9A32-088E-4236-A968-6D8F1375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2056072458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D98243-89B1-433F-BB2D-7D2D8FEA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tool evaluation scorecard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34EC2-8542-406E-AC68-CF467990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58C71-16B5-466A-BF6D-35ADC836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3E49E-9C25-445C-A15C-86549128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7EF1C-AE80-470B-962B-2EA6EB8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0C2230-4BCC-42C7-93E5-E9C53B41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B6A5E-A1C6-42D0-9CBE-CB73A01E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96094F-6D2A-4980-81F9-0642BF93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4575AF-E731-4AAE-A698-CF5D154E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14241-98CE-49EF-8095-3B96DA9D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82D6EC-BAF9-4811-8C16-DE3A5B688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80238-B74B-4F2D-B8DE-672BD402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1082B3-958B-4473-A8D6-BA6311B9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F1801-A40C-4FA2-ADC3-CB9FD2BB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15CC82-4874-4564-9A1C-737D9C39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B8684F-A239-44BC-BF32-7B2E8405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57540-CDAC-4B8E-B6D7-F1AC8EB6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7C814C-EC24-4FAD-903E-2EAEA3EF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Telemetry fit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F84A61-EC3A-4D9D-9A7C-2ED625C5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BB0921-8648-476D-AC23-BBE70A3E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it ingest priority sources?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108FAC-5E9C-4AF2-8DC6-070CDC7B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BFB9C-FA9C-4E6D-8A22-18CE4A04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8BA60-72F7-4E32-BBBA-AB1B1BF4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C22144-14AE-49EA-AE3A-FDDAAA4B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Parser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B2BB1-3FA8-458F-8AC4-54B84564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EA100-5DB6-49B3-B203-1D74C200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Workflow fit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251EE-F885-4C81-A1BF-047E0ADC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590DC7-BDDE-413A-82F5-FA50867E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analysts work cases cleanly?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A027A8-D11A-4359-83D8-A9552728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851600-979A-4948-986F-8218FA5E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B651E2-138B-43A1-845D-0CC1C5FB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C572F7-D122-4073-877B-B0DDE952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demo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8E6A1F-03CC-4E6F-A6E9-6974D827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1A81A9-BD75-4E78-8C4E-A2B7ACCA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Cost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179A6A-7524-4E1C-9608-77381F96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546E36-DEC4-4F14-AE64-71CCBC73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retention scale?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7F22D6-C93D-409C-9DA2-DDD685C0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1DF8B8-902E-4E68-B955-04B33B31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High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381C2-7756-4F5F-A931-8EB95739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DFCA58-7265-4F4B-8144-CAD130DD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Volume estimate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9D000B-7703-4139-BE22-5FC47249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D010BA-5D40-4674-BD21-343C697B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Supportability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F6B2898-551A-4BB3-BD88-67ED9DF2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818DC2-D590-4502-A8F7-9BA2CF74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Can team operate it?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50236C-E46D-4236-BF16-798848E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6266FB-2356-4B4D-8F16-B73928E1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Medium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347F24-43C8-4807-859A-1FDC37BC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3E69EE-579F-4C99-A6AC-1F60927B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Skill map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260787B-9856-422A-B85C-555082E9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066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35897A-07FE-49C4-845B-346C8B87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122A99-D420-41E6-9C8F-D7D15070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62865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614566161"/>
      </p:ext>
    </p:extLst>
  </p:cSld>
</p:sld>
</file>

<file path=ppt/slides/slide6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F1F6CC-C409-4834-9A0D-0F8ECBB2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budget allocation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B83AD-8C80-4A44-8339-6C4FB24E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E866C-4F86-485B-B29D-3BD31D63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949011-3DDC-48B7-B0E6-1614EDD2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EF50A-4FB4-4CBD-937A-0C7382AF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9A1AC-78C7-4549-B5E6-C5C65C61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E8AA2-554D-46CB-901E-7F37D85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906393-FEF9-452C-8A0D-82A0F195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7B414-FF1C-4837-B53E-E8B6A60D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BEB381-9B90-40A2-AACB-E1AA10B1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Bucket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AB73C-DD3B-4302-8333-363CE2EF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72681-7AD2-4053-8277-4B287960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Foundation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1B81C8-4B5C-445A-8CD4-1DB1E72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A7180-A92C-43A0-AC73-FDECA893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Operational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20340-A6EB-4B44-AD38-10161A0D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C5D80-CC3B-4C82-A2EB-52982CB8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9CA9D6-42FE-4EF7-B965-29D3A78B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5870F9-CFF3-4515-BB25-1AD2CD8F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People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44D4C4-2CBA-4D6B-A5F4-88353B4F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00C503-1643-4C1C-AAA1-BA8CDEAD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Lead + T1/T2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E0422A-B666-4C4E-AE52-5A03EF20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22C984-2981-4330-83F9-F92C4BC3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Shift + engineer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F5EA3F-A1B8-4D03-8421-BDF83340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646794-BC94-4DB9-BAA0-96D2758F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24x7 + specialists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08202D-4508-482F-9936-48298B0F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8D3AC3-77DA-4685-91BD-72F87E23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Platform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AB1219-C673-4B2D-99D5-D8D16C3F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AF6211-6161-4569-AF8A-863DE562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SIEM/EDR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112EEC-CF8E-4D71-9C18-E2AF4ACC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968FFC-35F0-41AD-BCA2-B724D110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Retention + case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7EAE35-7C19-4C49-8C70-35910435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CF24A4-213D-46BA-9598-E128EFD6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Automation + TI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B5F3D9-F124-4440-AAED-012553AC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C765-4F83-4359-A240-9483C46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FB2B20-940C-408C-942E-F65B3647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5CA74E-142E-4512-892E-FFE06807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Top detections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91B6D1-BDFB-4AE2-9E9C-5305833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0E6D68-9A91-4E9E-95C9-0901E3B5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 library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A59453-0E60-4E81-B1E9-B9F153D8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905B85-1D57-43A1-B55D-C72E7097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 coverage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853DDF-226B-4827-9C68-511221D9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20D68B-2C30-4EC0-A5BF-0D348247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Training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C376A4-B4F1-4F39-88C2-CF5FEFC1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421218-D1C9-40A0-ADA3-64E935D6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Onboarding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5D71F99-7CAD-46D4-9D44-5174E0A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3C5BC4-92CC-487E-ABFB-2CFD82D8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Role labs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1100B2-9522-4F75-B22A-5AE91F01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51E6FE-F88F-49E1-A04A-173B747F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Purple-team cadence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4AF1FE2-C678-41FD-9B85-FB7142EC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067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81A278-973A-41FD-87B0-84B78901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8F8FD66-5A63-45F5-8B73-FCDB7EC4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62865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976656349"/>
      </p:ext>
    </p:extLst>
  </p:cSld>
</p:sld>
</file>

<file path=ppt/slides/slide6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862417-816F-4C2D-B709-5518EB47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prioritize tools and budget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3EF6D-F1A6-4F12-870C-73E608E1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E181C1-A066-4E45-904E-53C9CCC6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9A99D6-1604-4002-8008-29ACA172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A2F81-475E-4A45-8276-EACEF669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87D51-D3F5-437E-BC1D-8EE1655D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EF792-FC66-4515-86EA-7C4552C0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37D931-668E-4C6B-ADAE-706CCD32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team must decide which tools prove account abuse and data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78EDF-8303-48E0-A5DD-A569DA00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99DF32-289D-4F88-9EBC-71E8910B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2C680-1186-4369-AEFD-535D33CA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4A0ACE-F523-4BDC-BCD9-1EE2307F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A11A4-CA09-4C2B-81DD-DD7EDF91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9B6D5-7BBA-4688-8084-271A0CD1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F5EAF-165A-4178-97CA-6C8D67C8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E0CBA5-56EB-47AB-80BE-AF2387718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526AE-9784-42C6-BAC9-3F822503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E7CAAE-FDAD-464C-B9EF-96B794F4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5A7A0-C08E-4B2E-81CF-4EE68C8F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1C31F-AE0A-4622-B22C-163BD154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6DA8F9-A1D4-4F46-9DC6-C1B144A0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D669A-CBDC-4D86-9B56-8D7BD68D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58E4C-96E9-47E0-A40C-94D93F4E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E42EE-0059-45E4-BE70-5C5E58ED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4D390E-B96A-41BD-BBA9-7FA64369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635D84-E3D8-477E-9773-D6F1C72B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52E47B-6474-4168-8CE1-5A55DAE5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0E543F-FEB7-4AF7-A868-0DBA8A88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B8E0D7-8254-4526-A712-A96AB93E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8E256C-0D10-4817-9F29-258906D5E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F8A6FB-B3FD-4A8A-93AC-EE8E934F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A0867A-1216-44DE-92CC-A8A14A43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46CB40-92E8-498B-8A19-812E3AC8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068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336C12-4401-417D-8DDE-837AAF7A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706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Technology Stack, Selection Logic, and Budgeting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97A14-E7B7-450D-824B-3ACB9F89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700" y="9486900"/>
            <a:ext cx="4667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Technology_Stack, Budget_Staffing, Log_Source_Matrix, Vendor_Evaluation</a:t>
            </a:r>
          </a:p>
        </p:txBody>
      </p:sp>
    </p:spTree>
    <p:extLst>
      <p:ext uri="{BB962C8B-B14F-4D97-AF65-F5344CB8AC3E}">
        <p14:creationId xmlns:p14="http://schemas.microsoft.com/office/powerpoint/2010/main" val="1081244074"/>
      </p:ext>
    </p:extLst>
  </p:cSld>
</p:sld>
</file>

<file path=ppt/slides/slide6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4BF6E1-DA99-49B7-86F7-8659992F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9669C-A1BC-4CD8-8678-B838F83D9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069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A77B5-64EC-4A68-8A18-BBD67A8D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7C72C-DFB3-49EB-A044-4E34AC66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0B997-53E5-46EB-A2EF-D6CCA9C3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Convert alerts into disciplined workflow and governance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53DE37-727D-40D2-BE73-C9ADECB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9990BC-B771-400C-B893-E922CF45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3A0711-1BC9-4BFF-A7F5-688776E6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2FB4F4-CC8B-4CF5-AD95-1B2A3E15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operating model in 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BCFD0-6B78-4A8C-A4D1-F5CE7B34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6A54FC-2908-4617-B1BD-D52F8EA2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180CA9-04E3-4ADA-88C4-20155FD4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68E32-D76C-41F1-B0D5-6ED5DEE4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497B5-FB6C-464B-BE66-B04965AC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27809-FE9F-41F2-9DE1-3173F0FD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3BDBA1-E97C-43DB-86EC-ED01817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34DCB-32E9-4D80-AB7D-75A6A059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Production SOC work is queue discipline, investigation quality, escalation, reporting, and improvement.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7F32F2-E6A7-4582-A5EE-625894CD1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7D6C94-35BC-4CF2-82EE-911EA5FB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C2E696-2375-47A7-8F7E-FBFE2245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operating model must define what happens daily, weekly, monthly, and quarterly.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0B9430-E048-44ED-9982-6577B319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39E927-6741-4638-B9BF-B4511941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8E734F-D377-4CEF-BC28-98E87AFF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Metrics should reveal both risk reduction and operational friction.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7DF60-2593-4A54-9D6A-7EADA8C8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44B8AD-3B66-4903-ABBB-A5A9E1D4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A3BC4A-3EDF-423F-99F1-C3A2AB0B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3CE451-5A90-4884-AA6A-41923AD6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069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ADD806-2AC9-41C5-A102-77C60143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6972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5A46EE-9F6F-42C5-87F0-B47374C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579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090685329"/>
      </p:ext>
    </p:extLst>
  </p:cSld>
</p:sld>
</file>

<file path=ppt/slides/slide7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650F88-A7BF-4BFF-8AF3-10614ACC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Service catalog and what the SOC owns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BB248-F0C5-4C25-AF4D-D37F28CD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889EC-5ECA-4415-A068-930CDF41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BC616-820C-4B84-9831-0B97809E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EF920-A5A1-4409-B437-734FADB5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F252C-4CC1-4DF8-8B74-A96241DE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D7F8DC-D82C-44B6-9761-DEC0D25B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4EAA9-CFD6-4ACB-A1EE-FBD9500E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0B267-F292-4971-AE82-A70552A1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052D7-2D0F-413B-9E82-FFEB3E8A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9F7EE-8054-40A3-BDD1-ABF2E688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5F6D7B-F013-4F71-AC02-282E6B7B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54140B-A77B-4CAB-91AD-F8B0028E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C761AE-9D87-44F2-BF74-57E7E0A4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0FEC27-09E6-482D-B27F-74719742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ADA3EC-FD75-4691-B1FB-4E562664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F7BEC5-83A1-4B33-A502-1FFA7133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02EEB-72F4-4D5E-B894-426D8C7A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AC03C-857F-4D62-8A3B-BE95133D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11E2CD-5E84-4988-9116-ACDF2990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FC1B89-6221-4F9C-9252-BF503929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6F5EB-074A-4121-87A1-15089D39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ED332F-DAA8-49B2-82EB-05A9063E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784D6-6DD9-4BF7-99D2-232B26FB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E5EFC2-CF98-4250-BDAB-B6A41BF0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79F377-8626-4B65-99D9-4B7E3DE7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F8CC79-E81A-4038-B7AD-8F479246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The service catalog defines what the SOC monitors, responds to, reports, and improves.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D4D111-9357-4157-9ADB-656A7F11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B4F3EA-9C50-4A9E-93A5-041C485C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also defines what the SOC does not own and where handoff occurs.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C002A3-511C-4227-928A-6850CCD6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31ED47-DEED-4172-9E45-A3912C1C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Service clarity prevents expectation gaps during incidents.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753708-0B9D-42EF-AC95-226C8C5C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652B28-0FE4-4FDE-B7E4-BED4F709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AD0AF6-2C56-47D0-AE1E-236EBCA0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204468469"/>
      </p:ext>
    </p:extLst>
  </p:cSld>
</p:sld>
</file>

<file path=ppt/slides/slide7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63810E-AD3F-43DA-9FA4-3D3E9976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 intake to triage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B2102-B2D2-4394-981F-92662881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764AB-7DF2-4A2A-B4FC-EA55E600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4CF8D-FC51-4A47-9B5B-5D615FF2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94A5E-EF4F-4B37-B88B-ADDEB7B9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55E35-947C-4426-AFCD-72D3129E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D733E-620A-4B62-8B8C-B8A87CAF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63C43-88FF-4207-B661-3FB3E7A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75D11-BACF-4339-98FD-F8B39B8B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F16B0-CFE3-436F-AA95-0DC24F0B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DF7007-444C-4D45-A1F4-AEA74097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CA82A-C67B-47AD-98FE-D9768552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94217F-66FE-4E9A-B4B2-B85DDD24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414B0-AAF0-4D92-AC35-073A176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EC0E9-6AED-4FE9-B0F4-279A64C8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DF57E-378B-477C-8D75-1C34A8BC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54568-67D0-48C0-8C79-2F397A63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D27249-F46D-44F7-B99C-C5EF56DE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A5A0A6-CEA1-44D7-BD2E-E7A162E4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40FBD2-D1FF-45DC-9682-8E3D1C89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1ED86B-5F4B-4C7E-9EC4-236AAEBB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1C93D2-8716-4090-8692-C0F39C12A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75B08E-1241-48E3-8199-B6B229B3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Every alert needs source, confidence, affected asset, identity, severity, and routing.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CF8AEB-F32F-4D8B-A310-00C62A64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CD10E0-EA05-48FA-993A-E4B31117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7679D-483D-4D74-8251-84354069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Triage should decide false positive, informational, investigation, or incident escalation.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E42686-3294-4941-90AD-20D9A4CB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6E2F1B-BFC8-4B3A-82D9-32FC578B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Closure reason quality is an input to tuning and detection engineering.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6329A-5924-4919-A5D9-BD13E20E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9E8599-BE8F-47D0-A9AA-2120C32F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795FB5-B5A6-492A-9D8A-628C0D77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071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276AD5-96BD-4E20-938E-00F6564E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E85761-04B7-409B-983B-330AE8C3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081876877"/>
      </p:ext>
    </p:extLst>
  </p:cSld>
</p:sld>
</file>

<file path=ppt/slides/slide7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5E8138-DEF5-4EF1-B44E-17DFBA48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Escalation path and authority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1939E8-D6A8-456B-9FEC-9101D27D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70EE9-F855-4AB5-92CB-487E7FB6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F121D-78F7-41C6-AB6B-B6AE2B4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8864E-F701-4B34-AA0D-50B6EA0C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E4EEC-16DC-4BE1-BB80-077C37D8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E200CF-F4F9-43B6-B594-8BED3467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4E43C-0239-4845-AA78-C6171DB0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ED861-CB32-4589-929A-7C49DB8B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47800B-7A5E-4F1E-9109-F95A1D03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5C9378-AC4F-4497-B5E6-D3F12A78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83985-9269-490E-9A31-88BB8D96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D4F0D-5782-429F-AD07-5C0684E2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F10BF-9896-4DC0-9E90-810B28E3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42CC8E-5C56-4880-85DC-D8C9B3C3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BBF61B-50B1-40C0-A115-D5FCBBE1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21075-6DA7-48A8-B017-E58D994C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4183FF-2ACA-43B5-99AD-A5009BDD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183EC-7ABE-481D-87AF-5092230E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0C09A4-9B8D-4790-9F42-37E28B15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861C91-8278-4FC6-AA04-5A1A0656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1EDE84-0E42-4EC4-8615-30C0705A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924D96-E95D-477B-BD3C-5ECF9615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Escalation is about decision rights, not just notification.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4C358E-AC63-407D-86F0-413533D2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02D1FB-B0F0-48EC-853C-D335203C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FA1019-3054-4832-A52E-659EDD18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Containment, shutdown, legal notification, and public statement need explicit owners.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A9843C-BF92-4261-8ABF-3C3BF86E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7DA8B0-C0E8-43DE-AB02-5E238756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Time-bound thresholds prevent incidents from sitting in uncertainty.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E21AD5-27FB-4318-821F-95A37A93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D7C8EE-6120-4837-BCD3-9B9AAED5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913C91-A7D5-4B44-8656-2C821344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3616D2-0E8E-440A-BF76-8F33F27E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2471C5-4DE2-4CF4-AC22-C333774E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752117"/>
      </p:ext>
    </p:extLst>
  </p:cSld>
</p:sld>
</file>

<file path=ppt/slides/slide7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DD3D34-B47B-4121-BAF7-EBEE022E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Shift handoff operational pattern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10F3B-5FB9-4903-A7B9-6F72A793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DEAB7-1FD5-4694-A946-F3AA2310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7A4EC-EBAF-4C84-82DA-B29B11A7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55B21-2129-4ED6-8DA9-F7CD815F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13C4D-16EA-4640-A579-CA92DDD9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142AA-5779-4851-BC69-EDB78478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B925A-4106-459D-B2C2-82787B3E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57DAB4-FE5C-4AC2-931A-445DAC9B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D250E-3331-446B-BB6A-8C9824E1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4C341-F13A-46A5-A850-C4D7936D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FF2ADC-162A-4809-A3AD-D80897F5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E0B24-DF82-41D6-BAB4-CD41916A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97E965-B2B0-4696-9ACB-8FA33C0C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8FE6D9-5A41-4958-8B52-CA28376D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D332D-6FF4-4D24-8194-554EBB72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127199-F339-4C63-BB00-7056DBC9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25E047-F7FE-4A0D-B07F-BEB61B4C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B79F8-B989-405A-9A62-7624293A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3688F-FCBB-4445-A401-3E165ECE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3F79FE-EB0B-4A40-B58D-AEFF347F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A8C825-BAB0-4940-8438-47529623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F5E2BC-D2FC-4DD2-A686-9FF61CE0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Handoff transfers active work, fragile services, unresolved decisions, and monitoring priorities.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1B4CF5-B092-4665-9AC0-B31BCC86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A84B6B-DF1E-4004-BEBE-118B84AD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03982B-910E-42BD-ACF6-B8318CCE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a consistent artifact so each shift can audit what changed.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9B88B-84EC-4809-B289-7AAF5396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7D3CD3-6724-497A-8E84-86E85D6A0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Escalate gaps when incoming teams cannot continue without rework.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73E192-2F51-48B9-AF66-C6720994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D606DE-AE17-4AAE-8449-EFA6DF54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50DF64-0B0B-40DE-B3A6-B78F4B46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34003B-E78B-4560-8222-D77AEE5C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9799D1-7499-43BC-9AAB-CB720BC2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425997139"/>
      </p:ext>
    </p:extLst>
  </p:cSld>
</p:sld>
</file>

<file path=ppt/slides/slide7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B7256F-96A6-448F-9394-263896D0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KPI model: MTTD, MTTR, quality, backlog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0AB43-1B8A-4734-8938-A399051D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E08273-092D-4378-8B60-815CE5B0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6F3DE-AE7A-457C-8650-A4AE834B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3C5A3-0158-4974-8555-37422CEE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5F6E8-9F99-461D-9A2A-D03AE627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B9C6A-C3ED-4942-A8BD-D477D0A0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DC676-7ACB-48DF-A3EE-076FA723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8D0D37-DE8E-401B-9B5B-731DC9BD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5EA8E4-0E94-42EE-8E3F-BAEB72AA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5F565-4904-4846-8861-C49FF36B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BC901B-D2EA-48F1-8472-E45E80D4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6BA6E-E446-4F8A-98B1-80674E71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06379F-F713-453E-84C3-EFE37601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6FDAA5-448A-4AA4-ACF5-E59CEF4F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8619A0-4DF5-4721-8EC5-89EB6077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189C38-78CD-45BA-90AA-DA0D6FFD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A59242-2AC4-4151-A34F-FC9948FC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BFAA6B-B0F4-480D-B6E0-D22325F5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4EF69A-91E6-406E-9967-6B1A74A6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AD8056-DFC5-418E-BD12-EEC04958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937678-2B41-40FD-AA3C-D0FEE2D1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D5924F-B6C0-45C7-9499-54FF01FD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Time metrics matter, but quality metrics show whether the work is trusted.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426700-86A0-4F2A-BF3D-B748B425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9B5AE-E1B9-464F-83DD-8E2E2801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Track true-positive rate, escalation quality, evidence completeness, and backlog health.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5DDC35-4E39-4DC9-B474-74EA9A2C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B8BFD1-8668-4E88-9B07-F5D235A8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metrics to decide changes, not to punish analysts.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B90E96-618E-4EF5-8197-0B6B812A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074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E899F-DA15-48BF-B080-D97297B4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8B3918-2609-45A0-AD9B-8930D211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822850673"/>
      </p:ext>
    </p:extLst>
  </p:cSld>
</p:sld>
</file>

<file path=ppt/slides/slide7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3BB220-08B4-460A-A392-6DF96B6A2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backlog 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D16174-F628-4E32-9F8B-B5A26128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6963B-FB9D-49AF-8136-0757A488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C2B0F7-EE66-4717-82CA-0A205798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EBAD1B-CDDC-4B9E-B8F7-375AA69A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EEE0C-D01E-41B6-B345-57D50262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CBD0F-90A1-47BF-A8E4-749253A9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2D0500-91B2-4C75-96CA-2026D7FA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2504F-6435-4CD0-83A0-D7551C8D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3E4C9C-89FB-462F-B6EB-C9325889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BBB5C-8C0D-4545-BB99-680EBAA7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8E883A-38BC-4CD9-8857-5EAAEAED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B659C-8C84-4887-B2B0-75441955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D6C4EC-4009-45E2-93A4-8789B608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D94DD-3C4D-4AF3-8F4A-78086503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CDB1C-42F7-4FBC-A99A-4771A7AC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ECC5A7-4F60-4127-A6D8-2FA04CEF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236BC5-921F-4862-9E47-08C9AB8B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7969BD-466B-41EC-97C9-72C55215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2A7FDB-7AB6-40A7-BDC7-87279867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4F218-97AE-444A-B228-B2FAFDB1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EFF48-13BB-455D-87FA-115ABB61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10FEB8-8752-41F1-B5E2-D03D03A1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6CEA-3C49-448B-A1AA-96228110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69746-F8A2-4B0E-BBDD-3C6333D4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5523DA-3D5D-4271-BE26-AA6BFC5B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5A5CDC-BEB3-407F-A46D-096CCD17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Backlog items need threat rationale, telemetry dependency, owner, priority, and validation plan.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994713-AF6C-4F96-9EA2-039DE8C3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A96371-A572-4593-A6D3-44593BFC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Prioritize by business risk, threat likelihood, exploitability, and detection gap.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5A6A01-72AB-448A-BE35-0F61E35E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D51B51-D32F-4680-AC72-FD82B7B3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Retire content that cannot be maintained or no longer maps to a real risk.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C80BCF-B8D7-4D66-94B1-7B4C8BE6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68897-E304-44D2-8457-B8D6E73B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099B5F-0E90-43B6-9E3F-7632255B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512707268"/>
      </p:ext>
    </p:extLst>
  </p:cSld>
</p:sld>
</file>

<file path=ppt/slides/slide7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C3B51E-3270-4C84-8E44-3371361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onboarding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F651A-E15C-4ED6-B2C9-CAE4BA51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E20279-79A7-4353-AE63-6348F86D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C9501-5027-48C0-AA74-39C315DA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BD9F5-8724-478B-A612-DBE8CD95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261D11-1EB2-4621-A5B8-C08CAE7F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C61F7-F317-4F54-A59D-10AA44B4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DC92D0-6421-41EE-8BD3-A226860A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780C5-0992-438A-88A7-A6E23C53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F9E99-ABAB-460D-8F3C-FA2D77C1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79908-FF8E-487C-8011-86F73A1E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9085E-603E-4616-87A4-D4D7CE13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72FB5-7842-49E5-8DBF-57A75888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DBFAC1-5CEA-447C-833C-C0EF7677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12201-C07F-4BFC-A130-C50350A6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D34616-3373-4B46-9798-350F0B3E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FE273-D7A5-4954-8550-9DD0265B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0C204-0F5D-4008-ABE3-2824E1A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66FF17-ECB3-4CEE-AEF8-1398AB10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7721A8-435B-4011-B61C-7669754F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6875F-D0DA-47C0-BC71-3DF80F90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9CDD16-091D-4A4F-851A-5EF7B030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CC1E8B-B476-498E-B8EC-1F54D230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Onboarding is request, owner approval, parsing, validation, use case mapping, and health monitoring.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E45B97-741C-465D-8BA6-D99A1DD0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471681-8419-448A-A778-56B315CE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65987-47BA-4CAF-85E2-B814AE86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 source is not live until queries, detections, retention, and data quality are verified.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0646B7-9C44-45D9-9000-CD350366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752D31-FC3C-4745-87FA-38A64640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Assign owners for source health and schema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FCA0FB-B09A-4F1E-925F-649DF7EB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85FDE4-249E-4CA6-BD54-6926A13C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1664BC-A6E0-42C3-84C2-C47BC3CA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076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E74E9A-3D9E-4B53-BA8D-53D8E48D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946BC7-4479-44A2-ADE7-9FC2261D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665174186"/>
      </p:ext>
    </p:extLst>
  </p:cSld>
</p:sld>
</file>

<file path=ppt/slides/slide7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3ED234-6A72-4639-AB1F-A5FF0F1C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Alert tuning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11CDB-986C-4619-B1C7-8A4170E5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C1A40-3B4F-47D5-9139-EFAC3FF6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8446-BE4F-4E98-A55D-DD2ED330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BB514-F86F-419A-B5D1-CEB16B8F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8E944-19AC-44B8-A3FD-DD9CCD20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FA5D9-1F37-44E6-816B-6AAE5905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BA0F6-3925-4832-B4B0-648D0778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42F54-E791-4A80-B217-F4324C45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0CD2A-4C48-41B7-B1D0-2BCB589A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F16A9-A9B5-4EAC-AAF1-5CBC0EFA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9286D-FEFE-4CC0-8CEC-308FE040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BAA06-6C75-4952-BFC7-B0C6ABFC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CA7AC-0930-4154-A085-B2BD9AEB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3C935C-247F-47E4-BF17-AE789961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641FB5-779B-416F-8F44-C847D8C9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257589-5019-4659-83BC-FA7CDB8F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C49692-0AF7-481C-BA14-220A0DD1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950B4-4F70-4895-A0E3-E82FCC2E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2AF1F6-8349-4858-9C68-A5023122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DBD981-5ABE-4B99-9BE3-82B59C9B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596D5C-4BE4-4A74-A1B3-39B1EFD1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28912C-0956-4138-84A8-73890E38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Tuning starts from observed false positives and missed true positives.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1EF4BC-A810-446C-9EA6-521F7D62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CCB03B-DF54-407E-AD50-63B4D4969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2B2534-C928-4A55-A6FD-F77A909D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Record before/after logic, expected impact, test cases, and rollback path.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AB00E0-E10F-488C-A3DB-285D0C34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FDC75E-2ECD-4C96-B4AA-626365D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Measure quality after deployment instead of assuming the change worked.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0D1488-C91D-4474-A335-9C40268A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31803B-227F-445C-9553-4B3C69A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6D71B4-3CDA-4DED-8542-CBE7B2E7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077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0BC16E-A6A3-43ED-9AA3-4F981363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068F58-F7F5-43A8-A81A-D0BEB7CB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623282610"/>
      </p:ext>
    </p:extLst>
  </p:cSld>
</p:sld>
</file>

<file path=ppt/slides/slide7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D6E606-4458-4DAC-B561-5C14D447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Governance cadence: daily, weekly, monthly, quarterly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424AB-211F-4732-9674-20D19FBE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7D309-5221-45A3-B994-5845955A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C8E7E3-F8E1-4996-BDA7-30C5EFED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F2C53-4236-4D9A-B82C-4E70BE54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54FF3-6311-43F3-BEAC-2E013D50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FB1BF-C180-4DCB-A178-D7F91E42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012A3-4D9C-46DA-88ED-F5294C73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464CC6-0257-4778-A703-97D85DD9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0C33B-DEFD-41F9-A569-052CF23D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7EC1E-36B8-424F-8576-00D2D63D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Daily manages active operations and incidents.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E02FE1-DC2F-4ABF-AEC4-451AE811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FF06A9-996C-4495-9072-AC8568F0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B7303-4902-4FC7-A005-94BE2017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Weekly reviews detection, telemetry, and remediation movement.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1C8510-F704-4413-AC0E-FCECAEB5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A3DD8-7270-48C7-A991-BAC3CD51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A00F66-630A-4C3A-8F67-862D9F75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052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Monthly and quarterly governance turn operational evidence into funding and risk decisions.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F8F95-9B48-40C4-BE40-E4DF2A26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978C38-0B56-4DD5-B37D-2D59992B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58DAAF-857D-4FEC-B696-821125AE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BA10A1-0AC6-4569-8F98-4BFC2E43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28328A-CC58-4BE8-8DE4-26E4A7A6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4735B1-C6A5-45B8-BF1D-CAD72F5F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8FF571-7447-4E29-BEED-0130815F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0196E2-E016-4118-84A9-280C08D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9D82F6-0221-450B-B801-69D234A3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0100B8-A258-4B5C-AF2C-173839E3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B95875-0E07-4FA4-AC38-0AB0BEE3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150109837"/>
      </p:ext>
    </p:extLst>
  </p:cSld>
</p:sld>
</file>

<file path=ppt/slides/slide7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5573B0-9939-41C5-BDF4-6B14B0C0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Control ownership and accountability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5A4B3-0C20-48CD-8773-0645E04F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A0573-1CA3-45E2-907A-9F681AB4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BC4E66-CEF2-4970-877E-5414D8FD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CFE0D-B0C6-4DDD-BD16-E5435738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835CD-E020-49A7-A087-E2E8AA8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38554A-7FA4-41D2-98DB-D91A48F9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EC880D-83FD-4FF7-ABAC-D5892540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0B2525-1968-418D-9B43-E8819C07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F305D-8CBE-4FEE-95A9-F95203E0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897169-E641-423F-B6F4-7C39A7B5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control needs business owner, technical owner, evidence owner, and escalation owner.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4DF81-75EA-46F8-822A-D64A95A4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5E691-D265-4A37-B1A6-97717287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C774F2-3205-4155-A305-A71130C2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SOC can observe control failure but may not own the fix.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086740-9A43-4DCF-B3BA-5540A9F1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76C489-4693-4875-BB1B-6727D426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C59F76-4659-4DFE-835D-6CEEC82B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Accountability is strongest when evidence and decision records point to named owners.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D9FB3F-29E7-4DE1-B9D7-ADEC47EC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B7ED85-E83A-4E3E-9312-6331C321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D5254E-A2CE-4EDE-82EC-311E53FC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BC886-DD56-4C08-BD37-2FEC10CE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0EEFA-019B-4CC0-B8A9-38C94881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B90DA2-03B9-47A5-9CAD-D03CB952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B48D5A-3B2B-49E0-92DF-ABFB6B49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C9B6C2-6E4D-42DC-A8D2-A37E8CEB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A8679A-DE55-4880-9024-FAB32128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079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86A3A7-FC28-462E-89E5-C2000467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191280-D23B-4C94-83CA-BD222B7B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070619069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735778-73D8-4240-AFC5-9F353AFC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governance operating calendar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53483-A307-4CAE-A893-9BEA97B7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DAE51-86DD-41A2-A770-4D0F59E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43140-F185-47A3-8833-D09B743C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C53C8-E081-4728-8C9A-2889C3BE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4D72C-4E42-4318-8B08-0D54CCE1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6D78F-2E40-48BD-8AF1-4046FBF0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A3079-65C6-4ADE-9985-B1164E9A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5AC3A-DB2D-4EC7-AFF0-49CD45DB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3AAC68-F1BA-4436-ADF6-B6DF15EF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E89C4-9D3B-439B-B6CA-7BCABB34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16043-CB07-457A-99B5-F4856E24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Meeting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5754E-92B0-4A2A-B59A-EBDBCEB4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ED48D-4200-4D22-8172-A74BC326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Core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56180-DE23-4329-ABFA-4E7D0D10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1B1F0A-EB09-4190-81B7-BC01C7BE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B2E3E-E444-46C6-8D3D-F1F92813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78962-3977-40BB-B933-5D3101C3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Daily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6AC00D-28BF-4AB7-B0B3-5036CB92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5535C4-DEDB-4321-9131-75B9734D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Shift/incident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71C610-E1FD-4AB9-8723-36274B7D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1110AD-0D7E-4FC4-A324-D68D1B1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Queue and decision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50A8F-F53C-4B6F-9797-FB6D3A6A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D88AD0-838D-40A9-8F49-7C3841AE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Lead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B562B6-8B6C-4902-93D3-DCE1B94B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789FD8-EE6F-4426-9500-CE715D80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Weekly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574BED-D273-451B-BA63-8CF98B11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C23E47-EE39-4A2B-B2E2-8D52B827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Detection/telemetry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EB32AC-7B61-44FB-AA0E-F163A6C35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5259A9-2782-4685-877F-C1455034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Backlog movement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3E04B5-0094-470F-8D77-9572EC4A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BEAC67-4F37-4A50-987C-9F7B40B5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746BF6-BD47-4E8B-8A54-4B9D352E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D21618-4503-40E6-8269-EB290F0C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Monthly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370DC6-40DF-4B7B-8AE6-B7B61D3B2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C45F01-17EC-41DD-A0AC-C2572C28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Governance review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A16BAC-A049-45E9-A776-8E689EAA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4DD248-97E8-4D02-81BA-FA4BECD2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Risks and actions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187E85-3871-4419-91E2-A0841C35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73B2A8-ABAD-4793-9174-87352393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5A128B-753F-49E7-B525-CC4560C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291767-047A-4D0B-A4EE-D8521274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Quarterly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D5B9DC-6C24-4313-BC31-8ED31761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981FA5-DB84-4A1A-8165-A0F23E8B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Executive/board pack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8FAD72-0D99-406C-AC28-B59C42C7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7F3760-146D-4ABF-B092-C77254D8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Funding/risk decisions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F58596-72CA-4A0D-9D4D-6F199470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0583A0-7F3F-41DC-A33E-51542835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B27D94-A864-4FB7-BB33-F0414DAD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080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800E83-05DC-4A87-8301-663AC3EB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441A3C-E81B-42BF-B040-9AFDFCA1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62865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1528940301"/>
      </p:ext>
    </p:extLst>
  </p:cSld>
</p:sld>
</file>

<file path=ppt/slides/slide8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532012-CC2E-4397-853F-4A1F5DDF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service ownership / RACI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AE5DA-E981-4AC7-92A7-22B4C0DA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1D2EC-9389-49E0-B303-1C9B771D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EEBF9-605E-4568-A0C7-33D0F92F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4C877F-CFE1-4AE8-AA88-8EA2797D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74707-BD60-4FC4-93E7-A38349C8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61EC0-3146-4A47-94FE-CED0BC0B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9D6785-35D6-49F9-A08D-CF19CFBD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0CB07-D65E-4212-9A53-D8C8FFA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68EFD-95D1-4114-B180-125498CC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EA2EE-59E0-4B2A-96F2-1BBBFF8C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22A9C1-3FC7-4F75-B62E-88E4D2DF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25FB5B-E6FB-4B71-9DAB-07DB928F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C402EC-B82D-4EE2-95E8-A2735577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Engineer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5B1A0-689C-4275-9BEB-5BA7B691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B027FB-30F0-4D5A-8BC2-DEB38C45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Business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31CB4E-FA7F-4BB1-A4FD-33015BA4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DE4C2-CE3C-49AD-B05B-28CBEED2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CISO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D1CD8A-CE36-40AA-A4AD-288AED0C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C1234-C7D3-40F0-9CE3-452CFF76C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43CABE-4985-4245-9C4A-5422DD10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592F48-1CA8-43EA-8A47-27BC1842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5211D4-9477-4947-AA92-657D0409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CEE672-A821-48EF-B560-F47DA53D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6516DE-F030-4AD0-998D-F070348F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F444BB-7781-4891-B43C-FCC7408B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E905A3-914D-49DA-8950-378CAC22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0CD2B2-0EDC-4553-B466-A2989458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9EE37B-7105-4F6A-9E7F-0F2D35A1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2B0190-FFF5-408E-8919-E6C856B4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 content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94B9EE-3FE6-4FCC-989F-B9188B15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5DECAD-2DEC-492B-9BAA-5A47A1F2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88BC72-9BF6-44EA-AD31-DF4D4C0A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E42D1E-EADE-458F-9B57-740D13EE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6DA11D-6429-4FEB-949C-42DD356A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D0EA02-B5FD-444A-B3E3-593ECF6A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65D7D1-4A28-402D-985F-D8778EE7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20ECBB-43F2-4AF7-8FD1-06010BB3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3080786-5D92-4212-AB9D-643B6330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A21535-74BC-4C47-AD97-CFAC68F2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Containment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1583EF3-B2AC-4159-9C15-4FDA220D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A67DB2-CF5F-481D-9E93-CF4BD88F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3E32C7-37E6-445F-B69E-7AA603E8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FB908-E9EF-4342-8FDC-28EFA4F8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AAB4B0-7597-4731-AF9A-517DD8D0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9F97729-1AEF-4B75-88D5-AFDA10A9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A/R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CDEE07-2C5B-44A3-93EA-64946DC4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B38B46F-ACC4-4D91-BD8D-B9CBB228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0B4610-818D-478E-A3A1-8D2738B6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227DA1-62B2-4822-90F0-ECC489F1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External comms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8F4577-9B2D-40AA-B72C-B2499C97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C86E2E-BD36-48B3-9960-25F7AEA5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29207A-25B9-460A-B436-BDD61F6E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C937BB-54F4-441C-AF41-50927B1E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974D0D-CE0B-40DA-984D-03CEEC58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DFE418D-52C6-4A90-A7D9-0006B073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FA312B7-E07B-4D6B-8247-A6FEFD01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3CB5534-752B-4A55-B726-EE01A4EE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BA949D-E0A1-4D32-8B5C-A73B2DAD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081 / 142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EAA36C8-43FA-4A45-970B-B15BDD74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75B772-8312-459C-85E8-41AE89E7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62865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2070702993"/>
      </p:ext>
    </p:extLst>
  </p:cSld>
</p:sld>
</file>

<file path=ppt/slides/slide8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121D4F-017B-4212-AB84-62DAF090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map your operating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8318A2-E02F-4490-823C-DEE28D01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82237-E02B-428C-A79A-9AD63976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AC97E-2ACD-4EA3-B3F2-8A947921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87A36-3E8C-4792-94D7-506E98AD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78E24-1764-4236-9685-CB1D19B3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413B8-55D7-41E1-BF90-7A099C62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44C29-0DAA-4248-934D-DA78D9197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 queue item becomes an investigation with multiple owners and open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B5985-8C5F-427A-988A-24505594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94FFF-1ACE-416C-97DF-8CE3E476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846E3-58B7-4D5F-9810-00879BA0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5F08F-E1EA-4524-B75F-A1AA80EE7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234A2E-EA8A-4936-ADD0-264F3CA6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CE86B7-EE82-4B14-B4BE-25525DE9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E7721A-79A7-4A2D-8CDB-62B07404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BD42E2-CF8F-4602-A8CF-01BEC552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B6EE13-4837-492F-8040-D8BEB9BF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2079CE-BC38-423A-B4A6-A32D63A1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51A05-605B-49A8-8F15-D1706D03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D577BA-C80A-4841-98F7-4DDC516D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A6647-D184-4A8E-AD87-EA1A42EB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488F5A-58BD-43F8-9D18-1171ED48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048B79-6818-42CA-A951-E7511080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AF1B92-36B3-499A-AFC3-4F61FB24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C2F11F-BBF8-4A76-90AC-A934B833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8BA788-BCB4-4886-AC93-1BCF9115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D6089F-55EF-403E-A256-4F449C66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2FC318-9C9B-4D12-B138-E2B1FFC6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B2699-FB73-4140-AC1A-1CF75FE4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18F32E-5A23-4794-9D6B-1CEF7C06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3CBDF1-FD9B-4A42-B57B-CC4D992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D1BDEE-29A1-4937-B46C-A6D4DF3A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1F09A4-CC31-4E5D-B69D-D4DD2704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082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1D6652-56C4-452F-BA48-2FE5A795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3159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SOC Operations and Governance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3F71A5-1137-46AB-8EC2-823A8BDE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9550" y="9601200"/>
            <a:ext cx="20574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06_Operations_Management</a:t>
            </a:r>
          </a:p>
        </p:txBody>
      </p:sp>
    </p:spTree>
    <p:extLst>
      <p:ext uri="{BB962C8B-B14F-4D97-AF65-F5344CB8AC3E}">
        <p14:creationId xmlns:p14="http://schemas.microsoft.com/office/powerpoint/2010/main" val="482509176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61D40C-56D4-4507-95BD-447BDF0B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C9B4B-E657-4A3D-B703-01D5F12B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083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47CAE-A4F4-4878-BBDF-9AD7C2E8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DETECT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E9363-4ED7-4D36-9B25-BF55C26C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77C27-8FCA-4F84-A5DA-B927BD48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Manage coverage as a lifecycle, not a rule list.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A73E9-29EA-4C2D-99AC-518C032E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90E7B-B3CE-4B86-B75E-1519010C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63532A-C97C-4306-AD38-12DE3EE0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EC7F30-47C0-49E2-8C7A-79D9CC54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engineering mission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880883-87B0-4CB2-82FF-70A5EA6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2CDB4-B87D-49F5-819C-BF3FA5CC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C36100-58BA-43B6-8E7E-EA5BBAF4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84BF6-F167-4510-B42E-B2FCA93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7B8185-704C-469D-BC73-E007042A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81543A-5B00-42D6-8490-B5C1448B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3325C-2B7F-441A-AEC2-AB35626B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FCCBFF-0836-481B-B715-3F7550E0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Detection engineering converts risk hypotheses into tested, maintainable monitoring content.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18C45C-7A50-4567-93A0-0BF5AA20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B7657D-EF9B-4B39-B9F2-5ACB3AFC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9DF268-BEDC-4C69-8AFC-6691E1E9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ties telemetry, rule logic, validation, tuning, and playbooks together.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7FE489-63EA-40C5-9F6F-F6A5809D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2824F4-5877-40A2-8963-16FAA2DC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56AE3D-8696-4330-A8A6-567313C9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Its output is reliable coverage, not just more rules.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DC7CF2-9AB8-40FC-B20E-BFCF3FA1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164DB-F261-4C77-ABED-A98B0290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22BA2-B8AB-4461-8566-FA6E7264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8AF431-AFE7-4283-89C5-CE330605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197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256E8E-AEA4-40FB-AB44-5D5499EA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619750"/>
            <a:ext cx="71056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1D299C-C3EF-445E-BFFA-59C62E1A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561975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993059617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FA3CB7-5F1F-415A-AFE8-919382F6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Use case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E84AB-1146-47F2-A05C-C46E196B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9E5D7-AC98-487E-ACF1-2960A259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F7C5B-B85A-4354-8731-0B165809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F31C4-BA6B-476A-AEB6-46750508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469A3-96B4-4D79-B2DE-EA462AE1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5D4FD-9737-4499-92B4-8FDC5140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2EB40-A6FB-4D8F-824B-B5E922DE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966F7-FDAE-4898-BA08-93E0E7DF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6245B-05F6-4410-A366-C205C685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8C379F-843C-4104-9803-24C09CCB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517DF-364E-4EA5-8696-96633B7D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1AF3B4-8D71-43FE-834D-DF941F7F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50B42-B4EE-49CA-98E3-B7B3E19C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74AB5-5572-44C1-BDC3-B9B1C89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CAE611-AD49-40B9-AE09-E8FCB2F8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B0E33A-0DC6-4C83-BDBE-55DFF6FB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BA636-A798-4142-89E5-79BFA01D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5D16E-456F-439C-8DEE-4269776D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81C134-0989-422A-AF77-1ABB9E61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6B16B5-7A9F-49F8-A272-07FDC435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47EC0-FA97-4DE0-8EF6-CB75EABB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DC9ED2-F7D6-48D3-9447-F7B6302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Start with threat or business risk, then define data, logic, test, owner, and response.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F59D5A-ACDA-4429-9353-76196620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E899BC-AA3D-451B-9E0B-30678AA7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CD72D-90EF-47DB-B375-E4B3B839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Promote only after validation with representative events and false-positive review.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5FE843-2408-49F6-81B4-7F763B8A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F6FDC4-803F-4972-87A1-CD79F091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Review regularly for telemetry drift, attacker changes, and business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590938-8236-47DA-A794-A0E1DFBE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40493C-5BC0-47FD-9FA1-F80D1FAF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6841A7-6353-46D5-9670-303C2243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0BC150-0D84-4CE2-8645-1DCDD1DC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EF7B01-4D46-4E01-B79E-1CE5784A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666629531"/>
      </p:ext>
    </p:extLst>
  </p:cSld>
</p:sld>
</file>

<file path=ppt/slides/slide8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434DBE-48AF-4344-8048-C702353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Mapping to ATT&amp;CK and business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2BC56-192F-4ADE-92AD-DA6EA226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23032-0C5E-4652-A8E9-BC8D65D1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A6BD5-92A4-4016-A1D8-41F43B791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F5452-7718-4F36-BEEE-4C84BA6A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20177-AF6B-4A6E-9A67-45ACF0E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79BE2E-B4B4-46A0-AB76-12A4C513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F7800-DA17-42DE-BAFC-8D001D72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8FECB-08AE-4E6B-A07A-72CBCD13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AD6A0-57E4-475C-B069-48CD0062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8DDA5F-8AE9-4F5D-B441-AFFE4AFB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ATT&amp;CK gives technique language; business risk gives prioritization.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5E33B-64D1-4F90-990B-9F1A1B54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85D41-31BB-4C32-9CF4-FA378ADA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8DCF9-237C-42CB-AE5C-ED790B27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 detection should state which behavior it observes and why the organization cares.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B1FAB-A725-4110-8501-AC955D6F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054EE-A376-449F-BD0F-374A67BC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1A47F7-2282-4A14-9AF2-FDF56EC9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Coverage heatmaps are useful only when telemetry and response quality are also known.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FB678-DE7F-4B74-9B18-BF66786F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E577C-3C97-4516-A5DE-1253034E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6CF554-9000-4657-B247-8A43B49E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B99806-0735-4672-BD33-648A7E69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8C7851-08AA-4DED-8CA2-2A21A244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B1256-E930-4B66-B6F1-C58F4CA0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C604B5-5D05-468B-ABAB-BBFF6DAE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48F8FF-A410-49D0-896E-C3366BBA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EC2B47-7C03-4E30-85B6-38007FBA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AA76B6-EF46-46E7-9B01-A6B3AD31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159DB-5352-4196-A79D-CA21A9FC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671091301"/>
      </p:ext>
    </p:extLst>
  </p:cSld>
</p:sld>
</file>

<file path=ppt/slides/slide8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7A1125-CF16-4948-8649-D86363AB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Telemetry dependency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D4BB8-E622-4530-B5BE-FAB0822B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5DCBE-3E26-4F16-B922-B2D8B8B9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9C663-721B-4CEF-9F91-E94811A9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F2E17-6A61-4D73-B461-25B73ED0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7ADC0-D256-4E00-9C64-75C47F69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C0228F-5030-49CC-A762-54058F19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A23E6-4EE8-4A23-9291-8C5B95BB3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78829-00E0-4FB8-8E65-4218F83A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C7326-0531-46DA-B034-1DB5BD07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12C01-70A7-4916-93BF-5C8351D0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36CE9-4E01-4940-8C3E-40B61FDC0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3554C-57D6-4396-8FC0-CE5FA154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B8288-494B-4025-B20F-66477EB9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31A9B7-CA2A-44DD-81F9-3FEF196E7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A969DA-DA0F-4AC9-BB64-ED2390F9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7C730-9AF7-4F84-AB74-8431E6F1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DF662-A374-4862-9157-A0976026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CE3A48-3955-4184-B136-FA93EE5F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1F9341-5771-4FFD-8661-37E3144E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4FADC0-F894-47F7-A8E1-1DB8D7D5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8D5403-F69D-4CEA-A273-0AA20BD7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5ED8F2-F970-4838-B8AC-9EBAA8A3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 detection is only as strong as the source, parser, retention, and context behind it.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7D4007-709D-4EBB-8957-C27A8407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F0442-7663-4F8B-A03B-CED874E4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E1C472-06CF-4241-B82E-16CCB46D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Document required fields and expected event volume before production.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03B0F6-2993-4D4A-9903-10C6FCD7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DDE0AB-A91A-4530-87BD-F1F6B729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Missing telemetry should create an engineering backlog item, not silent failure.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FA11F0-3DF1-42DF-B03A-E7A4E05D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449EA3-3042-4A20-9984-F3A6A3D9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876064-2E05-42DB-9D31-D40EB50E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086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6D3A31-99F0-4066-A954-BC21CDDF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F66D22-DA7A-4C3B-B196-BDC5BC7F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2046659706"/>
      </p:ext>
    </p:extLst>
  </p:cSld>
</p:sld>
</file>

<file path=ppt/slides/slide8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0A76BA-846E-4B5E-8862-8DC60C33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Sigma and YARA in the 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8B564-8ECE-487C-9414-EDED611E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515EF-714D-4466-AEF5-BE8745DE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3C6F5F-90DE-4C7A-B50F-2AB41C5C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D417A-E533-48A2-B6B6-A500B511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1D230-F438-46F6-96C7-F38E0415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6909A-F8BB-4EB2-8543-A6DB42EF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7A58D-877B-47B5-BD40-ADFAC518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9EF6E2-35B5-4729-808B-5CC78566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3FA2A5-3252-458E-A0A1-7A899B12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F7020-5459-4081-B4C7-B818A705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2BD58A-4BE7-4F18-B6C0-405038FA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FB723-4C91-453F-8A20-05CC1573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0DF12-3FFD-4952-A435-9F2A3A36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C215EA-B5E0-4B0D-8E4A-6869BF33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FA2784-CCE3-454F-A35D-38861AD5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BA9A3-E59A-4B80-964B-6700C37F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FC032-3CB1-4B84-95EE-C7DC6B8B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15EFDE-5356-4178-83F1-1E882087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016C4D-5442-406E-9BC1-A3E0A887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33A594-65DC-4ECE-ACDF-7B05A39E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6DBCB8-F0C5-4AC3-8608-88A27758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6EBE11-7657-4872-95E0-13DF6C18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Sigma expresses log detections in a portable way; YARA expresses file or malware signatures.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B810E2-DEB3-48D2-8463-EA5F9DB5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2FFBB-523E-43AB-BA78-3CDC90E3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5F395E-A72B-4878-8663-1B3347E3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Both need local validation before production use.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EB1465-7E89-48B6-A3CF-76694915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ACBFE7-A498-49F5-95D8-790515E7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Rules should link to playbooks, severity, owner, and test cases.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7479F9-23B7-435A-9065-9ABD28D3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9AB7F4-8832-46E4-89D4-456A0A87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2F5616-FC1E-4C9D-AEF1-B1A194D9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087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3481EA-773D-4B3E-A152-A0FDFB2B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FAD49D-F3D3-47D8-BADF-BBA61AB5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129612209"/>
      </p:ext>
    </p:extLst>
  </p:cSld>
</p:sld>
</file>

<file path=ppt/slides/slide8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2E450A-B8E0-432B-BF95-67026930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content quality attributes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37224-293D-45EB-B866-E3168786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C6072-E409-4D43-AEFC-8F107861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345F4-557F-412A-97AB-752F49DD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2F62E-026A-443C-BC86-2BBF9560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D3BD2-B2A9-48D0-841C-F76EF67C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2C2CE-5130-43EC-A242-17A15472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9D59E-6308-4AD5-8099-DB24528C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BFB95-531D-4AD6-B18C-02260EF8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06138D-2DBC-4F14-9000-570A7F4F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5D7CF-E719-4B81-BF7B-282C5E26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Good content is specific, explainable, testable, maintainable, and mapped to response.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9D18BB-F6C4-4F3B-883D-2220596C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9BFE09-91A5-4CE3-A858-C5C46B05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54FE01-FCEF-448A-925F-0514D2E0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includes tuning guidance, evidence fields, and known false positives.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B59BD8-D0A3-4608-906F-9A597D3B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B195F-5C3E-40B4-B960-4A7AA82B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C35EEF-4DCC-42CC-8884-6B68C0E6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It avoids opaque logic that analysts cannot defend during incidents.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127AB-582A-455F-84F8-E31509EA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98E3E6-C0D9-49E0-ACE2-1A102648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B8ACB1-65C2-4977-8A06-7D0D5DFC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2C20ED-357B-4DFB-80F9-60201249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FEAF85-EF8A-4622-A7DF-27325029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A4A4DA-BE61-4145-B82E-514C0EDE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38961E-AFC3-4CFB-A528-CB807D23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026F33-780D-4A41-B2A8-8F906DBE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F1CF52-9DFA-45BC-ADBF-3C89D092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E1149-5E69-4F08-8B6F-422C894C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B08AFC-8258-48E1-82C7-C35EEB62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900869782"/>
      </p:ext>
    </p:extLst>
  </p:cSld>
</p:sld>
</file>

<file path=ppt/slides/slide8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66CB577-E7DB-4912-A126-9F50103C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False positive reduction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63170-0AC6-4ED0-A589-F9DEEA9F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45E58-837B-4F35-95AE-4D945322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8737C0-482F-4151-8EC0-6F2DD55C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989E4-4E4E-4B84-AEDB-5E435EDA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83DC4-94FA-46D1-B161-F709C979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69BCC-3D76-4E96-A9D2-26B63448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E998C-BA1F-4EBE-B9A3-21CAB333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8A507-9ED6-470F-830D-72BAFE88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10D70-A78F-4F43-B262-9888E820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1887B-5556-40BE-BF75-F911C83B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Classify why the alert fired and why it was not actionable.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3400BF-862B-4BB4-811E-3B9B6306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37BBD-33F5-4879-8BFF-75B4ACA8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7A8C9-5641-4DB7-A6A9-DF8F222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Tune with allowlists, thresholds, context, suppression, or logic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D9AA5-AC6E-47C7-9546-534CEFD5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B755C8-5750-44CA-9250-091F8F77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D2B179-24E0-4B9F-BE5F-6478F9D4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Re-test against true-positive scenarios before closing the tuning item.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C3675D-6BF1-410F-BA05-236F6F6F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64504B-42AE-4D96-8CD7-E4912E22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5F72E0-849D-4EBA-BDED-698316CE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9E3301-9C4D-4658-B889-DE8AF26F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4DFEED-3763-4EEA-B331-917E14D8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8A248-4B48-464A-AA0E-711BB4C6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CEC997-A3EC-4C08-B2A5-D95F03CB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86D99B-9613-424B-9245-0F526FA0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8B874C-E585-4205-8DC2-B55B39C5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089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ABC8F6-F051-461D-9A20-2F545867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472BB-B33E-40FF-8782-A3404E69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434701006"/>
      </p:ext>
    </p:extLst>
  </p:cSld>
</p:sld>
</file>

<file path=ppt/slides/slide9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66E771-1198-4385-949E-B96FE6A4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Coverage matrix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D683F-4C21-41BF-92E3-CBEA8309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92AF7-0ADF-4952-9B1D-BEB4BBD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FF288-E2A3-41B2-877E-7AFE6A37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391DE7-203E-46C7-A523-CAB7F18F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F4F463-A5CE-47AB-8E32-A5B0168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7B20F-DF20-4941-A898-4A9ADA4A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235F3-D6B7-413E-BA11-CF2A2183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F7A29A-D060-48CF-B17C-097E042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A8426-E95E-4C67-8131-783A177E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FDF81-297B-4DC6-9777-E82BC28B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65BA7-1F02-4B78-9891-CE03D3D1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33584-21BE-4A23-8AC0-15570EEA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FFAA1-81F8-45C4-AB24-B9998D68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E864C-AFE6-4EF9-B874-93CF810B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4A833-ED9D-436F-97D6-32FD4142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379A5-F0FB-4F08-8478-ECBB2739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F306B-ACED-4EED-AE5B-D1E45A9C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0140F-8092-4382-BEB6-CA4B604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040130-D73A-4748-B0C1-33277ADF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77313-09F4-413F-976B-07E5DE71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EF0BDA-285B-4BE3-8C0E-59F761D7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96897E-3E5F-4E35-AB5D-BD64102B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DE4C2D-ACDF-4732-98F4-C8DF7398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932870-441A-4693-B1A0-A37C03E9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A82202-3771-4667-BBB6-6ACB5599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D06F1B-AE2F-4DC8-A093-4E871BA3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Coverage is a matrix of risk, technique, telemetry, detection, playbook, and owner.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597514-B786-4732-B6D8-E82D2269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D8D53-49ED-47AD-AE09-AA4D0E6B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reveals where monitoring exists but response is weak.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DBB958-23EB-4046-9720-96FEBF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0297D4-21ED-4664-AECC-1A27FBC2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It also reveals where response exists but telemetry is absent.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3CAC71-40A2-45BC-9CF4-F504549C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97523D-8610-4127-8695-B833DA9E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71480-E35B-41AB-AFA2-E9C754E5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284379087"/>
      </p:ext>
    </p:extLst>
  </p:cSld>
</p:sld>
</file>

<file path=ppt/slides/slide9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BFF90B-CBB9-47D2-A44A-2B547D6B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Prioritizing detections by threat and asset value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467AF-5219-4564-85E2-8820F027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3B727-A13D-429A-99C2-F00A3FF3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6C318-DCDA-493D-97E4-2F54C5C7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3C42A-4167-421D-8317-3391654C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EB375-F3A1-4A78-816E-A23E32E0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07E42-9D0E-439A-9F8B-985B3CCE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CC85E3-36D5-41ED-BC32-1BB8D518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C00E9-3727-481C-A3FC-AA1415EC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3841B0-BA63-4913-BE5D-D2461CA7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76E74-F2D4-4E64-BAEC-CD6BC2D1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Start with high-impact assets, likely attack paths, and recent incident lessons.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0ED859-A341-4C6E-9BE6-804F6DEB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296DF-455E-4877-9AAB-20802947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31B28-BE24-420B-B69B-ADC8EAA9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Rank content by risk reduction, data availability, build effort, and analyst load.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6C52BC-79BB-4AE5-B24E-2C57751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B390E-F487-4E0E-B8D9-36244A5D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6C583-9608-452A-A9CA-B4717B16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Avoid building low-signal detections because a framework cell looks empty.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640C6-1FDC-4604-A4DF-97364A89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9A50BD-05BB-4B21-8A68-A5257C17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C47C84-1D67-481E-8155-55F34FB3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25B8DC-9CDE-461C-9A3C-992AE7D4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B439B-A33F-479F-B4DE-7309684F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CE96F7-CCE3-4436-8F9E-7A6C9A42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2ABCA-F4ED-44B6-9935-680BB7654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0C073F-130D-4C16-9AB9-E799B93A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4F9B1F-2FE5-4272-B0DA-3CC3A0BB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091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50990E-E98B-49BF-A377-3574F35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C38D0A-486E-47D8-AD4F-929C7349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248424495"/>
      </p:ext>
    </p:extLst>
  </p:cSld>
</p:sld>
</file>

<file path=ppt/slides/slide9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EC2C3D-B332-46E4-969D-ED2DDD9B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Detection testing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C45E0-19AC-4334-AFE1-3132B035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9A068-5506-4594-830B-1BF1190D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99BE9-920E-48A0-B2A9-1A4EF5F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71D7D-20E6-45AB-BA53-D411002C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00CEF-5EA3-4CE7-B800-B224DF1D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4E3A2-9BF6-4CEB-A099-DEF31B53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58D6E-0CBD-4BCB-9787-6D99C32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03475-42F2-49A7-925A-6C0B46B0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60674-A900-4279-A1BC-F14A1EF4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A9503B-908F-45BC-82EE-11DBD413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Test with controlled simulations, historical data, and expected false-positive examples.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6C81B-9270-42C7-BC77-EEA83A11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DE0635-2E4A-4FF7-8639-B9328B95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879D6-8E59-4C2F-9522-76D6403D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Validate alert fields, severity, routing, playbook link, and evidence usefulness.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6107F-DEE6-4B0F-9119-2F85CFB1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9EC46-E7EA-4B8E-9B10-F08B75BD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7FEE6-71E3-4F36-AEC1-55230179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Keep test evidence so auditors and managers can see coverage is real.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3F5D7C-8976-42A8-8501-10FF21EE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DC63F-4F36-478F-8DFD-D68D0E4D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A6B359-3786-4D70-B028-FD3B88AD9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96CA07-C338-46AB-A197-1FA73A52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AC5FA-4015-4B1B-A8A9-E1A6AC36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D6FB27-22B1-48C9-B765-EF104898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E26A20-B51E-499C-AA16-887CD751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F8B1EA-DD71-4A02-8D49-9870536D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865738-DED7-45F7-9449-CAFDAD54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80D0FA-C660-44C1-9EBB-473E9167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2D52F7-C79E-4C88-BE8B-304CE86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504665272"/>
      </p:ext>
    </p:extLst>
  </p:cSld>
</p:sld>
</file>

<file path=ppt/slides/slide9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8A1921-CF75-4B90-99BA-0B59E1F7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Promotion workflow: idea to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39EE54-2C56-4F24-80F9-B6B39534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A4ADFC-0FF6-4D95-B30A-51A276CA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155CA-4B52-442E-8F64-3CCEB750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A233E-933D-41FE-9BA7-31AE1886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E9872-165C-40D1-B7E5-69140405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8DBC4-4227-4C14-917F-CD66BB5A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D7925-6EBC-4265-8486-3B962EA5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7BFA2-405B-4CFF-94AF-C74A579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ED635-F6EF-4A5F-8B8A-6A415C213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A6A15-AD2B-44E3-89B4-BD6AFAA8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23B75-F0BB-4DB4-912C-A34EEAA6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C6ED9F-B562-4FDE-A2EF-C32BCF14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C25AD8-76CE-4FDD-A799-593B65E4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B2A251-A688-4513-839D-84FFA26A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FD6605-CF68-4F27-B2D5-FF2E06F5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8342A-5FF6-4C21-9D12-8F8DDA6C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2265C6-0D55-4045-9257-254AE0B6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5A3665-3787-46E0-BABB-5E9131A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0DA87-3A18-46C0-A298-53B6483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2AAB-68CC-42CA-B53C-F2C4E913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05539-A818-48CA-9916-E600B19A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96AED-026A-4C6D-9AD1-30EDF79E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Idea, design, data validation, test, peer review, staged release, monitoring, and review.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9EB118-AC89-4771-8809-10BF1139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DABE57-80A8-40A2-83B5-F195FFF2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590AC8-8A09-4663-8355-FFE9F1A9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Every production rule needs owner and rollback path.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8ABA65-AE6F-4A4F-A319-59C50888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5AC798-3106-4E2E-8535-4A7C155A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Major logic changes should be reviewed like code changes.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D198E7-B8FB-4A1D-95FB-3F2A1BC1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E66CFA-0E6A-4B99-8DC2-73429C92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AFDB3A-A1F5-4665-9016-35D36D7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F2FC6F-F2C1-4E3F-B372-5C086369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767D90-FD91-47CA-84CE-D06137A9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936428230"/>
      </p:ext>
    </p:extLst>
  </p:cSld>
</p:sld>
</file>

<file path=ppt/slides/slide9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4AB8DA-50A8-4EC2-B477-04FD4F2F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sample use case hierarchy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10629-65AF-4175-AC33-4508F25E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5CC8D-0FD7-422A-BC26-FB437823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831A8-277D-49B1-823E-1E38E3B1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6E6E5-F0BD-4F94-A022-73EF9E30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ED1F8-D74C-4EE9-B723-B54A0CED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523FE-3526-46FC-807A-9533200B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A5CE3-C92A-478F-ABCF-4AF248E0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4D29A-F21F-49E0-9477-18E13196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86A01-BCEF-4BBF-A827-233BB116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Level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3D2D65-A28D-40B1-BBF2-5E1D56C5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8A9C5-F1E7-4106-AE11-4069184D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Example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D9566-06D5-47C6-8919-6B030EF9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AA6B04-ED84-4D3C-86C0-74DFF1C3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03B39-C11A-4485-9A67-9040A187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A0201-5B5D-42E6-B2E2-36A44837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ED10A1-1BA3-4141-8093-661459373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8297C-63E1-44AF-ACD8-F3D8E247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takeover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84CC7-D62D-4AF7-B5F9-47BFACD4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BB71C-CDBC-4304-AB3B-7E30F50E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Why it matters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A6B1ED-F373-4E07-BA73-A851C84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CF7EFA-8A59-4029-A08F-773EB2104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Technique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538E9-9BFD-4174-A87C-514F3FA4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464B20-59CB-4EEA-B945-B7F22324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Brute force / token theft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CACA88-FEEF-47F5-AA27-399076EA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9FF307-4A98-4C95-A0ED-C41E8CEA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behavior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D9B576-3620-48E2-9AFF-2B9C6B94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E61DDB-315B-4492-902A-FB0C4AD2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D81616-AA5F-47B1-A899-4C791F68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C88730-C005-4EE6-8CB9-AD24153B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Unusual login sequence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64626D-2A47-435B-A88F-EAF1A316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817900-4D62-4DA1-B654-A48AE58A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fires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6310DF-40FB-4309-B8C4-264DFABC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69CD0E-30C7-4161-A360-401CC1AC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Playbook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8CDB4D-B989-4066-B063-02B53974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D171A5-63FD-4CAE-BE73-FD7BAA3B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compromise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0E9E36-C547-4901-B9FB-86932D92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6F00DA-18B9-4179-99B7-1B74D2A2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What to do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F161BC-9819-46AF-B3E9-6FD57684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094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0F3EFB-901C-43AD-8FF9-A2F49BE3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4E4E5B-E384-4F05-9E4B-F990819F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2865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893080122"/>
      </p:ext>
    </p:extLst>
  </p:cSld>
</p:sld>
</file>

<file path=ppt/slides/slide9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DA197D-00CE-443F-819E-0280204F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sample coverage matrix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DF7E20-50A1-4030-81ED-168E09C0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A74245-9260-4841-BDC6-DD1F66C6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C667CD-1F07-458C-8F25-525C05D8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432EF-7443-4509-A60E-FEC51673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D613C-4B16-4884-993E-F99A432E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ECAB71-CD10-4925-8E63-18436ACE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508FD-1267-432A-B9FB-58054B49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AA526-35B3-4E5E-8A96-E3555367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61F15-74FC-44D8-A5A5-A6204046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Threat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6E1F5-5B17-4153-B479-C32C0C3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C1C94-8F3E-4FBF-95D7-218CDF33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Telemetry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7F39E-3A34-4D96-A1A8-C4247B0D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53523-8739-467C-9021-3222443C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Detection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C4B2B-D45B-44C9-AB01-C9A131D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9717E6-6DB4-402E-BC7F-0AC349AA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Playbook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3F03BB-96B8-4804-A2EC-270FFE6C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324100"/>
            <a:ext cx="325374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595B20-79E2-48AE-8BC5-20627F72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438400"/>
            <a:ext cx="2952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Gap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BD44A6-E626-4806-B7F0-80E9D41C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5DF78-6B30-4D8B-8E22-CB1864EE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Phishing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5B1E82-1B94-4FBD-B8AF-0661C1AA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92F88-EB98-48EC-BFD1-5D96E5BD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Email, endpoint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7BC055-D2B4-404F-92DD-BCF5D28E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8013A8-8572-44D2-8D27-BC828039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Attachment + URL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8013EE-5CA8-470F-845D-C47F9ED5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ECD9FA-FB12-47E0-9674-37FEC613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F567D-8001-4684-B4ED-E6B67D01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29337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D6670-657C-43F8-86AE-EC2E43CE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0480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User report 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5BEF17-7531-458A-B3E8-61508F32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3AD62D-DF3E-435B-97A0-9F94F9C8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Ransomware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06CC6B-E0F3-47AA-B4A1-6BB8047C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F4446C-F6FC-47DB-9FCE-46B43217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Endpoint, 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3303F2-B44E-4C13-838E-889FDCD8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CEFDF4-8DA8-40D7-9FFC-08212913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Bulk rename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45C98D-6C5D-4C4B-B429-1B6E994F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6627D6-61FE-4CAB-907A-8BA172D1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8AF17D-A60A-445E-B8D0-98CCAC14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37338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4729C2-C80A-447A-B664-A8DF0770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8481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Backup status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1244DA-DC5A-4928-B86B-458E9435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5694B7-6B12-4E09-9A8A-5C0225CD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Account takeover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1E3004-B6F4-43BD-BD17-B019539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A8A118-1A7C-4890-809B-A6D2E684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Identity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9C4608-8E62-44CE-AB29-646FEB9E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F2DA7-F2A4-40C0-9050-6F639F1E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Impossible travel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0675C8-F9A7-4D9B-97A8-95F38661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F71BF8B-D5E0-4F7E-9D85-7F1D2A12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FBEB43-8A5F-42B2-BD61-2E3452C2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45339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9C8969-7545-40F6-A7BC-21C3A8F6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6482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SaaS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CFC2DF-AC01-41D4-A826-C05C13C2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EE1585-7EE9-4264-B450-B7654D87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Exfiltration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3F44808-CECC-490F-A421-F16CC696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909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C95D0E3-5ABA-4449-8DCF-65AEC1C1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Proxy, DLP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74578D-6144-4CDD-817D-B2898F2A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13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6F18CB-C16D-496C-9D7E-54D2EDD4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Large upload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ECE1BDD-ED29-48DC-A50D-E08726CA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517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F77F41-B4F5-46BA-9EFC-8A73C94C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PB-08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A44268-5CD3-469C-9F33-65846622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210" y="5334000"/>
            <a:ext cx="325374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EBB24D-5EC8-41D3-8212-7CE92B06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448300"/>
            <a:ext cx="2952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Data class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18F8F1C-7DFE-479C-B2A9-8D85FB1E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095 / 142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4D15F56-F5B5-4504-9837-E851B0B7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11532FA-7906-4AE8-BEE5-A463632E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2865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751922646"/>
      </p:ext>
    </p:extLst>
  </p:cSld>
</p:sld>
</file>

<file path=ppt/slides/slide9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33EE56-1806-4C7B-A090-D4A2868E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identify coverage gaps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2DD8D-F7EA-4153-92D4-BEC073D5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072B6-CB3F-4B67-9E13-E6C4C23E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3D90A-5A2D-4E3E-9B38-392A7279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C1CAE-856E-42CE-B6AE-27587678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8D6FA-182E-4671-BB0F-DBBC17B2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C0B67-8F92-4A5E-B88A-A1B2FBAB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95706-3D0E-4DE0-93AC-79B1606F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The likely attack path is credential stuffing followed by valid-session abuse.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7E2D6-533C-40BD-BAED-7C2532D2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4B3DF2-AF4E-4B4F-B5A2-F3E87549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D7C66"/>
                </a:solidFill>
              </a:defRPr>
            </a:pPr>
            <a:r>
              <a:rPr sz="1200" b="1">
                <a:solidFill>
                  <a:srgbClr val="0D7C66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C85EB1-5FA5-4BD8-ADE6-1C149EC9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C369C-273B-4719-9500-3B66C300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5B291F-4B73-44F6-81B1-B2A5C5EF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24F9C-87C3-4E66-BFD2-196B8D1D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310DF-F7E9-4D7C-92A7-E083BA1E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AD1E9C-367F-4B0F-BED9-AE9CED3E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30D77-4AAC-415B-8EA7-C685DA50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FB300-C70A-424C-8B59-0D11A669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0F8E9B-F545-4FF3-AAFB-552A5C8A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75ACDB-D448-4E87-BEA3-A2B9C654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C81180-FD85-4A2F-AA3B-0BFE746B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D885D4-4033-4FEE-840E-48F633D8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4CF3DD-AF10-47C3-A50C-208BB142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38EFA-29A8-4337-88B7-0A4D4AF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D70A7F-CBD2-4D14-B7CC-52906B1F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3416E6-CCF8-4427-9A82-1036C903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C9D17D-3E70-44F4-A7CA-F53D512E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96BC8C-011D-4377-B0ED-1E7DC9F1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7101C4-C36A-4B62-B465-515EE8C5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4C00C6-2B31-48B2-9E6C-27BEFA80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DE7E4-9CA3-45C4-A55F-9BC54E53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A87A52-A200-433D-AFC1-3A772E8B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D1CEF5-1F8A-4821-8607-11DAD2A8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096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C044DD-C3EB-4643-BE20-77940711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34683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Detection Engineering and Coverage Management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457C09-98E7-44CA-8908-9463A909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9486900"/>
            <a:ext cx="190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08_Detection_Engineering</a:t>
            </a:r>
          </a:p>
        </p:txBody>
      </p:sp>
    </p:spTree>
    <p:extLst>
      <p:ext uri="{BB962C8B-B14F-4D97-AF65-F5344CB8AC3E}">
        <p14:creationId xmlns:p14="http://schemas.microsoft.com/office/powerpoint/2010/main" val="1214193569"/>
      </p:ext>
    </p:extLst>
  </p:cSld>
</p:sld>
</file>

<file path=ppt/slides/slide9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0A7DB7-469B-43D2-ADA2-E12B7338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DF78CD-551D-404C-AAF0-5DF6DC4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097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C4219-B0C2-4ECD-BED4-9AC0E432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RESPOND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D7A2D-DC12-40D0-AAD0-66436F40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580B2D-5355-4751-A946-D4FC2E09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Make containment, evidence, and recovery decisions under pressure.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CBCB1-E3B9-411F-960F-02569505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BA9119-9FD9-4852-8746-A8510244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4D6A1-653C-4672-82CB-581D58BD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D4A2C3-B142-4432-86F4-45339AEF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IR lifecycle overview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3785B-B1BC-4F67-9E25-6F97BC3D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3E4E07-B2EA-4C30-A672-BD8ECE93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3B4DE8-8029-4D38-9CA4-FB21F0D4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061FD-CC62-4BEE-9BC5-DF75925A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755DC-92A4-48C7-8FE8-4F19B00D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F83DB-15BE-47D1-B8CF-84DA271D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46D9A4-E163-46D0-ACAB-8CF20155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320D6-BBDF-4733-B0BF-9E7C6F8D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preparation, detection, analysis, containment, eradication, recovery, and lessons learned.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48F5B0-F09A-4186-A006-CAB411E5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C1CC13-92EA-4DEE-80B8-A4D507AD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15FF43-285A-412E-A71D-34570A8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Lifecycle language keeps technical work aligned with business and legal decisions.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0166AB-F6CC-45BC-AC68-F39C573D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324412-7356-41BB-B977-06B7BA51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AAC97-2867-4CF1-8394-1E346EA1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lifecycle is iterative during complex incidents, not a single straight line.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04DEF-7DA9-4090-8D13-AB5B0627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C2FACE-A964-4855-BBBF-0F4CC409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74EF40-A6B4-435B-A96F-9395D68E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0E70D4-E3A9-4AC0-BE02-3F6D1216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097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986832-355E-4E77-BCFD-8388B11E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72961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1122D9-2F0E-49BA-8700-583FEBB6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579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690493969"/>
      </p:ext>
    </p:extLst>
  </p:cSld>
</p:sld>
</file>

<file path=ppt/slides/slide9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84EEBE-BBF4-4CB2-8126-1A3A45CA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Severity model and classification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03CCA-CB6E-4763-9909-702D5447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3360F7-9EDC-4973-8320-00C43607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ADAFE-2C91-4F1B-9571-9D53593D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47873-CE93-4224-8A22-22274A2C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02AA8-C03D-4DF7-A819-9DA006D3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F7D76-CD99-4182-B51B-BEC192BA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97C94-0C0C-4E6C-8DA6-C3076AFF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A936C-BB6C-45DE-9A9E-6E59AEF5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EA268-1EB5-4BF1-A90E-1B84AF92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2116B-D679-4DD0-BE01-5D58AD4F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5F8C2-5D74-4C06-9401-884F7F74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01E2C-737B-4D26-AAB3-28A30813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1B3DF-1C38-404B-8F16-F98F00E4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931BD-CE75-487A-9410-00359EE3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3DEEF9-9F5D-436A-B1EB-2A97EF01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5F876-B611-4E6A-9EE7-8D2EA88C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2FA69-2D95-4997-BE30-CE72C908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A60E0-542B-47EA-A596-3F841432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40963-3810-466F-B0D8-B47B8D30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337B42-5EFF-4A37-9E86-A144EFFC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8D1D6-9BCA-4CAE-B68F-3C9D3299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FB2BA4-1783-4D01-9BD9-65B7A4E5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Severity should reflect business impact, data impact, spread, privilege, and service disruption.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3AC815-144F-4635-B232-E494C4E4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7120B5-3FBD-4115-9C32-F915106F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F3FEB1-00DB-4D10-90DE-29198420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Classification determines response urgency, authority, and communication cadence.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4B0883-48D6-4963-82BE-29F75AB3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5FF484-B3E0-471C-AD0C-1D0D278C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Reclassify when facts change; record why the severity changed.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C69A9-341A-41D8-9A4B-6E751814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6DCDAC-C5A2-41A3-BEFA-3F9F7BBF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FD8D06-4A49-42E2-AA85-436C9233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688806-D8D3-41B8-8444-2EA17B95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E4A592-1B3D-4328-A6CB-EE67E107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908586158"/>
      </p:ext>
    </p:extLst>
  </p:cSld>
</p:sld>
</file>

<file path=ppt/slides/slide9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8CE022-E463-4F16-8D5A-B9441F64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Decision authority in incidents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FA7E6C-496D-4E79-A08F-85B85547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77A07-1305-4AF5-A187-FD0F7F87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D7732-D956-4ADD-B3DD-018FDC29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8A5C8-02EF-4D3A-860B-ECF300CA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CBF0C-D0AB-4E29-BAF9-3292A055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7148E-5536-4441-B962-02D925F8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F20D3-D98D-424A-81BF-1DDD48CE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368EE3-501A-4A34-8F6C-925F8FCE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C9BF6-383F-4E62-B31D-058CE1D0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06CAD-BB6E-4485-AC56-40BD88A1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High-impact actions require named approvers before the incident occurs.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C72B49-EC3E-464C-8990-14EE8EEB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212BF3-BB73-4FA9-9151-CDBC379B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C3D094-E6DF-437E-BED0-24C53742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Authority includes isolation, account disablement, shutdown, restore, notification, and public statements.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6BCA3-19B6-4887-900F-123199F1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53330A-3765-4FDD-943F-2C937CB0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4C90E9-AECE-4B51-9332-FFBDD5F7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Document decisions with facts reviewed, approver, time, and next review point.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241F47-68B2-4276-A775-1FC622A1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720802-04C9-4B9A-BF1A-359F9AEF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A66AC2-642F-4B43-A4F7-9979487C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9A0D51-9B3B-47DC-8EF7-8E743290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F1BEB6-4D9C-4A10-83A3-156CF660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A1DAC-B452-4906-9F5A-81D36C2E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C03C3F-8D55-46F4-9A92-83F14F92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D61D3-945C-4683-A1DD-F77BBD77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15FEDC-4EA7-4CA4-84A7-FF7B1A9A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099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C9DF8E-5D55-4A35-BEEC-3E81029F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8C113-4791-4E35-BA6C-9B99902D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936364247"/>
      </p:ext>
    </p:extLst>
  </p:cSld>
</p:sld>
</file>

<file path=ppt/slides/slide10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B57A27-E455-46F1-9629-4C86D9A1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Analyst-to-IR escalation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4390C-DB20-4774-9BDB-76EF5508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0A5CC-3ECB-47E2-B525-CE6DEE2B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D3864-1D3C-492B-80F7-A299BA6C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31C76-6651-4ACB-9A12-86D2981A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F7F3C-8099-4EB2-84C1-330B8EEB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782A8-307A-4E28-ACA2-BD216DB3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62478-E1BA-4A39-B006-32DF0960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A4992-FA19-4F15-8CAF-05B588C3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B2C50-D3D1-4C64-92B9-11C872FB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77510-6A48-4535-BF1E-F358A529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895C7-EFAD-42A0-BA4B-1CC9376C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C4158-806C-424F-8190-9BF8F0BE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FEF6E-D01D-43A9-80F9-64F207D4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7553A2-3AB9-4A93-8FF0-2852CB38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72C114-B78C-48DC-9364-3942C89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984ABA-979C-4768-A9AC-2EEDB5BE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92848E-16D3-4D92-90F7-60440DEC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96F6B3-7841-4D3F-A265-FBF0AE7C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31E6DD-D654-4C36-B8C0-C58E9017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7BCCF-FFEB-4AEC-9194-9C12E957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34CD57-C418-47BC-B74D-441F2D60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2F7FD4-2A8E-4525-9B59-36D328B7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Escalate when scope expands, containment is needed, evidence may be legal, or severity exceeds queue handling.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52C177-D66A-4480-BA66-69B51C29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2402D9-86B6-4D7E-A417-058C50D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BF9257-57D7-4CD7-9C58-F0838690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The escalation packet must include timeline, assets, users, evidence pointers, and open questions.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E4A2FE-F829-4E24-B175-70F9911F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BF3448-2C19-4C47-B1A6-5E99FD63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Poor escalation quality creates response delay and duplicated investigation.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7D41EB-CAE8-4004-A3C7-CAFDFA24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E9B0DE-BB46-40F5-9832-ACF8853B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BE24DE-396B-49B1-866D-C2AC43F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100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A8B7FA-3F1C-439A-BBEA-5D4BB048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DF5F49-09C0-41A8-A297-048A95BC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745033681"/>
      </p:ext>
    </p:extLst>
  </p:cSld>
</p:sld>
</file>

<file path=ppt/slides/slide10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47FAED-63DC-4AC7-AA9A-8CC0A8EB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Runbooks vs playbooks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87928-7CA6-42D9-92F8-2786C055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3F64A-BCE3-410B-AED4-57BC6697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5FC02-1EBB-4AA5-9F3A-9DA48564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5E417-7624-40D0-A13D-5F407089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02823-52E5-4D2D-A13B-52B5A42C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60EED-901A-4700-BC59-4A443C65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DE3D5-5DE6-4226-905F-A5ADF01A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63AA3-BF8F-41BE-8EB7-5FB30E7E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8392-0AD1-4113-845F-AD7D5902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A3CFFB-BCE9-4E22-8C70-53DBECA4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55E04-71BE-4739-B141-A13649C8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18AAE-01A5-4986-97DC-C5C4B8EA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565BD-8F13-4B08-B562-6A8D1E7C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826060-B619-4997-BA1F-A00AF8F6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A98D39-CDCC-4BD4-90C4-3AFA634A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2C992-59B0-45DD-8C3E-135C409B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D3DD29-7BEB-45F0-BB53-C32A1011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77246A-60B6-4BDF-BCE3-96918AF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40F344-0D74-425A-81DA-1AA95EDE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6487CF-C56F-47BB-89CE-315EE77C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99D64-B522-4A68-A02D-08650113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96FEB5-8D30-48E7-A55C-82743D0B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DC875-6962-4A2F-8472-94FE89EE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1FEAE-1A0D-47F1-A397-B128F1EC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1451F-E1A2-4210-9ED2-23CA1A92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F2E183-667B-4D9F-AB91-306FE102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Runbooks guide routine analyst actions by tier and workflow.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17B04D-F999-451F-B993-63558377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08E2D1-4B2D-48B1-AC7A-99FA0359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Playbooks guide specific incident types from analysis to recovery.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2D035E-BAA2-4C6F-9C22-6438FE3C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98A8C4-1B9B-41BA-B31B-F48C4437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Both should connect to severity, evidence, escalation, and reporting templates.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E307AC-DBE6-4304-AA14-1AE9A89F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101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DCFDB06-8B9C-47D0-8AFC-FF35AC5D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BE40898-2EBE-4E1C-A635-1009AF36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02572978"/>
      </p:ext>
    </p:extLst>
  </p:cSld>
</p:sld>
</file>

<file path=ppt/slides/slide10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482EF8-78B0-4CA7-8857-0FA4FC44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Playbook operating pattern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9A669-F153-4B10-8F35-A020A725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F6216-C00A-4313-892D-CF51A5A1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D8A02-9133-442C-9A58-52FADAA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71571-796B-47E6-A8E6-6F2E2043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45F1B-E7EF-4FCD-8E14-E067D337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109DC-6EFA-47DB-8F75-7B8340C2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28D2A-A3CE-41EE-8D21-DC56B384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D11856-EAB9-40CC-8705-4FEC9BA2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A54196-5EF1-4B02-923C-81365000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123E9-8A1C-4114-821E-19815504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DBC99-5A9A-4689-8D6A-6DC6CDC6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521DC-1472-45F9-8FF3-272A358D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79F99-B670-4452-8183-71CAAECB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8CD4F3-C638-438E-B98D-236ED436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264C8-6E9F-4E88-8199-74138B34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C107F8-3C07-47B6-9068-BF648440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5A952B-273C-4111-8E72-48C226C6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AD37AC-BF30-4033-BAF5-D7179440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799D8A-5C7C-412C-B87B-76900818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4A17E9-5776-4D63-A4D8-1A0F5AD0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3B8966-3745-43FC-9D9A-2B0D3A14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1629DC-666D-437C-A29E-44C37226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Trigger, triage, analysis, containment, eradication, recovery, communication, and closure.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FB0FDD-91E1-40F4-A8A9-7AD65EE7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804B48-CD2F-4826-B10C-A7583C95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C2EE3E-698A-4935-AE23-F8F4CA94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Each playbook should state evidence requirements and decision points.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D558C8-B3E4-43A4-8A59-6C14E913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43DEB7-57C6-4B49-B8B1-B494FB9C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Related playbooks should be linked because incidents rarely stay in one category.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EB4FBE-E0FC-4A90-AAFD-0BDDCAC7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97DA17-D280-4835-8D81-CDA29708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44D28E-29D2-4E11-9E61-6B98D2AA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102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8ABB21-D629-4788-B2A3-0B9729EC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1AEDEB-C9B8-4876-B174-C440A264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132022225"/>
      </p:ext>
    </p:extLst>
  </p:cSld>
</p:sld>
</file>

<file path=ppt/slides/slide10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EEA0AE-81E1-4B3B-AC49-50C138A8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Containment decision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25CBD-8FB2-4FE4-8A8F-1240D153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C470F9-83DC-45E8-9EA2-D37B04C2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65CDE-2AFF-4356-BB02-8BE4E6EE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0A20E-9382-4BD6-A7D5-2250D45A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725C-2D73-4A57-96D7-CDFAEDBE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96BC1-1334-439C-A249-84477118A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442E0-852C-4613-A986-05626B03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0C0FC-E518-40C7-88C9-587ABABD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CB74CB-8134-42F9-B038-8AE4F5F3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3E9D1-5C8B-4388-BEF5-5D12671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746549-D573-4736-901F-01BE7971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19410-8D57-4458-BD94-8C43DD7D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5A64FC-9E50-41AA-804C-367296BC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5C89A-9379-40B1-A9B1-976A792E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B08239-7A2D-4638-8408-0CC1CC6B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2E3202-4822-428D-ACAC-2841D0D5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A51C84-A82B-4453-AF2D-A15D33FB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4E1C2C-FBE2-4908-9564-50C77D7B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42B26C-BD9A-4BBE-8D82-B59C8CDF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D082D9-99C2-4738-A4DF-F38BDCB9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98246-81A2-4B4D-B363-AB799F67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79466C-F235-4950-B103-39FA4A97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Containment balances risk reduction against business disruption and evidence preservation.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791559-21FC-4A93-91C0-66D41E66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4169D3-847D-4344-90ED-32601360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1E6813-37A2-4585-9EFF-1CD0ADE0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Decide temporary block, account disablement, host isolation, network change, or service shutdown.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B1AF5C-4CC0-4263-B292-CCE965DF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E7A811-2364-4A56-B73E-FB9DA560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Record rationale and rollback path before high-impact action when time allows.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A40C6C-2BCF-43B8-8E25-1BAB9B2D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AD28B7-F4EC-4FDC-9E4F-E8BE578F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518DD4-620A-4EF8-B74A-6294CEC2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103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9D5FC6-0594-4445-B5B2-70F2DB37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88BE18-248A-454E-B244-FCBE3A6D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062220019"/>
      </p:ext>
    </p:extLst>
  </p:cSld>
</p:sld>
</file>

<file path=ppt/slides/slide10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48AADE-7647-418B-83E6-F8A4B9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Eradication and recovery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66764-9174-4FDD-BB6D-73ED9298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F2DB7C-F7D4-4DEA-BB40-E34A1EFF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93F4F-7679-4482-97C1-B48D0F9F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167E2-9DE1-4123-8EC3-F83756BD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7224A3-2FB1-4002-8206-12CC5EBC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66A7E-8931-485D-B6B6-6A69AA20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5A9DF-6857-41AD-8261-7E7CC7E3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371F9-879B-4DE4-AA07-D9852631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7F75F3-AC13-4CB3-A733-C65C328A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74CF87-D4A3-4E3C-8F31-1392C5AF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A94CB-7874-48E7-8190-0A7F5DBF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742112-B15A-45AF-8E5A-A42347B9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7ACCF7-077E-4A64-BDE5-E605004D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C798B-2EE1-4593-A089-A309A9E5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E4FD8-D648-4BE5-8409-14B9DB56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EA2B2-7C78-4B9E-B2BE-911D6281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4C408-49F4-40E9-9F37-4D05F206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994316-69EC-4E26-B471-171A3BB0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B9E90-A072-4F31-9BB2-B5B89582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2C237C-2AF1-4BDB-A21A-564FDCBE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024D89-8D98-475B-9AD9-9A8E3D54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9FC530-A20E-435E-99D7-5EB71703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Eradication removes attacker access, persistence, malicious artifacts, and exploited weakness.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E42302-9A08-4AED-88A3-25F0FD83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41DD00-E966-409A-AA76-05F9E4F0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CD2F9E-1122-45DA-A0A2-22A69CCF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Recovery validates clean state, monitoring, business acceptance, and return-to-service approval.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BD8690-BD0A-4D68-9829-DDBCBD03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72CDD0-7FD7-4B84-B5A8-2B0BC4EE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Do not close before recurrence risk and monitoring exit criteria are handled.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06B089-E9D7-4195-AC90-89C40365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CC201C-86B4-481A-B25D-66D137D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E782CA-D0D5-4C7C-A29A-AB8F58BF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BFB23F-651E-4F26-B1DB-71486725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0411E0-DD0F-4B75-BF8C-2C699C8D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318613213"/>
      </p:ext>
    </p:extLst>
  </p:cSld>
</p:sld>
</file>

<file path=ppt/slides/slide10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2B9D8E-7F49-4A43-A106-9836E37C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Evidence handling and preservation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F9C6A-9F53-47C0-BB72-6C86D477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EA10A-D466-434D-BB4C-BEDA849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83FE8-728F-4DCB-86B6-28EF2B97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2E94F-1847-4D9A-97D3-E2E0DE91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FDB83-1A10-40A2-800D-5ADF8489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DCE35-81ED-41D4-8D2B-4A851606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9820A5-6C9C-4208-B957-05EA9D1C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F65BB-3055-4753-BAC4-62CFFBF2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AE4490-4846-4933-BEDF-25FC2553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D55B6-0964-4025-BBEA-DF0EFC8A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366876-1B04-47D3-BEA9-274F7CD7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008665-9B66-4273-A441-F28ACA80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BBB54D-E956-4EE7-8A6F-21688F59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B285B-7E91-423C-8452-BAEF5DE9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1F8D03-19AE-4F2E-AE9C-23D2D0EB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2FAB9E-6A9C-42F9-9E63-47AD629F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3DE6BD-611E-4870-A5B5-24102346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59341-4D85-491F-81CA-D2AE26D8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8D78D6-DB76-49B3-BF4F-5812B235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98A76F-B7AA-4C29-A698-4FE2B1C0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FE05CE-C63C-4BD8-8287-AB087419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01610-566D-4853-BD0D-212BDF2D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8DF2E3-4C84-4641-B555-CE9676EC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ACD49F-8D53-47D6-B3D6-121D41A6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64464E-8970-49D4-ADEC-9EE5414C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0505B9-5FA1-4A8F-8113-BB6C641F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Preserve logs, artifacts, screenshots, hashes, requests, and decision records early.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D8273-6BE8-4C95-AB76-AC9042A2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5859C-E715-4604-A7EB-6C83FE0D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Separate collection, analysis, custody, retention, and release decisions.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424E42-51F7-44AE-882D-0286FA40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AB805D-843B-4E4A-92D4-6422220E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Evidence quality determines whether legal, regulator, and executive decisions can be defended.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26E556-9603-4350-ACCD-36B11CCB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0AF2E9-7959-4B86-9AA3-D23AD734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5CFFEC-7C06-4F47-A1E4-4EB5EDFF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560010009"/>
      </p:ext>
    </p:extLst>
  </p:cSld>
</p:sld>
</file>

<file path=ppt/slides/slide10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620910-34B1-4153-9A14-6D9380BC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Chain of custody basics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E7E884-64C6-439D-BD2B-DD23EB40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C39F9-1277-4C24-98B3-F175629C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6FBEB-17A1-4C3D-8535-30D6B0AC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EBCE8-653D-43DD-A353-4AB32FD8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32154-0B5F-4373-827C-08B41DD5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981FC-DAA1-44BA-BE43-E2E3DDC8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DA8B3-734C-4DE5-B267-DA5056C3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B15EE-C423-43D1-AC24-7E339DC8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C9C14-DE65-489D-BAF7-A420E7FD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40E8B-C223-4F61-A239-F610AB76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Record who collected, transferred, stored, accessed, and released each evidence item.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87703-7903-407A-9B8A-8464D8CB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C4FF05-D5C3-405A-B4AD-C11ACBF0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376E19-9B85-481B-8FF8-1E9D9DF6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hashes or integrity markers where practical.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A0704-C212-4BFE-A37A-24A2BC6C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9C3AB2-B932-4C80-8036-13EF6AB4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D94F02-9876-4207-BAC5-0EAA84D8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Legal hold should pause deletion or reimage when evidence may matter.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00D7D-ED43-4F66-8113-A2100872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2FAF8-E243-48B3-BFC5-F5D5E2E6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677D2-6392-43CB-B6FC-5145CA06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640E50-EB95-48D5-B2DF-73090AD7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A44881-A4D3-4787-92EC-46D14AF0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00DC7-EDF8-4F05-AB7A-0F9160D0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463FA7-A9CF-463E-A9C1-BCD500A7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5E3DA2-3661-4644-9165-C64283F1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6C3F6-7D2D-4B3F-922B-BC30406B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5C5488-6C25-4D7B-AA5D-A0087D4F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6B7209-8051-4503-8157-D7033BD7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166720235"/>
      </p:ext>
    </p:extLst>
  </p:cSld>
</p:sld>
</file>

<file path=ppt/slides/slide10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0B1D3F-9478-4E95-9CD4-9A767D5E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Decision logging during incidents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26C5D-B302-4932-ADB7-08EB388E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48C80-9AA4-44D3-A7E2-10A620BF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3B22C-AC22-4A94-9CC1-7F903C8A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A9373-8309-4477-B7BF-25EB40AE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A00798-21B1-4303-BC33-FC885313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225DC-B756-464B-AE3F-6E90F4B7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17365-5E72-4E03-A15A-AD5B93D7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3EFCA-B6DB-4165-A20A-4A9FFB1B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3D8431-8518-4404-8051-6994EFCC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B6BC6-2FDA-42A6-B411-AEBA9FB1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Log what was known, what was assumed, who approved, and what happens next.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D5625-23EA-4328-BE3A-E7EFE675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F271A-0A8D-4B9B-AC19-22DB26E1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6BC4E4-EDBE-41C2-92A7-E5971C9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Decision logs protect continuity across shifts and support later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1BF0B-DDB4-42C6-B5C3-9669767B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CB8B61-5C24-42B3-9B5F-26C1806A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05A6F-47D2-40E2-BF3F-2B9D6668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They also make executive and legal communication faster and safer.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999B5-6DC8-4FBD-AA25-41FF9297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AD159E-FDC5-40FC-A2D5-003392E9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9BD503-28F7-4E3A-B555-C4F80899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8A1480-A427-4BDB-9A7A-7345C069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D7B58B-133D-468C-928E-1BD38CEB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60FF9E-7C9F-42C1-88CA-242E55A8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F80E34-CA2C-419D-98DA-2E0E08C4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B4E6DE-AEE5-4D39-B54B-C906262D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AD0D3E-26B1-48FF-B8BA-85C2E85E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2540B0-DA2C-447E-9E59-52E39C09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D475F8-D195-43E1-B600-49021ECD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200819526"/>
      </p:ext>
    </p:extLst>
  </p:cSld>
</p:sld>
</file>

<file path=ppt/slides/slide10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241295-4FF5-4EAB-8071-914FE92E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Crisis command / war room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E77FF-BAD8-41EF-BAAC-8E392EA5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9151B-C8D6-40D3-A44F-BD8119A7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FFF28-C9C7-400D-A4DA-3A4DAC26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9D850-77CC-4AC5-AEE6-155D8FCF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1C37A3-4366-443D-9066-1C3E33BE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1159A-2E08-45EB-BB8C-8AA47299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73921-2EE0-424E-B45E-1F7948D4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BCCC05-F1C4-4FDC-9426-E496095D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9089B-BA12-4513-8C62-325E42CD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4E9D7-18D6-41C5-991E-EDE2B41A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630FD8-CEA4-4987-9BD3-7473081F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6663D9-12D4-48BE-A3FC-8976375E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9B680-5669-4303-AC2D-CAB60B3A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E3AD4-4FB2-41D4-A123-0A3F3D35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A15327-F99C-44B1-88EB-FDD3A874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F7D176-3A45-46A4-ACD5-999417F9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45C0E-9EE9-44DE-9D0E-85B034C9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558ED-DD62-4F0E-A902-D2979EE2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FF329-BE69-431D-85A8-CC2A6B02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D0D583-86F9-4D4A-9759-5606DBB8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4C6CA4-3BE1-464E-BD16-4EB0BEBD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612A93-BC48-4629-940A-963B192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Activate when severity, service impact, external pressure, or uncertainty exceeds normal workflow.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722CB-E202-4F25-837E-FF55DAF3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876025-E5F4-4C4E-9B81-06299A3E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3873DF-9839-4CCE-B736-095776D6F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Name incident commander, scribe, technical lead, business owner, legal/DPO, and communications owner.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BDBD67-D933-4C83-9534-F3A983FA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05EFE-E0A5-4E80-A2CF-C2EA74DB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update cadence and decision log to prevent unmanaged parallel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84D937-D5C4-4EC1-A4D7-7EB959F2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134360-AD83-44DE-B529-387A17A76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993659-385C-43A2-8B13-BF6A15C0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2052BF-581B-4272-9198-521E7306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E730A5-FA32-438F-A8C8-F8ABB54B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833442525"/>
      </p:ext>
    </p:extLst>
  </p:cSld>
</p:sld>
</file>

<file path=ppt/slides/slide10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4BD191-444B-4762-AA26-41F1F217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Closure, PIR, and lessons learned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77DFC-C99C-4056-96AF-7802E71D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D06E74-CCBF-4F68-9404-CCFCE8DF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0264E-D973-4235-8359-2231A30A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24C8C-6D3B-4264-8AEA-646DCF57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C0940-23DA-444F-AD8F-532B5C35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FDCAA-2DC3-49B2-A938-4ED8D52A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3D57E-5588-4FF0-B25D-5183AF7F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8E866-765F-4FED-BD85-1C2085F5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4409C-6942-4DB4-80C9-CBB42505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C64974-B2D3-49C2-B9D2-5A1A5889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Closure needs technical recovery, monitoring exit, communications completion, and outstanding risk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86B760-2CDA-4030-9122-76D537E8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6C06E9-9285-4340-BD14-70A3B555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8CF0D5-3BFF-48B3-9C6B-DE600CC8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PIR should produce accountable remediation, not just observations.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D6410-6A1B-4A8E-B0D2-EB726609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3330CF-CF8D-4998-92CF-2324393B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B17262-4F4D-4E2B-9F2D-BDAEA1D6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Recurring issues should move into governance and funding paths.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CE4A05-4199-49BB-8886-C598E73F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4B3DB-D348-47D1-AB78-83FD552A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439107-1D10-4A48-9937-F7F479E3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77FC05-DEA4-45F7-BAD1-3CB6B0C1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69016E-ED81-4771-8615-395F18A0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14F66E-8ECB-435F-BA22-DFBBC0A5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84F4EB-16FE-40B0-80EE-579A332F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13F0B-E76A-4B29-910F-C1FA76A1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F1FD08-9C5E-4367-B56F-135C9F9F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109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65A45A-B1FE-459A-9172-E6C6D6FD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1C264-0CBC-46FC-962D-AA1B7EB3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526663787"/>
      </p:ext>
    </p:extLst>
  </p:cSld>
</p:sld>
</file>

<file path=ppt/slides/slide1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295260-9AAF-4130-9249-EC7C66E4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severity matrix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24FBE-7DDA-4FDB-85A6-A3F22FAF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483E3-7E32-428C-812F-6EEBE4D1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6C845-AF79-4343-AD14-02D31136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69A70-610C-4312-848C-69291941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8F531-5767-4D47-8893-D84A84A7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16965-519A-476F-B258-D783F777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2A1C1-CADF-41E2-9404-82FFCDAE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52350-4719-40A0-93AD-6D4CBDC2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C62D1-C241-43B6-AC80-2EF959F9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26AC8-8E33-4171-A8EC-027A136E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8C1BE-2EC8-4DF8-9A30-DB81E09B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12260-850F-432E-BC4B-8A875D09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55AD8D-D1AF-4DED-B201-E2B1308B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DD7D10-600F-4FD1-A71A-CECA3C29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324100"/>
            <a:ext cx="4095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E040D-0B8D-4724-9E13-F9D83D16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2438400"/>
            <a:ext cx="3790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1C5E7-589C-4060-992B-6376D1F4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789FB0-1FAB-49B2-891D-471E31B7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C599F2-035A-4A20-9E7A-3C9AF6FA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1369FE-6410-4253-B3E5-5463097E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Material service/data impact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095B32-9328-4894-88BD-077736A7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F4263-D9EF-4F22-A972-0ED18AD7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War room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280B9B-8FB5-4B39-8B91-9C19E337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29337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3F2CA0-A5E6-4A82-A5CB-DFD5260B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0480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 + exec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FE67FE-5DBD-4649-B768-48B87D4C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4D288D-A48D-4F67-9C82-0706BA5F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CD15CA-E2E8-4238-ADD6-42C1F0AD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A5D772-4236-4395-84F8-F162F4B3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Confirmed compromise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B3B5F8-0AE5-4B94-AC27-DD786B3A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7B0DCF-93E2-491F-8150-5C6E321C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 lead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0472F2-23E1-40F5-A4C7-021ACD1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7338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8AE264-F81C-4E6F-9549-76354C47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8481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Containment owner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A4702F-9B92-4FE2-BC42-4AEE826E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C2957-4EF4-4BB8-9DBE-C492676C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F6E80F-49AE-459F-9618-95AE0668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3BDD1E-561C-4067-A2CD-182D6A64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Limited incident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B29D23-5311-498E-B49D-76AF4AF7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ECE86F-BA50-477B-90B0-29B5EFF9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workflow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C1A4C1-8DD0-46EF-95B7-C2FFE431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339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A0401D2-8856-4D9C-BD50-53307ED5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46482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546E1D-A8C6-48EF-BDC6-5235A212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AD2A71-A6CB-4A7C-82B4-712234E8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423C88-64F5-4B72-B210-D3BBCB35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65B6BBE-2953-4213-A97C-081ACE17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Low-risk event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D873A2-886C-4433-8A60-D7E46D2A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CC6F6F-BF7F-4884-BFF0-DCB531BA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Queue handling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B282A5-7CD2-49C7-BE8C-ECE89F8B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5334000"/>
            <a:ext cx="4095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AC31409-8297-43D1-9093-C8C3ACAC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5448300"/>
            <a:ext cx="37909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Analyst lead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011A15-E37D-4AF9-924D-84C596E9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110 / 142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E95BE9-A8CD-455C-983E-AB62DA2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2AB46B-3A64-4D8E-9D35-FD0507F4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62865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1444793415"/>
      </p:ext>
    </p:extLst>
  </p:cSld>
</p:sld>
</file>

<file path=ppt/slides/slide1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5AE22B-0580-4898-8CAF-59169FC2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evidence and decision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6F82B-303D-4B84-94C3-C2220EB3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B5C6F-DC1D-4A56-8F2D-FB70A3C7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A0453-B012-478C-B9A8-1AAD5702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27119-BFE6-4A6B-B6A2-5995EB36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F45F1-6714-43CB-A88E-BBF3B5A7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664C85-8B0D-4EB0-92ED-FFC40EE9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B743E-0E5D-41C4-AD44-7C8E710B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6B064-A065-4B1D-BBE5-DDBDD10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43C3F-1B24-440F-97BA-F99723DE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800D0-E396-4559-A57D-58F4F7B8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9B0B0-8E29-40C8-BB99-C03F0F0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0CC1B-F1C7-4EDD-940A-FD7466FC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B2C57B-4E50-4674-81AE-A3DEA438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4B7F5C-5268-4E32-98FA-C08C6823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55D42-D75A-49B6-931B-E3A9C013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Timeline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C0B1E-6B77-4C1B-ADEA-3D0D8B7D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A8622A-8CDD-4732-BF73-AD1634A2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Proves sequence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B182D-04B6-4DF5-B8F9-8BCAA498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366794-1C30-44D6-95DE-6236782F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8E2CD-59F7-4516-A073-FAC74C07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D622C-8118-470D-912F-57079B1F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Log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F5481-7575-4B8B-B0A6-AEDB2A3B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6DF5C6-419B-40EC-9E2E-B359C877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Supports analysis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947663-CF4A-4819-9ED2-1A18710F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E077C6-BA5E-4914-8371-25E3AAF6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Engineer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C899DA-C8C8-4802-8F39-0B5C637E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0D90F4-767B-4826-B0BA-523465F5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Custody trail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F1AB7B-F3DA-4178-97FC-73A3CD0D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A1F3AE-5FA2-4F26-A03A-DDA08F30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Protects evidence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E29687-22F3-4EE6-A6D1-4723F556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4D3937-846A-4566-B12C-7EDE98D3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E36AC0-26E2-46A3-A71A-B481B8DA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62A57B-F92E-4AA9-984D-DF4094BF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Decision log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58CE61-3BD8-4FF4-B6DA-F141E768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C603A1-DAAF-402A-AFA7-1E61236F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Defends action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53F481-DEF3-45B8-97B3-05E616C9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E7F0A3-48C9-47BC-8E33-A6613D0C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94BE12-C779-4F29-955C-AC597D27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111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E88524-589A-49C0-A2E3-AF090BB2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B34F55-CA90-475E-ABAA-8186E9702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62865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902930168"/>
      </p:ext>
    </p:extLst>
  </p:cSld>
</p:sld>
</file>

<file path=ppt/slides/slide1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169491-5E03-4220-A138-975F8EA7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Workshop block 3 debrief: alert-to-incident operating exercise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EB03B-9F6B-4185-86C8-92777A2A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A59FC-28DE-40CB-9D7D-84867E86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2565A-937B-4723-8353-E6EA5C95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267FE-0EC5-4901-813A-8DE208F3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B33D37-8BBF-44A8-8673-2B69436A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573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5C7AA-5577-4B53-8568-E1868C64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E3A59-DDB2-4C57-A852-596C4CA9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Successful logins and invoice downloads require containment and evidence handling.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EC474-C2E1-4CB1-A32A-7D30352F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D8AA7-CFAC-4D33-A315-31F5B5B0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BC553-FAFF-42D0-9CEA-A41A42AD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3E16C-8923-4612-9691-5C8130D1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E954C-D63B-41E8-9384-B4333680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B594B6-22B1-46A6-A841-FE76F544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4F2D2-88B6-4202-A195-449FD17A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3D45E-2DA4-4B72-A172-72C2D854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0B3529-EC14-4EF6-875A-510CFF98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39215-69D6-4B01-95ED-9A6CAA20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D9B7FC-916A-4978-9F16-328487A6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7D40BB-FCB4-4442-B060-59A94FA4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79143F-EF9B-4C0B-9E69-F17686DA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3E73A1-7F6E-4182-ADCC-F6639B7D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12BCA-E031-4DF1-91E3-E70C5AE7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D5E25-BF15-464F-857A-7F45958B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F17601-C04B-48EF-94E4-522D9F34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16F4B4-0CC1-4669-98DF-69797692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58A823-4C53-49CD-B8A8-82F9F7D7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DC1007-0BE9-4DD8-A80D-A3BEAF4C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8640BF-9AB1-4BF6-88CC-392A8406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198EF8-01F2-47E8-8384-E76DED26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EE0DE1-31DD-4E21-B9AF-E8573A8A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5AEBC-7828-45CA-8426-B111B7C7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A6D09A-DF25-4A65-8712-A11257BE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112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D5F194-984E-487A-94F6-7BE793EF8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6588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Incident Response, Runbooks, and Playbook Operations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2D5EB-656F-4F5C-8346-CA26A4AF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9601200"/>
            <a:ext cx="17145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05_Incident_Response</a:t>
            </a:r>
          </a:p>
        </p:txBody>
      </p:sp>
    </p:spTree>
    <p:extLst>
      <p:ext uri="{BB962C8B-B14F-4D97-AF65-F5344CB8AC3E}">
        <p14:creationId xmlns:p14="http://schemas.microsoft.com/office/powerpoint/2010/main" val="538532231"/>
      </p:ext>
    </p:extLst>
  </p:cSld>
</p:sld>
</file>

<file path=ppt/slides/slide1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2D8F3E-D19F-4FD8-8B39-F0CC73BD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DA4B7-46E7-4181-8B22-A717D892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B42318"/>
                </a:solidFill>
              </a:defRPr>
            </a:pPr>
            <a:r>
              <a:rPr sz="2550" b="1">
                <a:solidFill>
                  <a:srgbClr val="B42318"/>
                </a:solidFill>
              </a:rPr>
              <a:t>113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FD5D1-7BA7-4E3D-A739-A46A3F42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GOVERN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BF813-B6AC-48A6-A571-27D584C8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72647-0C75-436A-ABE5-C65F3F37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Open the right legal checkpoint without turning SOC into Legal.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6A9EF-8A6F-4E13-A31E-628B4503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E4AB7-FDB7-496C-8925-0F458396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75ED89-7B09-4D94-B29E-DEE19FED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319C12-8A4B-4E78-AD16-954CDD4B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Why Thai compliance belongs in SOC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679A2-C7FD-43E6-BC44-686CABA1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529A4-A37F-427C-B309-B42D6844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5C6395-3523-4F69-B667-E74548B5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E244D-EDAE-436E-B339-647C290F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71450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70F04A-DC2A-477A-9E0A-F3B0E1DC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19075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98712-A94E-4321-BE7D-4B1578A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686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E92B7-5A6C-4ACF-8CCA-6AEDF6E1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24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72D3D-6FB7-4BC9-904E-8F64BA3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86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SOC produces the facts needed for Legal, DPO, CISO, and executives to decide.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B56D57-1F1F-4F67-BA46-FDE3AE75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448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6C46A-976A-429D-A60D-7BA11CFA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86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86351-9270-4B28-9495-8C8332CF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480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Compliance handling starts with evidence, classification, and escalation timing.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5E6C87-3376-448C-94F0-D7988A1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2100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90048F-3386-412E-9A94-F64B2783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481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40F4EA-D328-4DAC-9AB8-49B9874B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1005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The SOC should not give legal advice, but it must open the right checkpoint.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EF60F2-000F-4619-A62B-EACE765E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8958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4E0B7E-DB55-4C07-8285-8211F903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054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ECB4F4-E967-48B4-8B98-119BB390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054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C4A723-FAB6-4EAA-B521-5DA8D9E2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055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770F03-89E0-456F-B2B5-A60A4602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305550"/>
            <a:ext cx="42481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5B48CD-BA6C-44C1-A990-7AE758CE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630555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087303337"/>
      </p:ext>
    </p:extLst>
  </p:cSld>
</p:sld>
</file>

<file path=ppt/slides/slide1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F73EED8-F912-4A8C-A21A-F60D8E4A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PDPA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84837-5B9A-43B1-915A-0054A16F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1D9C0-8230-49C3-A6A2-61F4ADED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57F50-E755-49BD-B266-5B48D60B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03FAF-0512-4440-B06C-8A2C9148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250D2-E390-4836-92B6-0A35DF2E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0074CE-C204-4C0B-8551-D85D93A8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55FBA7-5818-43E4-A1CC-EDB17A36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148E1B-5CE6-4CB5-BF72-B7910A5E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48175-668F-45F1-BC5F-EE17464C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1E61D-E47D-4A09-84ED-9D3EFD05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personal data or sensitive personal data may be exposed, altered, destroyed, or accessed.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C8F86-1C03-423D-9F3B-9079CD70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6C260-CA30-4F28-B60D-9A045DE7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3DFDE-F941-4499-9695-F79F081B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affected systems, data types, subject estimate, timeline, and containment state.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B6F05-ECC6-40A7-B9D0-84A3EDD4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F8FDA-3704-44FA-8BAF-990A65E4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1BE4C1-392F-4C64-8A18-6F99DFE9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DPO/Legal decides notification posture; SOC supplies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5214F-A720-41C9-981A-D1EB123D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022F83-0FDB-4C6F-9149-0085495D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1567C9-65CB-4DFE-83F9-5A0AC39C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9EBDA-978B-4A7D-B52A-752D02EF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175D3-6349-4B03-9F7D-8A630B40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76B384-3C38-4847-A94A-8510D69F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7B9933-0790-4D68-9EEF-E3CD2CC6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9D893-C3DE-4B6A-8621-016DB201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07D291-335D-48ED-AAFD-81557A91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114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C4D284-B7FE-4B47-ACDE-2EE53B86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F5DA28-F3B5-47AC-B579-0809F827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423433971"/>
      </p:ext>
    </p:extLst>
  </p:cSld>
</p:sld>
</file>

<file path=ppt/slides/slide1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48CFFBD-E166-424F-917A-E7F1427C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Computer-Related Crime Act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93828-5F25-4413-BB54-DBEB3848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7BDF21-BDEE-4ED2-BC20-E8259E28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CFF5F-2815-40BE-9916-171904A3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634D8A-C0F1-4CCC-BE1F-4D74D9E4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0FCC1-4D99-401C-A85A-67892011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9ABD9-3758-4281-A527-942537F2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89A16-5104-44B5-A550-3919A43A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A903C-E083-4933-A16B-EE6A2177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0C518-F6D5-46C7-B66E-CE096D0A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CCAB3-AA22-4F6E-81AD-ECF34D2C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unauthorized access, data alteration, malicious tooling, disruption, or traffic-data requests are involved.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FEEC9-1A92-476C-B7B5-86C14988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3DBCC-7E20-468F-894D-AFED5B24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D81B5C-34CA-4594-A9CA-F5F6CADA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authentication, network, endpoint, application, and traffic logs.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227223-0BF4-4950-B690-687244B19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0A3534-49E7-4CEA-AEBB-3A6D573A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45BA7-E49B-40BC-9E93-F5F42B4E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Legal decides law-enforcement or authority response path.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609B8-710B-4ECB-897E-A5D5A385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B1BF2-2874-4D20-A8F2-6C4F7038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12F460-F598-4513-96DD-5BA5C845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D11782-3AE5-4A43-9CD8-25661FBD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DE2DD5-9902-4CB0-81BF-5E85B857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AD5AB6-1989-471F-92EF-ED0663D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02843-2768-4893-BEF6-35F0220F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854AA4-F008-4E4F-9294-8CB368F3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F2EB8-873E-474F-A73F-35F4C960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B8B5C0-8355-46E8-A4FA-989CF7F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9242EC-F8C2-464D-BC3A-393AEF80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693724025"/>
      </p:ext>
    </p:extLst>
  </p:cSld>
</p:sld>
</file>

<file path=ppt/slides/slide1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A70F52-48C4-47F0-876B-DD471386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Cybersecurity Act operating checkpoint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FC6A94-099E-49D9-BC5F-43D4E616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55156-E644-4E59-B3CC-CD28ED3E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4904F-1CB9-4814-8751-D085F409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3B99E-D73A-4C77-9827-570C173F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DE157D-D75D-4667-AA3B-E2E5175A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B9F6B-27E3-4388-A2A4-DB9145EC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D018A-B0AB-441C-AFCE-4713913C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222833-31D9-49EC-9CB4-3A6C7F28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FDBE8A-DA02-45B4-A4B0-03B0079D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B58CE-FC9E-45F2-9353-76C059C1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Open when a cyber threat may affect critical service, public-facing service, or public safety.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A9766-D0AE-4DA8-838D-4297B1E8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3208D-B8D0-4F38-A20A-65EB8430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763DF7-E4E4-439B-9E1D-2FE28E44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Prepare service impact, downtime, affected population, containment, and recovery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A0478-21FB-4256-9D92-B45FBE9D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742F72-DBEB-4D86-B3E0-CF1AD4CC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99C5EE-2CBA-4664-A1F7-2EB22FCA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CISO coordinates executive, regulator, NCSA, or sector path as needed.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D5D10-A082-452E-B315-E3171DAA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3EF96-9941-4771-8CF3-32BF5D53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73D414-8943-4A2E-B25A-64CCEF5D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53144-1F1A-4C82-9397-9210C57A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A45F8A-E55A-4F8E-A5E4-0077F7E3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0E8217-D03E-4568-AB1F-2866369E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21627-98AE-4083-ACD7-6A44B7BF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C646A4-B2DF-4951-A499-2793B92C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491048-9F67-4BAE-B11C-DDF2EB9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116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B19989-CAA3-4C84-A710-6879911A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103F64-8723-4DBA-82BA-F33466C2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537867707"/>
      </p:ext>
    </p:extLst>
  </p:cSld>
</p:sld>
</file>

<file path=ppt/slides/slide1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B5924D-D6AC-4386-9EDB-D55A2D69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Electronic Transactions Act and evidentiary integrity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9E0915-8240-4D62-BFC8-EBF6228E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05741-4C05-4D88-A32D-CA806F0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BF79E-7FBF-4321-AAD2-8C794709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5FE640-11EE-4936-86C8-DC98FE15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5ED6D-A838-4E25-86F7-BBEB0416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0B9A31-F307-460F-AAC8-68098012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F0CAA-EC75-47EA-801C-772100DF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FAC54-77C2-4091-8898-8F2A95A1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3AB791-7CF6-4250-A8DA-ACEA4FA6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7C891-F856-4B5F-A314-ECF29FF1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Electronic records may need integrity, authenticity, time source, and system-of-record proof.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C6E9E-47B5-40AD-BED8-E7118447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3A9809-0441-4B17-AAB8-C6010784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DC7E8F-4397-4D80-B751-ACDDFEE0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Preserve approval trails, digital messages, logs, and chain of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4C866-508F-4F69-938C-4C59E435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60ADB-02B1-40B0-8B12-13493FD9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96749-ECBA-403B-AB76-25AC8750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alter or delete records that may support legal or regulator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41F9C-2E38-4E4F-AB66-991941B5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E53B26-4AE2-4885-9518-82E03EB5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48EC8-86DF-4B79-B75D-1B517FF9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13C014-5B95-4A0F-A53A-F4D61FD0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85C19C-A1D7-4FF6-9C7D-919B7648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8F8400-714B-47B3-B344-50C2E2E8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E16488-E845-442C-B3F2-2CBBEBFF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C4094A-8264-43AC-B0EF-F3D6D922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74365-6D0D-4853-8800-F618211E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65FC59-2906-4248-89A3-C16EB43B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D69B59-CBDF-4446-8AE1-7777D518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327536151"/>
      </p:ext>
    </p:extLst>
  </p:cSld>
</p:sld>
</file>

<file path=ppt/slides/slide1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E02091-803F-4536-9BD2-3B1E0D40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NCSA / ThaiCERT coordination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FFA07-CEAA-4C04-B756-768C3067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70879-806C-44CF-BF79-A1EBB5A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E75DE-66EE-4444-A7FE-BB2C04D8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4C709-EEC2-43C3-8097-CAB71604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FB6B9-576E-475A-B8EB-B850F99E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18B3E-F6F8-41B2-8266-567C8A14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7A2F7-D6FE-4ED2-B6FA-9905DAB5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4247C3-83F6-44E0-B106-589E7583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872D3-6B7E-4039-B64E-D791680D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AA556-DE22-425B-AD15-4485C1EF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625BDC-2F3B-4FB1-A784-F18869A2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871C6-C923-4D47-BE46-E8CA2BF2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EFB9EF-753D-40F8-B369-4D3839A5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0CC38-5F91-42F4-90B1-751BCFAE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EF4CBE-9BC9-48F1-ABEB-C9D3FE96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597238-2A14-4C0E-A62F-7B4CCE0E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B17DA-0799-48A8-9EF8-5EBC083B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5C12A4-F0AA-4574-BC11-B99C47C3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D8AE9-D852-4B81-BF68-44BA636D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3E494-58F4-4DC1-924D-8EFF15FD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AA35D9-ACFB-4DD5-A223-D93A4FC5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FC9B79-8E1A-471D-A9E0-0FCBC10F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Use when national or sectoral coordination, advisory response, IOC sharing, or major incident support is needed.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DD87EF-CD43-4E24-9598-E4D2F746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700A5C-0008-4D63-A84F-B5668370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93A8CF-65F6-4333-BFFA-C2B69D31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Prepare sanitized IOC package, confidence, observed scope, and sharing approval.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D7DB2B-5F3B-4EBF-A31E-E8350C5C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F1885D-EFCB-44DE-8F85-55D4BB674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CISO and Legal approve external sharing and response content.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42E3AB-1A2D-462A-81B8-CC9DED10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C15826-8C9B-44EF-AD07-25BC87E87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DF709B-4AF9-4E11-BB57-7B250AFD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118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BD499B-8488-4280-BF33-E390C830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2776EE-1DDE-40B4-86B9-74FE5DDE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269338440"/>
      </p:ext>
    </p:extLst>
  </p:cSld>
</p:sld>
</file>

<file path=ppt/slides/slide1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085798-69E7-4531-8C24-FF7F229F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Thai legal trigger-to-action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71158C-DE62-4227-A072-D468ACE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FCDC7-43E6-4B68-8387-8C7EB8F5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99836-6F1D-4EDC-BFBF-C0B4A06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7EBAF-0AB8-429F-916E-B05A3CBB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B4DB4-6F69-454A-AB24-D7183C845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6BB736-C7AE-418B-8102-306B9471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7FD71-7142-46F9-8986-174BCE5D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71BC1-4F34-4107-A2D8-9A65766C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29CB7-DB52-4E55-8F2B-569DE3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45DA4-3932-40AD-9A3A-C33EE271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87166E-EB90-4F89-8CD1-A66BA374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2D4F5-1754-46D2-A3DC-24DA77E1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02962-C75D-46EE-B40C-4AFBCBEB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99C4B9-4B59-4E92-8C27-56AF8288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EF602-C9C3-4F18-9860-9F147BDE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AA6646-64CD-4551-A476-3CE9615C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4B0479-E804-4E38-A39F-1AD8331A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3C43C9-9F32-4656-A77D-718572DD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9ACBF-F108-4B43-BE05-63D16522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2DB158-39B9-48C8-8F90-90F6FD25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B3681C-02BE-4878-8EC9-0C172B07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CF080-DCE0-4E9A-B034-8BF0DCD5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Trigger identifies whether privacy, computer crime, cybersecurity, electronic evidence, or coordination path opens.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0DC54A-7E74-4706-B67D-8823FE74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4BCB24-0059-4F45-8974-68135FFD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3D6B48-E4B1-49BE-B469-CC036666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SOC action preserves evidence and starts decision logging.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12A980-3A8F-4DDD-B846-273B9935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8C504A-9CC6-4C59-BD0B-BDAFDC60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Owner and notification checkpoint prevent unmanaged external communication.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61EBE4-115B-49CF-AE8B-9CDED321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229180-9F61-4D9F-9BAC-E2EE96B6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A11777-FC62-4B63-AE37-072EF043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119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6FBEEB-8AF9-4CE9-9450-6D3F5958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B9514B-31CF-47D8-BADE-ADCC63DF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2141246197"/>
      </p:ext>
    </p:extLst>
  </p:cSld>
</p:sld>
</file>

<file path=ppt/slides/slide1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C1E2A2-6C49-4479-A823-433F3FC8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Notification decision and evidence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ECA48-C874-4F70-BA09-74D5A000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8FE3B-F05E-4047-A6F7-C24882F2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86764-F9FC-4107-8BA2-0DA28E17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E13F8-98CA-4758-B804-385D4BC2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221B3-8FD3-4BB8-9858-0613320A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C81B9-BE37-49C0-9FB2-99B005F5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B07BD-2BDB-4C13-9D65-799F6F22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0ED1B-4D14-48EA-9C8B-D8EBB56A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6953250"/>
          </a:xfrm>
          <a:prstGeom xmlns:a="http://schemas.openxmlformats.org/drawingml/2006/main" prst="roundRect">
            <a:avLst>
              <a:gd name="adj" fmla="val 191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79FED-F814-4856-8CBB-8932EF8A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6E770-EF61-4B2C-B79C-12BCECAE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9C638-85C2-44F5-BF2B-23E13031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D031B8-7469-4B13-AAE3-35DA19EF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794A7-C78C-4551-A5C6-2C8B0FE2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1F0B1-DDBF-4C80-AFC3-9A7500ED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762CA4-D442-4470-BE58-B67B0B71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FDEEEC-1DA8-4F08-95BF-9082F9C7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D60265-A042-4470-AF93-E0489D85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831E9-23D6-49DC-A661-F084778A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3084F-5E46-49AD-A430-7B3A960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314AA9-91D5-4D12-9285-514936C8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48403-B1F2-4CDB-8DE7-03CAB84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88C03-4F2A-4C95-A47F-18A7F99B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7842EB-B9E3-4A8F-89FF-ECD54CE5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7FB170-16A4-47A1-9A78-0CFDC4A4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42318"/>
                </a:solidFill>
              </a:defRPr>
            </a:pPr>
            <a:r>
              <a:rPr sz="1800" b="1">
                <a:solidFill>
                  <a:srgbClr val="B423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26A57F-3ED4-49DA-A96D-00221ADA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FF8F76-EDC0-40C9-9D82-196705FC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Decision states notify, defer, or not required, with approver and next review time.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69546-1568-4846-9916-A5D866A8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003AAF-AF00-4705-A0F5-75BCEC3E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Evidence package includes timeline, affected systems, data impact, logs, chain of custody, and draft message.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27B95E-956B-4F5F-97AD-4C900F00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528F2-E109-471E-AB63-3EFB2D58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Facts and assumptions must stay separate.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EE9F22-8A56-4E76-822C-F4EEFDE3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957868-2BC4-479F-92F7-5AA33CBC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1CB344-3AEA-41B3-8A52-1B90E92A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366164035"/>
      </p:ext>
    </p:extLst>
  </p:cSld>
</p:sld>
</file>

<file path=ppt/slides/slide1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17612D-71EB-48CB-A710-D3914F2E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Thai legal escalation template in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89699-CDBF-48E8-9000-ED5727DD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E26466-64FE-4CAB-8A43-8C25AFC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7FBBFA-0C50-41AD-AF3E-1845477B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61DEBC-16AE-4852-9B0D-22A553F8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7CBA2-BF84-47D8-B65F-AF5F75CF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DDE3D-0746-415B-A8EB-65EA5905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750DE-83AC-4926-897D-4B9B2B2B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DDEA-A107-4986-AE9B-5FA5EB5D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0F1BB-19AA-48F9-AB00-C7BF049C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Checkpoint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72FB4-96DB-4E31-A96E-589A0360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B82EB-8C48-4993-87BB-2724BA6F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SOC provides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701E65-1CD4-418B-90CC-E22BC145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1DC26F-A485-4116-9F7E-A48705C0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Decision owner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08146E-3889-4E01-8FA1-0CA3D372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26A51-AB1A-45DA-AB73-0FE1EF87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PDPA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7ACF6-B551-486D-9E9D-723B29EE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7C6D1C-6A0E-4001-B30D-0B99200B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Data impact facts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45A6F7-B778-40C6-B757-C96AC4D5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E81A9-B70B-4426-9196-A8D5458E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DPO/Legal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5BDCBA-B614-461A-963B-188E6A56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1674C8-E86D-4281-9AD9-1113563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Computer Crime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5B6684-D651-47DF-BAA8-950D4607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EC0CB9-5E38-44AE-81A0-1BB44922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Traffic/access logs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FE4888-0D99-4155-9B20-82000A6E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A50E55-340B-4B47-A858-E998505A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Legal/CISO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B9A6CA-C682-487A-BACE-31603B80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E38A29-4B14-4891-B597-EED9949F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Cybersecurity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7A3BD0-0C1F-4F84-BC24-DF84BD1F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4CE662-B88F-4288-BC19-4AB3A63E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Service impact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C4F602-EF70-48CD-A76C-01575A70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CBE372-52D0-48E4-9DD9-C989BB10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9DA43A-849A-4B37-B9AE-09BA9691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DB1905-785C-4473-8DAB-5DC4C3A4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Electronic records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671DDB-B65D-4407-9C87-296EA2D8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E3A83F-B4BA-48CF-8EC8-F44A5BB6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Integrity/custody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22EABA-51EB-4765-93B4-3158F4F1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60DF62-BD68-4E05-9135-2668B733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Legal/IR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D037F5-9468-4956-9C08-FA1E44DB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121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5CA8471-123F-4EC0-A94E-DE6C31B2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C71AA1-384F-46F4-A1AB-8BDBE04E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62865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166503111"/>
      </p:ext>
    </p:extLst>
  </p:cSld>
</p:sld>
</file>

<file path=ppt/slides/slide1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9865C5-6CC5-47A9-AD03-F19BC329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Workshop: legal-impact and escalation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BC8A5-1A1F-4781-A958-4C20E086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F2BC7-E805-4741-A7CF-5C27E32C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2C36C-73FB-4638-A9B7-CDF7733C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02E20-DFE2-4A05-8DD8-45A77852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60381-6738-4835-AD75-DDF6FDF5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892E1-CFB6-4FC5-ADB3-89D2FA4B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6F6CE-4D7F-401E-B1B7-DEF65A15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Screenshots appear on social media; legal-impact checkpoints are opened.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D6753-F64D-4470-A35C-7FA1DC29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067FAF-0812-44E9-AB8B-9C85183A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42318"/>
                </a:solidFill>
              </a:defRPr>
            </a:pPr>
            <a:r>
              <a:rPr sz="1200" b="1">
                <a:solidFill>
                  <a:srgbClr val="B423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B34A4-B27C-49AA-882C-D7A94B79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F22EAA-F7E9-4A20-ABAE-DF8B17B1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D4670-1A65-4434-AC7E-06C7B381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CAC65-24E8-4048-AA7E-4A6C2CAB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167009-648C-453C-8476-AFB86C81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AD949C-63A7-40F0-A2CA-3B0E8030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332492-5917-4A4F-A6B2-7BC61C51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975FC-520D-4CE1-A8B7-B24B6EED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E28D57-8520-492C-A680-61740983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B753D0-DEF5-41BD-A65B-6797D175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7260B-EF2C-4182-B9BB-55663809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69BE00-B92B-4441-90CD-81675F8F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D5E0D7-5DFC-4551-85A2-61107125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CBC1F5-CF4B-4ED8-8D12-1A7A0196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F9D8B6-AA0B-4A7D-BE5B-62EE7850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B08F3-59D5-4DD5-A770-2370C5BD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5CFC17-8734-4CE0-B38A-A6587590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545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A8692D-648E-44D6-9ADF-1DAA9355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196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E8A2D3-AEF0-4FCD-B0FA-92E9AAF3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5F458E-278F-4919-9907-775A6FB5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549373-F209-4C15-B3D7-BDFA7ED4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612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6F286F-91D7-435E-B2DE-C673F02D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390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1C5202-3F54-4E8F-AC62-641A088E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42318"/>
                </a:solidFill>
              </a:defRPr>
            </a:pPr>
            <a:r>
              <a:rPr sz="1125" b="1">
                <a:solidFill>
                  <a:srgbClr val="B42318"/>
                </a:solidFill>
              </a:rPr>
              <a:t>122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35F9DE-7557-4FBF-AF59-B9849159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0591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Thai Compliance, Privacy, and Legal Operating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017BF9-420B-43AF-998C-B761DC10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9486900"/>
            <a:ext cx="4781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07_Compliance_Privacy; NIST, MITRE, MDES, ETDA, GPPC/PDPC, ThaiCERT</a:t>
            </a:r>
          </a:p>
        </p:txBody>
      </p:sp>
    </p:spTree>
    <p:extLst>
      <p:ext uri="{BB962C8B-B14F-4D97-AF65-F5344CB8AC3E}">
        <p14:creationId xmlns:p14="http://schemas.microsoft.com/office/powerpoint/2010/main" val="256703014"/>
      </p:ext>
    </p:extLst>
  </p:cSld>
</p:sld>
</file>

<file path=ppt/slides/slide1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7CFDBD-B680-48B6-BDDA-E958D766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5BC9C-ABAC-4497-9B48-6D0FDD5C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C98218"/>
                </a:solidFill>
              </a:defRPr>
            </a:pPr>
            <a:r>
              <a:rPr sz="2550" b="1">
                <a:solidFill>
                  <a:srgbClr val="C98218"/>
                </a:solidFill>
              </a:rPr>
              <a:t>123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A038D-4520-4A97-AC5F-A9D683F8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REPORT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C79452-35EE-4FFE-886B-0443D139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9A2B3-E07E-4311-8B7F-093A6811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Translate technical evidence into executive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0C77C-28DA-469D-BC6D-04645AFB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9CDB9-367C-4F09-ADE0-E2F2EE07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F7A21-FFD8-46A7-AB8F-71D4045A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20EF86-62BD-443E-94DA-37581958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Incident report structure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48E8C-C7D2-47F5-B2F8-BDE21C8C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023F6-BB83-4B11-ABAF-3308D923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1DA30-695F-4D5B-9635-63C9253D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AC992A-98A9-41FB-B1A0-59319EFF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6B2FA-37F4-4CCB-96CA-11A68CA3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183B97-7B00-4F7D-ACA8-769E79FE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D72E3-DB0A-4204-9AF7-127724CB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FBED80-1F95-4294-AE59-72C42BE6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Report what happened, when detected, systems affected, evidence, impact, actions, and status.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3853A-D6CB-45EB-96CB-ADAB3DBD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090F6D-6C65-49E4-850B-F0951101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33ED4C-A945-4259-BDEA-87758D50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Separate confirmed facts, assumptions, decisions, and remaining work.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0612DE-E03C-4D66-BD79-FA89F94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5242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A1CC39-3525-47EF-BB5D-6FC0C002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623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0421D-9795-43BB-BF15-39CFAF94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52425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Tie report sections to severity, legal checkpoints, and executive communication.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965FDE-E965-4EE6-94F4-DFEB6D85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211B5-CEB6-4814-A7C7-4F3BFC4A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3CFDB-CB00-4397-BBFA-8E9002BB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289726-1400-491E-88CF-5D575CA9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123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4DD18E-2031-43F2-99F8-F6AE8FAC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7200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B3E170-179E-48D1-B228-4F88CB60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579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103879054"/>
      </p:ext>
    </p:extLst>
  </p:cSld>
</p:sld>
</file>

<file path=ppt/slides/slide1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54BB2D-B883-4793-8B82-D54E6873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Incident decision log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00A96-3849-4B3C-9917-09B7D28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714B1-5353-4B62-BC56-19936C27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22C71-9293-43A2-A83E-2172B2D6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F94E0-7290-441E-991A-AA0A18AE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D5AE1-CE6C-4074-9E7A-2CE782ED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A88EE-FA21-494B-BF54-08261853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FEF4E9-BAC4-4508-875D-6E1819E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6ABB9-A7A9-440A-AB8E-68F9EABB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3A8AC-65AC-48DD-BD3B-7FF376A9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4CECE-51EC-4A28-83E3-C90BDDBB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7E853-328A-4B47-AB28-22A17E9E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DE736B-C92D-469F-8851-9C831A80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AB51B-2AB3-4962-86CC-35EB7750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08222-318F-4BA0-96DF-9F92BB3A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D99D8-D1C5-4195-BC61-9EAC3041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E5082-681A-4188-B1DE-442B9C8B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2F581D-FF14-4A95-A695-78839BCD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B0B9DC-7DFE-479A-9394-DC0A3D88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2038FC-09A2-4F2E-90EF-EFE964E9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9E384-7856-4655-A564-BA9F2015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D08CD-8DEE-47C6-A1B4-678F4466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A93187-B690-433F-818B-968B69BA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996C6A-7E3B-4E5B-8633-7D55C021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ACBF9E-8CF4-477D-A2D8-A086E90B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3CE27-B47D-40A2-BF3C-1BC427DC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26548A-BB0E-4914-B97B-1DC7D1E7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Capture decision, options considered, evidence reviewed, approver, time, and next review.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704A15-1345-458E-B148-AA0F118A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111153-87D4-40B7-BFD4-6F67ED57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for containment, shutdown, notification, external statements, and risk acceptance.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5907D4-D3A2-400A-961D-659B67C7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704999-F48B-4E45-B1CA-34BFB502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Decision logs make post-incident review faster and more defensible.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A65FD6-C2B7-4A07-92E9-527E9567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124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9842E-1F46-45C8-B5A4-708FB3D1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79427A-66F7-4B2B-A669-638C3E61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840412664"/>
      </p:ext>
    </p:extLst>
  </p:cSld>
</p:sld>
</file>

<file path=ppt/slides/slide1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DCC528-58C6-4E8E-B5AA-9AFB4F61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Monthly SOC report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C4571-ED07-4F39-8D98-D9979C66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C6DCF-D78C-4F53-A29A-D11BEE85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C546E-045A-44D0-80D6-EBBA44D3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76E7F-BE0F-4FE1-93B5-81E4A336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63D90-CEE9-413A-A26F-9F286F46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59692D-3590-4523-88E7-8A7105BF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CC4D4-C22B-4075-91EF-21287425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3E931-0550-41AD-BC69-1737F489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FE004-D1BB-49DC-9428-A12F277B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C98218"/>
                </a:solidFill>
              </a:defRPr>
            </a:pPr>
            <a:r>
              <a:rPr sz="1650" b="1">
                <a:solidFill>
                  <a:srgbClr val="C98218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15866E-0189-443F-AAC1-E88791E3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43CD2-B312-473D-BCDF-A67C87C3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A02A6-8542-420C-95B2-75AF3D40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01BD3-5FDE-4F8A-9014-5BB7A6E7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BCE23C-E3C4-4D0F-A3CC-3F2DD21E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287207-1C30-48D7-B417-369CACE0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5275EB-2B99-45C6-ABE6-A7BC07CF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443FB-AAF9-40E8-BF9C-88B0B18F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A92D25-0975-454D-A5B5-44B9184C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DF8140-0F17-41F5-A410-D8D0F41F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04CE7-DBEC-4AAC-9282-3C09EC68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BD9F93-E590-4F37-AFD9-39ECEE08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98218"/>
                </a:solidFill>
              </a:defRPr>
            </a:pPr>
            <a:r>
              <a:rPr sz="1350" b="1">
                <a:solidFill>
                  <a:srgbClr val="C9821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5129AF-67C6-479A-B60E-12F83B80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FA396A-2085-4EFD-8965-D1193F73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C3F72-64F5-4015-BF3A-0E95A63B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C4E78D-C4D8-4107-AFA7-E7A4F403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C5D42D-F424-48EF-BF22-4BAE3321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Report incidents, alert quality, backlog, telemetry health, detection changes, and remediation movement.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74B5C-B2A4-477B-9B0B-EE57E532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F81EFC-C89F-4542-ACD3-ACF5F9CB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trends and decisions, not only activity counts.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76024D-A9CB-4259-A0D4-FB967101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1B5667-3864-4293-89A0-B35F94ED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Connect operational findings to business risk and required action.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48129C-16A0-49AC-B039-49924644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125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A12FCA-AA91-46A9-B451-849F5048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C1C76E-61E2-4D09-84BC-40728658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398993984"/>
      </p:ext>
    </p:extLst>
  </p:cSld>
</p:sld>
</file>

<file path=ppt/slides/slide1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3D6F76-4866-4F63-99BF-FAFCF75F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Executive dashboard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B4111-C464-4A74-AB19-326E5F1B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461F0-AE2E-44E4-99C8-E35751BB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9166C-8F36-4C7D-B547-60E901F3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7C833-70D3-4B14-A089-BE27A777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D1F43-8000-4251-91E7-20EE0817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9C423-D037-441B-ABA9-EF5DFF24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09260-E31A-49EA-96EE-1A5915DF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B9A95-8470-40BF-A262-F4785EF7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A3193D-1D68-49CE-A41A-B065A1CB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B42318"/>
                </a:solidFill>
              </a:defRPr>
            </a:pPr>
            <a:r>
              <a:rPr sz="1500" b="1">
                <a:solidFill>
                  <a:srgbClr val="B42318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148EE-9C7C-4D95-ACAA-A119D282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Trend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3C4DA-A77A-4A90-A5C8-33D9E933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2324100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166B8C-5EC2-45E6-8037-1C7B9CCE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C2AFF-F346-479C-A2AA-48598690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8130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Signal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B17FFD-2A4F-4377-AEE3-9E94F36F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C85C9-4D9F-4B19-BC25-2CD12FA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Backlog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2D14F6-BBB2-46D5-88B8-4CD64CB2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D02C5-98B1-4B38-BE69-36BC2E39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66" y="5929313"/>
            <a:ext cx="3597116" cy="14668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EFEFA8-858F-4460-9162-3C9ECCA9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096000"/>
            <a:ext cx="3181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D7AFFB-D290-4F31-B5C8-E76C7176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381750"/>
            <a:ext cx="3181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202A"/>
                </a:solidFill>
              </a:defRPr>
            </a:pPr>
            <a:r>
              <a:rPr sz="3150" b="1">
                <a:solidFill>
                  <a:srgbClr val="17202A"/>
                </a:solidFill>
              </a:rPr>
              <a:t>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A8AF99-1B3D-417D-8E07-6FF70494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897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 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E18AD5-C345-4B32-889B-D020E712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2705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BB71C-9D4D-48BB-ABA5-097D1B2A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6550"/>
            <a:ext cx="85534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Executives need risk posture, trend, major incidents, open decisions, and resource needs.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4BA1AD-A6CA-4E63-A310-53C0ADC6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3848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943694-0F50-42FD-A668-8E5623FA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19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Use concise metrics with explanation of what changed and what decision is required.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65C4A5-6A96-4AA4-A698-A86541C4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7733" y="4991100"/>
            <a:ext cx="8979218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E3526A-D381-46FA-B24B-4A2E318E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62550"/>
            <a:ext cx="85534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Avoid analyst-level detail unless it supports a business decision.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A6B548-EEBD-45D5-8FFF-9209FC25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126 / 142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B2A711-37BF-451D-B28B-5B0B4902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DE8750-D909-49E1-9913-6C8D8528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52183748"/>
      </p:ext>
    </p:extLst>
  </p:cSld>
</p:sld>
</file>

<file path=ppt/slides/slide1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04CEFF-A094-4AF6-A138-75168EC8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Board-level decision pack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201CA-8FED-4896-81AF-E9D72BD1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99C1C-72EB-4D33-A8B0-8DA03C92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E4E182-518D-46ED-9D59-DFE0C046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05ADA-3869-4F85-80DD-54051A0FA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4D434-F7C3-47BA-B8CD-1506938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08410-3D28-4AD4-BC7D-FF9C9238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803133-44B3-47C8-9D7C-6F32B6B9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541757-759C-48D8-B6B7-BAB9D2F4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4FF22-AA7F-4407-AAA2-09324309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76A4D-5A59-4D19-8C6E-F8056508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Board material should show material risk, control gaps, accepted risk, funded actions, and progress.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15403-A8AE-41B1-990A-66971AD4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BD5E57-556B-4FFF-BB57-2D1A6A1D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5C613E-F9DB-495F-B621-24A05220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Summarize consequences of not acting.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83F84-4957-422A-8D43-542FEDC4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41AF7-96DF-4634-8EC2-1BBEA12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F30E4-B96A-4ABC-90B6-2BAC6AE6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Link incidents and recurring findings to strategic investment needs.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31517-341D-4CCC-AF22-CB0D50AB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4A5520-0D5E-4160-95FE-F2E0B607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E53ECD-AA13-4EDB-9EE4-FEF76301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7E3612-48FB-49BE-9EE3-2E9E1631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73B62-AA1E-457A-9A6D-8F1B6760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3AA7E4-CB95-45AB-B88E-EB9E68EB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12DDAF-AAB7-4140-B381-E2CB78D3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206068-CA35-4A13-B280-F7763A11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BA9CD-2657-4E5F-BDDE-B4610E2C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127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53CF8-78CD-4E98-8E9E-3253540C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240827-C97E-4A88-91A1-2C9FCCB6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722288236"/>
      </p:ext>
    </p:extLst>
  </p:cSld>
</p:sld>
</file>

<file path=ppt/slides/slide1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401F67-CFB1-4179-B927-E9D21D65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Communicating facts vs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35CB0-DD8F-46F1-8FE9-4E0E8A2F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3C4AF-EA8A-40B4-8805-0F244CA6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8277A-D44D-4853-96BF-DC36439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65EC6-DDD6-4AEA-A8E1-8CA36CED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AC951-BB74-4CA5-9295-6F6A038F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FC58F-EF12-433B-9CC1-2E0D6931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26CCC-3E04-4111-9009-D958FF03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692D0-AB98-426F-A143-7DCB2F10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04112-E5D4-4B1C-870E-74C30B10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2A16A-6786-40CF-8702-3C5FC16F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Facts are observed and evidenced; assumptions are current interpretations that may change.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B5465B-28A0-4E14-A25C-F1D164AE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5E524-E6BB-46B2-9E3B-75D28755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6F8D4-2ECA-4492-9784-3640DF4A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Do not let draft statements outrun the investigation.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834A37-5C48-41A8-9E6B-55FA16E7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19B137-0989-4B40-9E0D-A7975D8E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711F4B-4DAA-4108-8308-E54A1FF6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Every external message needs approval path, audience, scope, and version control.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15EC0-696B-4B22-A7B4-5DEB064E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34011-AC64-4B4C-A011-A59732F8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454D92-934E-493C-87F1-8A604966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8DCD3E-8468-4644-952D-45922959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138B9-482C-49DC-880F-EF0DE803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9A8D3-4874-4696-A1AE-4A9832BE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2AB092-1D48-415B-B187-925BF9AB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1A87F3-0CED-457E-9602-06E91BD6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B5CD71-C433-4F4F-BB2E-D2DC344A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128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208D79-231F-4356-BA25-A88F4940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D6202-2539-4BEA-9673-113585C6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159891160"/>
      </p:ext>
    </p:extLst>
  </p:cSld>
</p:sld>
</file>

<file path=ppt/slides/slide1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63E1A3-5E92-4271-AF87-C3684B36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reporting template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3B25E-79F1-4BCC-A4A0-0F44820D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D401F-3FFB-4048-9482-CEF8CEB2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C345D-0C54-4CE7-A66E-0998B827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10B20-3AFE-4AAA-BC9E-A3F87F80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A6119-2628-4D1F-8A9E-4F5CC623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C4845-3762-479F-95BA-F92BE4DE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DBAEB-4C02-4F1D-BE27-8414619F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E6084E-A5A8-471B-B35E-5D858BCF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531F8-78EF-4310-BCE4-68CEFB7C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Template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2637E-31B4-4EF3-9342-4642BDF3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B40AE-1191-4597-816E-72EE4BB8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Use when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7EAC3E-7EE8-4E2F-9B29-376D62B3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7FA2D-BF16-46FB-88FF-EB74BB44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CD0B16-519C-4A1D-86C1-10210851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1C4CE-BD3B-49B8-83BD-7F53DC7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Incident report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ED05E-A22E-45EA-84C2-6150F693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46604D-50F1-4C21-8E93-5346AFE5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Case lifecycle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CD0083-5816-430A-BC4B-96F424DA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10A51-3D75-4E6B-99D4-6464ED8A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SOC/IR/Legal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E7879C-A337-4FBC-BB17-410199B8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748E7A-02E2-49F6-A5AA-FB89084D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Decision log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E51D06-7CBC-4E0F-8AA7-0D22683D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CC7A4-6002-4650-A39A-A1828E4C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Material decision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67FE62-6F31-42DD-B444-B565E989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B3BB69-1198-4A71-8F5B-1DA36DB5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CISO/Legal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D19C9D-DE9F-45A5-A351-F68E22DF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EE6203-5161-4376-AD9B-3467A72B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Monthly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482187-DCD6-42BA-9281-05D5C58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AF01D5-1BF6-4D3C-8BF8-7D2D2150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Operating review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17B0F9-8395-43E9-9B15-3C7B40FF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F2C86E-120B-4699-B252-2FA70E5D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SOC Manager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DE90AC-C2FF-4030-A099-0CCEBD4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4C3891-CA60-48F6-840B-EAA96823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Board pack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77EC69-D61B-4C56-BCD1-D2942D76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D317F2-B8F6-40ED-BE98-9BBCE618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Risk decision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E8EE24-4533-4A30-AC72-D4B2271B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5E72C2-C0FD-4043-98AE-70F09D88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Executives/Board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586B7C-0D24-465A-9060-5869FBF0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129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F1C150-F2B0-4F79-88D4-6B2D8919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D1B31E-0ED5-48E8-86E9-988E483D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62865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761638532"/>
      </p:ext>
    </p:extLst>
  </p:cSld>
</p:sld>
</file>

<file path=ppt/slides/slide1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FA159C-AF5E-40E0-8CBA-B066E639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Worksheet: executive escalation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6880E-D9FF-4EA9-B6AE-7F542B0A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EF584-A4F6-43AC-B039-90681D5C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C5095B-75FD-458A-ADD5-774AF52D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218"/>
          </a:solidFill>
          <a:ln xmlns:a="http://schemas.openxmlformats.org/drawingml/2006/main" w="0">
            <a:solidFill>
              <a:srgbClr val="C982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CEF4B-698E-4EB8-A6C9-779CD5C3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FCC489-2945-4165-9F37-C6CF5C67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9D857-1B07-466B-83F3-3791FD01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8218"/>
                </a:solidFill>
              </a:defRPr>
            </a:pPr>
            <a:r>
              <a:rPr sz="1050" b="1">
                <a:solidFill>
                  <a:srgbClr val="C98218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E3E83-9967-42D8-A1F3-40A5E0B5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391FF-AD68-4130-904E-21937DE5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70571-3F61-46E3-B108-2571D554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98218"/>
                </a:solidFill>
              </a:defRPr>
            </a:pPr>
            <a:r>
              <a:rPr sz="1200" b="1">
                <a:solidFill>
                  <a:srgbClr val="C98218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8F355-3F41-4E1D-94BE-46CF1A2B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8823B-B4FB-4CF7-AE2C-E12F84AD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9821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83224-654D-41C1-85E2-EDEEBDF6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6F209-D46F-44CD-B136-D15DC685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Work in teams and assign one owner for the artifact.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0A583-7EC1-4DFD-B6B8-F476C61C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B879D3-D61B-4874-B296-E5BAFC56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F3EAD-8F32-45D8-AD74-5751AD37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placeholders and the repo templates rather than inventing a vendor-specific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21065F-A1C7-49B4-AA64-1159B6D9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6C55A4-E0BE-4A2D-80E3-3AC8BCEA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98218"/>
                </a:solidFill>
              </a:defRPr>
            </a:pPr>
            <a:r>
              <a:rPr sz="1500" b="1">
                <a:solidFill>
                  <a:srgbClr val="C98218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EEED90-10AA-4BA0-B01F-143DAA5B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End with a decision, an owner, missing facts, and a next action.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2EF1E-C018-45FC-8777-B7929C98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3F09BA-8791-478D-B140-1C637960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BED51-92C4-404F-8235-4B6488C3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C28A5-5E35-48F1-9B5C-730C291E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4025E6-36D3-4A5C-8125-3AB5AF22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4B8A91-F2F8-45E0-AE9B-D421B32A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F4F71B-D418-4A9E-B477-648F7773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755E09-4B97-444A-AE41-3A217DCD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2247DC-9212-4DC9-84D5-A8221000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6052B5-A3D7-4975-B910-1D253FFB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22AD07-AB7A-4E6D-9120-1F1B0167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5BF252-0C12-447C-9F9F-8B25FC9C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008296-B6B5-4CD0-B502-B4D338A0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C98218"/>
                </a:solidFill>
              </a:defRPr>
            </a:pPr>
            <a:r>
              <a:rPr sz="1125" b="1">
                <a:solidFill>
                  <a:srgbClr val="C98218"/>
                </a:solidFill>
              </a:rPr>
              <a:t>130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5AC090-36E0-45A3-9C30-31C6D1C8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35445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Reporting, Executive Communication, and Board-Level Outputs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2B8165-87B8-47EA-BA31-2D7382F3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9601200"/>
            <a:ext cx="182880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11_Reporting_Templates</a:t>
            </a:r>
          </a:p>
        </p:txBody>
      </p:sp>
    </p:spTree>
    <p:extLst>
      <p:ext uri="{BB962C8B-B14F-4D97-AF65-F5344CB8AC3E}">
        <p14:creationId xmlns:p14="http://schemas.microsoft.com/office/powerpoint/2010/main" val="28538698"/>
      </p:ext>
    </p:extLst>
  </p:cSld>
</p:sld>
</file>

<file path=ppt/slides/slide1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A12D54-D25A-4930-8235-F341A43E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251CE-5565-4328-8774-9F7AE5CD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D7C66"/>
                </a:solidFill>
              </a:defRPr>
            </a:pPr>
            <a:r>
              <a:rPr sz="2550" b="1">
                <a:solidFill>
                  <a:srgbClr val="0D7C66"/>
                </a:solidFill>
              </a:rPr>
              <a:t>131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29FB0-1AED-451F-994A-B27DBEE9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55FC1-195D-4A69-9786-E075CD3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43C7E-2307-49D7-AD47-04F5E63F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Turn exercises and lessons learned into capability growth.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7B250-C96A-4738-8B03-5B96349C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533FCC-02B1-4648-99A1-81C4D83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D7C66"/>
                </a:solidFill>
              </a:defRPr>
            </a:pPr>
            <a:r>
              <a:rPr sz="1350" b="1">
                <a:solidFill>
                  <a:srgbClr val="0D7C66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D4CBD-8E81-46E1-8B1B-FFCA0D05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09B40F-6E13-4CEA-9776-5D9A8A6B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SOC onboarding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EAD4F-A9BB-4C49-B3B7-272E273B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74B9C5-CFA8-47CB-93F0-F9BF3DD5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ED1981-AD4E-45AA-A3BA-E7E214B5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1803B-96D6-480F-94B4-1244B579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5BE8C-07B4-45AE-81AF-43C2620A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D7C66"/>
                </a:solidFill>
              </a:defRPr>
            </a:pPr>
            <a:r>
              <a:rPr sz="1650" b="1">
                <a:solidFill>
                  <a:srgbClr val="0D7C66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B4A92-C74F-41B8-9D7B-0D6C38F0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F1A80-6356-419C-995F-BA2E7902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D048E-3A93-4BAF-B6AA-BC24D8F6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Onboarding should move from access and process awareness to shadowing, guided work, and independent handling.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697CC0-269D-4C18-BBE0-2FE876E9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A6E8EC-AE4E-4036-896A-F0626814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B145D1-CBEF-4D9E-A56A-483CB6EC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Competency should be checked through real triage, reports, escalation, and evidence quality.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4AED86-C3B2-482E-882B-BEA509DF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53DA68-A936-49E4-867D-F346A8A0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2D7A55-8ACC-4BEF-9F9F-7B05143F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Training records support both readiness and audit needs.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68198A-2499-48DA-9699-90E6B362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38150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4508D8-327D-4263-9B28-CDDBF1D0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59105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9C5B6-E6D9-489B-89DB-4D1C3EA3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9105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8EEB02-BDEA-4A47-A4D9-0EF8BBF9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9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131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F6E574-5716-420B-9A74-97EC3906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791200"/>
            <a:ext cx="5905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E7F12A-DE5A-450E-9578-5733C9C8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57912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227756235"/>
      </p:ext>
    </p:extLst>
  </p:cSld>
</p:sld>
</file>

<file path=ppt/slides/slide1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F56F64-C42E-4F5C-BF21-8598EC23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Analyst development and cross-skilling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A9801-74F7-42DE-B445-B05A099B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A61F3-554A-442D-B088-9D0FFEE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475BF-B4A6-49F3-822E-F948F7A9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20C4B-AF03-46C6-8DC8-4122F28B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FD078-4BA1-4A31-BB8B-B6F0EA92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22C4C-63D1-4CC1-B661-BC7C4B50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9C79D-DDC1-4CF5-869A-8221E7B3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1B98D-7082-4561-9A1B-88740BB8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A64FAB-95DB-444C-96D5-D56C293B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7317B-7225-4C6A-B44C-FCE3C8C0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Develop analysts from queue handling toward investigation, detection logic, and incident coordination.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BBAEA-A46D-4512-B23A-B4012301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01CB0-D2D2-4B50-87D4-B3813789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D9372-5168-4860-93F4-F5CB6B64C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Cross-skill engineers and IR roles so workflow handoffs are understood.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67838-1BF5-40C5-9E27-707585C7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396D5-DBC1-48F0-8FD6-E0703837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85ED25-2E86-4D03-A3C6-AF8E0C7D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Map skills to role expectations and promotion criteria.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C6038F-BC34-43B4-AFBD-6D9EFC87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7E410-D9E0-4BDD-93D8-CABBDE38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CC233E-173D-495F-85F1-3F1FF7DE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22C030-2DD1-42F8-89C0-1EA00050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F9224A-D9D4-4564-ABD6-031C218D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C2A67B-6691-430F-B29C-754A310F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086410-86E5-4094-9F74-90F32164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1073EF-D61B-4E6C-8092-D1055A15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865EF5-6E11-47F6-9754-A5C8398E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FDB58-A5DD-43E8-AFE3-0D681264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8E426F-CDBB-4330-A6E1-2E8E9FF7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016839399"/>
      </p:ext>
    </p:extLst>
  </p:cSld>
</p:sld>
</file>

<file path=ppt/slides/slide1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D002AE-4878-46B4-9ACE-EC2400F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Simulation and purple-team cadence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FAD17-1C97-4962-A95F-E7499FE1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3F6F90-BA75-446E-9B12-51460DB7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12BA4F-9DC3-4876-930D-D77024A1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42290-7784-4EB3-9AC4-7A1C96A0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487C9-0E2B-44E1-BBD6-00EB7BA9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4E1BE-E031-40F2-B42A-4F9CFEA5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D102E-9D20-44C3-8EF8-76F2FAA2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6B84A-4BA0-4E21-874D-E57C285E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04888-2603-41A7-87A0-44EF958A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ABFDF-B0A0-47E0-A1A1-DA02B3C6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Simulations test people, process, telemetry, detections, playbooks, and reporting.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CE56EB-D27A-479F-BE44-FFBC7850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44032-B386-4201-8E4E-0A8FC49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D2D54E-6DB8-4876-8C20-A3688652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Purple-team exercises close the loop between attacker behavior and defensive coverage.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AE016-9914-410C-ABBE-D42F59B5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BA7D7C-2EE5-41DC-A9BA-A84C2B7D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119707-4173-4C13-B97B-B8112926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Capture findings as detection, telemetry, playbook, and training backlog items.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7C2548-9D4D-43CD-95CE-D4512A0D9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0DEDC0-3E78-4460-B11C-BE85FB86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6C807A-8147-48C0-B4D5-D7114E71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A040C-98FE-4EED-85CA-876AD6E0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E6BF79-21F5-4E58-8250-65DE6A26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54C3DD-6586-4236-99CA-920FC014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793F1D-CE9A-4722-9DFC-98A05D19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2CE9A-756D-4409-BABC-EB110B0A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4F6A8A-1052-4A3E-BAFD-D37E895D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133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BEB271-A882-4B48-997B-14306C68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B31F47-2DFA-411B-BE46-92A979DC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798711475"/>
      </p:ext>
    </p:extLst>
  </p:cSld>
</p:sld>
</file>

<file path=ppt/slides/slide1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371FB8-0BBF-4B6F-9D8D-84BBC23A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Certification path and capability-building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7CA8A-59DD-4384-B75B-2FFD829D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BE6DA-5BE7-4FD2-903A-5692835B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3D77E-723D-4889-9490-EC38AEFC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95F5A-B4C9-46DE-B47E-E217A709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687C5-71E6-409E-8724-373ABF4E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5137C-75B6-41AB-B7A9-10ACB941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A9AE5F-8B40-49FA-8F0F-C5A0D5F6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29647-E589-4049-A076-6226F6EF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515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2C797-889B-4A40-8451-C2177C65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5FCF8D-B66C-4A1E-942C-431DD480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D5F7D-84F6-41AB-91FC-6072F081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Trigger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B8B020-5558-41B8-9626-272DCE55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1678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2A36D-44D9-46AF-9C2A-BAC4FE40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FA10E-D5E8-4FFD-AC73-4A6F9415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C72EC3-AF85-489C-B90B-DA29B20F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307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BFF20-437A-4D81-949F-F8528870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9BA352-7EFA-43FB-905D-F90DB316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2A2A7-2EC1-4710-B4DF-375A7F8D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935" y="2819400"/>
            <a:ext cx="1999178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29F20-883C-4C28-AA13-843A9F39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09900"/>
            <a:ext cx="1657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3E4A3-8A64-46EC-B229-BA7FCA1B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52800"/>
            <a:ext cx="16573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7202A"/>
                </a:solidFill>
              </a:defRPr>
            </a:pPr>
            <a:r>
              <a:rPr sz="1875" b="1">
                <a:solidFill>
                  <a:srgbClr val="17202A"/>
                </a:solidFill>
              </a:rPr>
              <a:t>Action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CF9AD-3FB9-43C8-8819-63B93E7A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8511064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3F1E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E1AC3-693A-4E22-B2C7-04DF6E90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05400"/>
            <a:ext cx="80200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7202A"/>
                </a:solidFill>
              </a:defRPr>
            </a:pPr>
            <a:r>
              <a:rPr sz="2325" b="1">
                <a:solidFill>
                  <a:srgbClr val="17202A"/>
                </a:solidFill>
              </a:rPr>
              <a:t>Certifications support a skill path but do not replace hands-on operating practice.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DC78D9-53A0-48AF-AC74-1A6B826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24100"/>
            <a:ext cx="7696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Facilitator prompts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BC4409-962D-4C4A-ACBE-ED20A5BC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272415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24654-60D3-46E4-B76E-CF03EAF2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95600"/>
            <a:ext cx="72771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Match training to role: analyst fundamentals, engineering depth, IR practice, manager governance.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49C056-D024-40FF-BF7E-79E73B26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3924300"/>
            <a:ext cx="7700486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27CF62-0C11-4D23-9427-1FD9E539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095750"/>
            <a:ext cx="7277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02A"/>
                </a:solidFill>
              </a:defRPr>
            </a:pPr>
            <a:r>
              <a:rPr sz="1725" b="0">
                <a:solidFill>
                  <a:srgbClr val="17202A"/>
                </a:solidFill>
              </a:rPr>
              <a:t>Use practical assessment before independent production work.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F07DF-FD03-4FD8-B5DD-948AADBA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6464" y="5124450"/>
            <a:ext cx="7700486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7239C0-74BC-4279-BB54-B2FC4A49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295900"/>
            <a:ext cx="72771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D7C66"/>
                </a:solidFill>
              </a:defRPr>
            </a:pPr>
            <a:r>
              <a:rPr sz="1950" b="1">
                <a:solidFill>
                  <a:srgbClr val="0D7C66"/>
                </a:solidFill>
              </a:rPr>
              <a:t>Ask: what fact would change the decision?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7CE885-843E-4ADA-A576-A7AA1B51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134 / 142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0A86BB-3133-4BD9-BA4B-C888DCAF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D98CB4-3726-445F-8FA8-BD475165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345487493"/>
      </p:ext>
    </p:extLst>
  </p:cSld>
</p:sld>
</file>

<file path=ppt/slides/slide1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5B223D-43F1-41B4-BADD-CE9EAB64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Lessons learned into operational improvement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CEB78-662D-47AB-BA25-DFC84796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090A5-3DCC-4626-8EC9-CDF5FE4D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1FEDCE-9DB0-427E-841F-E3735117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EF8CA-D66F-4039-9920-5A9D72D2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AD6F1-FEA9-4796-ADA6-90DEBA3B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18A1C-9BEE-4709-BC3B-66126BC2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9FF25-37BB-4E61-BC6D-BAEE2FAE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E333C-B26B-4DA3-A9A9-9975B746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07D457-77D1-4251-9E20-16172B92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18D16A-D5D3-4B76-B842-CC853886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Lessons learned should create owned actions with due dates and governance follow-up.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87CA9E-A822-4B5D-A7F1-1C0BE94D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EE341-8232-46FC-9FD2-BF8CD4F1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9C09C-5F84-4966-8711-DC8F9949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8610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Route detection gaps, telemetry gaps, process gaps, and control gaps to the right backlog.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5C680-E40A-4AEE-9E40-72256B0C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766A8-0060-4C36-9E30-AFDA3087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D7C66"/>
                </a:solidFill>
              </a:defRPr>
            </a:pPr>
            <a:r>
              <a:rPr sz="1500" b="1">
                <a:solidFill>
                  <a:srgbClr val="0D7C66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064A42-2822-44E0-8611-15E363BA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Measure whether the same weakness repeats.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5296E-BFC5-479C-9810-D727CB82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D7C66"/>
                </a:solidFill>
              </a:defRPr>
            </a:pPr>
            <a:r>
              <a:rPr sz="1800" b="1">
                <a:solidFill>
                  <a:srgbClr val="0D7C66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E0595-21D4-44C4-9E67-FC9F5E1A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1574C-1764-410A-AB94-4DF370D6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920D0-7630-4927-8E70-FA49AC18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E24564-F6FE-4FE5-92B1-8FB639A3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FBF9BE-EAA6-4563-9F34-B9342CDB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48B4A1-F5D7-4844-B249-7706887C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80CC77-D223-47B2-9BC2-DF30FD6E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7E588A-E8E6-4574-AE04-3661B49D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869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135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B6312-73A7-439B-B21F-C5610F4C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4869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EDBC1F-4CBC-4376-8826-1AEF2CB1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94869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2145070079"/>
      </p:ext>
    </p:extLst>
  </p:cSld>
</p:sld>
</file>

<file path=ppt/slides/slide1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7FD97F-38EB-4430-9BCA-4A78E8AA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training and maturity alignment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A7F39-C17A-486B-BF9A-36F46C2D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CE7D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776FD-3956-4E4F-960B-F8F56BB5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2616B"/>
                </a:solidFill>
              </a:defRPr>
            </a:pPr>
            <a:r>
              <a:rPr sz="1050" b="1">
                <a:solidFill>
                  <a:srgbClr val="52616B"/>
                </a:solidFill>
              </a:rPr>
              <a:t>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3290C-A494-4F22-BE88-D322C1FA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7C66"/>
          </a:solidFill>
          <a:ln xmlns:a="http://schemas.openxmlformats.org/drawingml/2006/main" w="0">
            <a:solidFill>
              <a:srgbClr val="0D7C6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7D490-0468-48BB-B97A-5B751D65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4EEA6-7CD2-4176-9E2C-DFAB5067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905C7-22AC-4819-820E-E7818960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CF545-6DE0-418F-868E-2DB1A7E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Executives need facts, assumptions, decisions, and next review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5E53C5-223D-42BF-A1DC-3EC104C9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B9176-8CD0-4D17-A227-AF298132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3B567-5814-4335-B2BE-750AF06E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9093CE-1A34-4C90-A77E-AF6B6FDB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Training focus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59C50-EEE6-456D-9F77-CA626EB0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324100"/>
            <a:ext cx="54991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D7C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238AB-96D1-4091-8A9B-9089FA4A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438400"/>
            <a:ext cx="5200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8D841-476B-4835-90A4-2C8C6DE8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F1178-5683-462B-9894-FA2B0FE8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Foundation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5EB45A-F1D2-4AB2-AF11-274D633F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6377FB-28C8-46CD-AB60-415D5D62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Triage + SOP basics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530CF1-92A7-46E2-9556-F5A76415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29337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1E4C58-1A2A-4789-B48F-956D6752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0480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Checklist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10042-0CBF-44FD-8319-720F96A4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591D0-2D2B-4D16-B421-CEAA119E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Operational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1BE099-C616-42E1-A1C6-D0C1FB60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F8B2B-1E0D-4F85-8BB5-802DF445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Investigation + playbooks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80C2BD-FF09-487F-8456-7B1AF537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37338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D35E5B-38D6-4243-A05E-101D34A5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38481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Lab results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B9471D-7658-428A-8F64-6DC316D2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D4F51E-8D12-4C4F-8B78-02F39C18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Managed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03C772-82E6-465B-859C-55C5B158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963C45-4C29-47B7-B811-F69B34B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Detection + IR exercises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21A4E-CB24-475A-B62B-7E1DF888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45339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FBE32E-A25E-443B-9C69-1E6D66B5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46482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Simulation record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A8EF1-67C5-4AC6-A0F9-EE1BBBD0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EFDAAF-A877-4F95-A04D-6E9C818A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Mature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1359E7-C364-4A42-ABA5-CF11DDA2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4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5B1054-57AF-4BF2-997F-449F51CD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Threat-led improvement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11E587-AA5A-4BD4-9F04-38AD71BD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7850" y="5334000"/>
            <a:ext cx="5499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979CA8-235B-4217-8DE0-BE49771F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5448300"/>
            <a:ext cx="5200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Purple-team findings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F3B156-4C15-443C-BEC4-9DEFAD5A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D7C66"/>
                </a:solidFill>
              </a:defRPr>
            </a:pPr>
            <a:r>
              <a:rPr sz="1125" b="1">
                <a:solidFill>
                  <a:srgbClr val="0D7C66"/>
                </a:solidFill>
              </a:rPr>
              <a:t>136 / 142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2CA8FF-D7F0-4E5E-831F-6B567539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286500"/>
            <a:ext cx="122682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Training, Simulation, and Continuous Improvement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8AC43A-6B7C-4E78-B627-ECB7FDE9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628650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09_Simulation_Testing, 10_Training_Onboarding</a:t>
            </a:r>
          </a:p>
        </p:txBody>
      </p:sp>
    </p:spTree>
    <p:extLst>
      <p:ext uri="{BB962C8B-B14F-4D97-AF65-F5344CB8AC3E}">
        <p14:creationId xmlns:p14="http://schemas.microsoft.com/office/powerpoint/2010/main" val="1033330980"/>
      </p:ext>
    </p:extLst>
  </p:cSld>
</p:sld>
</file>

<file path=ppt/slides/slide1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0F0196-B592-4141-A21F-295B6766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5836158" cy="918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95877-9300-4DE1-A9FB-E17406E0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971550"/>
            <a:ext cx="5029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7285"/>
                </a:solidFill>
              </a:defRPr>
            </a:pPr>
            <a:r>
              <a:rPr sz="2550" b="1">
                <a:solidFill>
                  <a:srgbClr val="0B7285"/>
                </a:solidFill>
              </a:rPr>
              <a:t>137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13E98-1081-414A-B718-BC090783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62100"/>
            <a:ext cx="50292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FFFFFF"/>
                </a:solidFill>
              </a:defRPr>
            </a:pPr>
            <a:r>
              <a:rPr sz="6900" b="1">
                <a:solidFill>
                  <a:srgbClr val="FFFFFF"/>
                </a:solidFill>
              </a:rPr>
              <a:t>APPLY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D3037-2AF6-4C2F-9FCC-C483267D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763BC-FD9A-4CFD-88B2-3A02B93F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0292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DE7E5"/>
                </a:solidFill>
              </a:defRPr>
            </a:pPr>
            <a:r>
              <a:rPr sz="2100" b="0">
                <a:solidFill>
                  <a:srgbClr val="DDE7E5"/>
                </a:solidFill>
              </a:rPr>
              <a:t>Use the whole operating model on one realistic case.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9A1BE-D385-4B10-B489-B84FDB6C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5036058" cy="16573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20303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C49C0-35FC-4B24-8701-8467438E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38600"/>
            <a:ext cx="4572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Scenario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B9529-2471-4587-B5DA-0467E6AB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57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5DD4AF-C4A1-48DB-AEEB-33917ABD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52450"/>
            <a:ext cx="87058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Capstone scenario setup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CC717-4343-47C4-8C13-90B877D3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52938-FA96-4D7C-A9C9-60BC30E4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DEBRIEF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836C8C-A08C-4CC8-B890-EB32ACA4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20027-1637-43DB-8AD2-DD8FF6DC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8496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Module opening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DFA3D-86B6-45F1-86C8-D3F57926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76400"/>
            <a:ext cx="1038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Teaching job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CF192-7924-45BA-850C-2B7433EB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171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EE16D-B5AD-473A-AAD7-430D055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09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70EBB-2B64-4215-B226-93133336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171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Scenario: credential stuffing on a public customer portal followed by successful logins and invoice downloads.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EB67F-687A-4DAC-98A7-9BCAEF53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2933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004D0-2469-43F8-899D-E999C2BE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9831B-F6AC-4109-A0E5-448A35A4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33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Customer screenshots appear on social media; business asks whether regulators must be notified.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8B4B50-AC48-462C-9011-485F3FAE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36957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F9867-4BC5-4A98-8F6D-9EE75DED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4A7D54-D1BE-43FC-B8FC-9856ADAD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700"/>
            <a:ext cx="9810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Teams must make architecture, staffing, detection, IR, legal, and reporting decisions from incomplete facts.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359F8-2237-4D1C-B800-A16ECC28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1558" y="4552950"/>
            <a:ext cx="10375392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A57EEE-D74C-4E6F-A6FF-2197218C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62500"/>
            <a:ext cx="1143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01E36F-ED6B-4F9E-923E-7B8E1A5A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62500"/>
            <a:ext cx="84963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202A"/>
                </a:solidFill>
              </a:defRPr>
            </a:pPr>
            <a:r>
              <a:rPr sz="1875" b="0">
                <a:solidFill>
                  <a:srgbClr val="17202A"/>
                </a:solidFill>
              </a:rPr>
              <a:t>One decision, one owner, one evidence path, and one backlog item before moving 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0B567D-FF4F-4E4B-842D-C11F5B09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6265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137 / 142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B40D9E-46CB-4298-AF43-E39F930D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962650"/>
            <a:ext cx="4305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877E4A-3A1A-4B60-811A-A3E0B4E8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596265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576976064"/>
      </p:ext>
    </p:extLst>
  </p:cSld>
</p:sld>
</file>

<file path=ppt/slides/slide1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FDB8C4-E601-4892-889B-309F5669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7202A"/>
                </a:solidFill>
              </a:defRPr>
            </a:pPr>
            <a:r>
              <a:rPr sz="3225" b="1">
                <a:solidFill>
                  <a:srgbClr val="17202A"/>
                </a:solidFill>
              </a:rPr>
              <a:t>Team task: architecture, staffing, detection, IR, legal, reporting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4925E-9ABB-4BF1-A7D6-9C0F3E7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BCA82-3D2C-4E27-9484-8B112B93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E8AF4-F67F-42FA-8B47-29D2594E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049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AEC209-C028-497D-9BD2-A1FB8410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490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B01D8C-5624-4544-BD4D-6007C342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57325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1CC00-25CA-4DE4-BBD6-1DE60F0D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810F0-E596-43A3-B5B4-D56591D4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CE4E9C-E23C-49AB-BB79-34FD62F9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D7410A-3AEE-4E68-B4C7-E9A9A9F7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BD4263-D754-47C4-8228-F9CA8076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9080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22094-4D70-4AB8-B655-C7E4C557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7C036-B34D-46C4-9D7B-E6693608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CED35-0BB2-440F-9836-D2F966D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Identify missing telemetry, current owners, shift path, and required containment decision.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3CD40-36D1-4404-8C97-80193B8E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24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A45681-7C93-46B5-ACCD-F003F031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B33691-CAAF-4D00-978E-5D09FC48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Map detections and playbooks that should activate.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61491E-FB09-444E-B119-2D999490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E5E988-6F37-4DF9-A77D-D7BB5B16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3CF886-5E0F-4A4A-B8FD-BF4E3057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95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Define who briefs executives and who owns next review.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CD0E55-A9AD-48EB-840E-3EDD3972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CEEAEA-5D7D-4E3C-A9E1-E73374F6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7A67A1-6D36-4A70-A523-887B71CE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143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296A6F-C167-4A5C-8F77-4AD62A91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324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3858C8-5ABB-428A-B29D-0072E562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4FAFB0-8358-490B-BECB-ECD3FF1C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CCE5E2-25EA-47BC-9778-F4ADCD16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196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176180-26B0-4D18-BEC5-B86F99C6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006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F8E024-3806-4930-818A-4B76722A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18BFEB-BCFD-41CF-AC15-12528805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259285-FF8D-405E-BA31-4D4F9946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09612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90BF45-D002-42D9-9066-347AF73B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7710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39253E-2CCF-435A-8A9D-F05EB8EC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138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ABC7D0-C3D0-4110-BC23-FC707CAB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4336D1-5DD3-4BFF-98DA-74352B60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409614231"/>
      </p:ext>
    </p:extLst>
  </p:cSld>
</p:sld>
</file>

<file path=ppt/slides/slide1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990CB3-ABD7-4488-B161-1D61E29A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Team task: evidence and escalation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CDC222-8955-414C-A7F5-1A6BFEAC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19DBB-8FF3-47EF-BD4C-189AFFD8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184F9-8A08-4D41-88D7-5394B70C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E0FFD-89A4-46EE-B916-C704C986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F574C-A057-4149-B19C-78BF4A5A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FAA5C-A35C-4615-80D1-8CF55165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8782A-AC4B-4D7D-BA31-515C2E76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D8CD0-2F79-46AE-8725-122AD42E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9813C-E954-4823-AB12-B085D93B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3F65F4-8604-406A-A3DE-4E7C6FA2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D370C-599D-465C-9170-6FB47DB5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7E055-0050-4955-8AAD-F8C805BA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B303C-2769-4CBD-A848-65742EAD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List the first evidence package: timeline, accounts, IPs, user actions, data accessed, logs, and custody.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133E1-95C4-4BCE-B229-0CBF5EFB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B56DD-95AB-4E53-BBCF-1A3CC234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D08BB6-D75F-4574-AE1E-E919D30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Decide legal-impact checkpoint and notification status.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F31EE-F39B-45B3-BDD9-4C7E3607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8796F4-2F59-45B3-A763-92632B2C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F14ED-6556-415C-A87A-51B89F80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7690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Write assumptions separately from confirmed facts.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9045C-B777-469B-9328-F2847DAC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BDFB1D-D721-48D8-BBD8-CA29CAA2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77A36-4E1D-4C11-ADF1-C8DA9537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69A08B-D06F-4C6C-8A48-A7F233BF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28888-29F4-4B82-8E64-0ED3B355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67FAD-770A-4180-84DF-C52E4A03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C5B9CC-DD7D-49E1-91E5-410999CB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DD533F-0D8A-464D-96DD-AAEF4C3A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E9A920-1011-463D-8FA7-E2640AA9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137184-3A4A-4D07-A7F4-1BFE9C5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5059D7-D720-4FA6-96AB-ED0E4353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957CA5-8CEA-4AC6-AF20-0AE9131C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BDF53E-5741-468E-8D6D-D8FD777C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139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713B35-6F42-44FF-B0D6-4B788C39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2B3234-C0A9-48ED-974E-94F56EB0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257918840"/>
      </p:ext>
    </p:extLst>
  </p:cSld>
</p:sld>
</file>

<file path=ppt/slides/slide1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BF369A-CC4F-44CA-8275-A104B4D2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Debrief framework by role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1805E-FC0B-4B5B-8D29-916565BF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BE5E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8FD4A-A44C-4A47-AC85-AB7F6040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026F3C-B9AE-4708-A943-DF8DBEB3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5780E-1A88-4856-BFA3-9A85C034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7C37C-E7C9-41ED-BBA6-62C9CEED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7E58E-59C3-4F3A-A8DE-FEAB4A19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B95E9-04D2-457B-8A6C-82C5167F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B6BD6-4D15-4A78-82E5-C40BF0F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8134350" cy="7058025"/>
          </a:xfrm>
          <a:prstGeom xmlns:a="http://schemas.openxmlformats.org/drawingml/2006/main" prst="roundRect">
            <a:avLst>
              <a:gd name="adj" fmla="val 188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6B4830-04F8-47E0-B7A3-B77E4B8C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121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7285"/>
                </a:solidFill>
              </a:defRPr>
            </a:pPr>
            <a:r>
              <a:rPr sz="1650" b="1">
                <a:solidFill>
                  <a:srgbClr val="0B7285"/>
                </a:solidFill>
              </a:rPr>
              <a:t>Artifact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26D5A3-5A2A-4284-BDF7-B7E7612D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71750"/>
            <a:ext cx="6229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7A7A32-F2C8-4A9A-834C-45DC0CB6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826EB-3B2A-4D22-BEB9-5EEB0598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99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5346D-0259-4378-8941-648F7383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20BAC-9A43-495B-A597-C9443E97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4D8254-11DF-4FA9-9EA4-7AFEBFDD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F4BA1-5417-45EB-826C-136446EF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100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899E0E-622F-4DB5-9F77-773338BA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D7CEFB-312A-4465-9FEC-265FC5DA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5BEBF-F03E-4453-8814-048F0F8D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6725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364FE-AD20-4D08-9FA7-405C0FC0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4000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24B076-F3EB-44D1-8C3F-F6318E9C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7285"/>
                </a:solidFill>
              </a:defRPr>
            </a:pPr>
            <a:r>
              <a:rPr sz="1350" b="1">
                <a:solidFill>
                  <a:srgbClr val="0B7285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F1EEC5-00A1-4328-ADB4-912C8823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24500"/>
            <a:ext cx="704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7202A"/>
                </a:solidFill>
              </a:defRPr>
            </a:pPr>
            <a:r>
              <a:rPr sz="2025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D258E4-65A2-4C1A-A439-CEC075AA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381750"/>
            <a:ext cx="760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2616B"/>
                </a:solidFill>
              </a:defRPr>
            </a:pPr>
            <a:r>
              <a:rPr sz="1575" b="0">
                <a:solidFill>
                  <a:srgbClr val="52616B"/>
                </a:solidFill>
              </a:rPr>
              <a:t>Use this slide as the shape of the document, dashboard, queue, or checklist participants should create.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A7A9BF-FEE8-4A57-9E7F-3F805D6A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813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What participants should take away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906C65-716C-4611-94F9-AD0727AC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7AEAB8-12CC-4C0A-A4D8-C5DC612E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9560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CISO: risk decision, executive message, and external posture.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CCACF0-1AF8-484B-A86E-D28140F5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147D2B-3C3F-4156-A617-B91D2DE5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5765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SOC Manager: workflow, staffing, handoff, and escalation quality.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C28777-710F-41AB-82F0-8ACB25ED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48250"/>
            <a:ext cx="8134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36609F-CB7E-459E-8467-A597955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219700"/>
            <a:ext cx="771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02A"/>
                </a:solidFill>
              </a:defRPr>
            </a:pPr>
            <a:r>
              <a:rPr sz="1650" b="0">
                <a:solidFill>
                  <a:srgbClr val="17202A"/>
                </a:solidFill>
              </a:rPr>
              <a:t>Analyst, engineer, and IR: evidence, detection, containment, and recovery actions.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A1BF95-CFDD-4B4C-BE9A-475169E3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140 / 142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2C2B9C-4BE8-4232-8971-E4AB21A3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66E682-940C-452D-866B-CF58C71B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968796118"/>
      </p:ext>
    </p:extLst>
  </p:cSld>
</p:sld>
</file>

<file path=ppt/slides/slide1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F13723-9194-4AAE-A398-A5F4372C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30/60/90-day action plan output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4CD13-A436-489D-8317-9A85E9A0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BAFB33-948E-4CD1-82AB-F54A4749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D7C66"/>
                </a:solidFill>
              </a:defRPr>
            </a:pPr>
            <a:r>
              <a:rPr sz="1050" b="1">
                <a:solidFill>
                  <a:srgbClr val="0D7C66"/>
                </a:solidFill>
              </a:rPr>
              <a:t>EXERCISE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5DEAB-5189-434D-842E-4AC5B9E4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0E9BA3-24AD-41BE-A429-8F6A047E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Team work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B3915-5F8A-4C01-A113-20993FBB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9062B-D7A1-40DB-AAD1-520CE264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0E99F-1DD1-432F-8FDC-8D5355D5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6764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41F48-4F3C-407A-A466-0E63983C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6693599" cy="14478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02A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0BC50-A908-4BA9-B4CA-DC85E372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61912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B7285"/>
                </a:solidFill>
              </a:defRPr>
            </a:pPr>
            <a:r>
              <a:rPr sz="1200" b="1">
                <a:solidFill>
                  <a:srgbClr val="0B7285"/>
                </a:solidFill>
              </a:rPr>
              <a:t>WORKSHOP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54E9E7-D3D7-4A52-8CB1-0919DC42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86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Produce an artifact, not an opinion.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5AAD9-4D6E-4C9D-9BF3-4D57582C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0C6C4-CDF6-43FC-A152-BDD90161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42C55-6180-4CCE-8D1B-C968B1EF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30 days: fix critical visibility, severity, handoff, and top playbooks.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58D6F-EDBE-4E0E-86D1-64FD2264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29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019F8-34EC-4606-AEED-9D07B5AF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A2655A-78ED-466D-A99D-A4C68E01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60 days: strengthen detection lifecycle, reporting, exercises, and ownership.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7B55F-523F-4D43-A8BD-536FC025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43521A-1622-490F-9383-A65D125D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CDD6-CFED-495F-9CF3-A5F362A1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6115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90 days: mature governance cadence, metrics, training path, and roadmap funding.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73A0D1-BC8F-4B0F-A2DF-0035F46C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6F6C87-D92B-4B3D-83A1-4E2318B8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98218"/>
                </a:solidFill>
              </a:defRPr>
            </a:pPr>
            <a:r>
              <a:rPr sz="1800" b="1">
                <a:solidFill>
                  <a:srgbClr val="C98218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ECAB9A-AD2B-46EA-8F43-08193C86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224790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03DB1B-150A-487A-910F-8B0C093E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24193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2CB791-A4AC-4DAE-8755-47D7BF3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B5CF75-A872-4654-9611-6A47CFC7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623CEE-F90A-41A7-B35C-7F470BFF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4689475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AE622D-233B-4972-BEB2-5BB49F32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8577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Missing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9B84E6-1360-483B-81B0-39A786D1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99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796BE6-A2F6-482B-8F00-02989357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Escalation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F7CBFB-FC3C-4F1F-9429-1FB879C7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024" y="7131050"/>
            <a:ext cx="4739926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2BDE5E-CC39-43A5-BA99-7352D1E0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7296150"/>
            <a:ext cx="4362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02A"/>
                </a:solidFill>
              </a:defRPr>
            </a:pPr>
            <a:r>
              <a:rPr sz="1800" b="1">
                <a:solidFill>
                  <a:srgbClr val="17202A"/>
                </a:solidFill>
              </a:rPr>
              <a:t>Next action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647B53-7F92-44CC-B845-2C417E01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141 / 142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195C88-2E62-400B-A775-4AB9C14A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3D5F09-10F9-4F26-A01D-DE3551A9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781168298"/>
      </p:ext>
    </p:extLst>
  </p:cSld>
</p:sld>
</file>

<file path=ppt/slides/slide1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9F03EA-41D5-40EE-899E-C35FA0C7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5049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7202A"/>
                </a:solidFill>
              </a:defRPr>
            </a:pPr>
            <a:r>
              <a:rPr sz="4050" b="1">
                <a:solidFill>
                  <a:srgbClr val="17202A"/>
                </a:solidFill>
              </a:rPr>
              <a:t>Final takeaways and repo re-entry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DF92F-69C7-4007-B538-4E84B349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552450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FED448-EA3A-4E0E-966F-2D2AD43A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0" y="628650"/>
            <a:ext cx="1200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TEACH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E7A3F-3CE6-4CFC-A145-524E71BB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00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285"/>
          </a:solidFill>
          <a:ln xmlns:a="http://schemas.openxmlformats.org/drawingml/2006/main" w="0">
            <a:solidFill>
              <a:srgbClr val="0B728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FF896-9803-4D94-B172-92E7A779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200150"/>
            <a:ext cx="14839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4B990-FDBB-4E82-9DE6-9DA918A1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7259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6F4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6F4E2A-9EE3-4CA6-81BD-D913EAFC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1314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B7285"/>
                </a:solidFill>
              </a:defRPr>
            </a:pPr>
            <a:r>
              <a:rPr sz="1050" b="1">
                <a:solidFill>
                  <a:srgbClr val="0B7285"/>
                </a:solidFill>
              </a:rPr>
              <a:t>CASE THREAD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E3E0A-AD5D-446E-9EC4-5633E777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714500"/>
            <a:ext cx="149352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7202A"/>
                </a:solidFill>
              </a:defRPr>
            </a:pPr>
            <a:r>
              <a:rPr sz="1350" b="0">
                <a:solidFill>
                  <a:srgbClr val="17202A"/>
                </a:solidFill>
              </a:rPr>
              <a:t>Capstone: teams make the full architecture, staffing, detection, IR, legal, and reporting call.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00559-9D33-47D0-9757-C79ACB22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B7285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040FF-FDF1-4897-A2C1-18F08059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F3D78-58D1-4F5F-B760-A53927B5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876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Use the repo as the operating manual, not as a document archive.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76978-6966-4A4C-9B9F-F366945D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A8B80-9399-41C4-89BD-2FDCDC75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A6EAB-9C98-45F0-B30B-238B3AF4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914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Start with scope, telemetry, people, workflow, and decision authority.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3E5CF-09CC-4CCC-99B8-D68F56CD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4000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3091F8-C4B1-4F1E-8D8F-6F3AAFC7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285"/>
                </a:solidFill>
              </a:defRPr>
            </a:pPr>
            <a:r>
              <a:rPr sz="1500" b="1">
                <a:solidFill>
                  <a:srgbClr val="0B7285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4F4AFF-F484-463D-81F1-C5878F56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76650"/>
            <a:ext cx="876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02A"/>
                </a:solidFill>
              </a:defRPr>
            </a:pPr>
            <a:r>
              <a:rPr sz="2250" b="0">
                <a:solidFill>
                  <a:srgbClr val="17202A"/>
                </a:solidFill>
              </a:rPr>
              <a:t>Return to the right SOP whenever a workshop artifact becomes a real backlog item.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79965A-D326-44AC-B574-6E32B9F9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3241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7285"/>
                </a:solidFill>
              </a:defRPr>
            </a:pPr>
            <a:r>
              <a:rPr sz="1800" b="1">
                <a:solidFill>
                  <a:srgbClr val="0B7285"/>
                </a:solidFill>
              </a:rPr>
              <a:t>Operating artifact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BAA0E4-C0EE-4A6E-9ECB-C04DBD8A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2705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3F4EE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BC951E-3897-4523-BA48-567F2CB2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2895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D7C66"/>
                </a:solidFill>
              </a:defRPr>
            </a:pPr>
            <a:r>
              <a:rPr sz="2025" b="1">
                <a:solidFill>
                  <a:srgbClr val="0D7C66"/>
                </a:solidFill>
              </a:rPr>
              <a:t>Decision-ready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9CA6F-7336-4E6B-BFE4-90CE3DD9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3848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DFF3F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AD79EB-F40F-4339-BCDB-D2299883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038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7285"/>
                </a:solidFill>
              </a:defRPr>
            </a:pPr>
            <a:r>
              <a:rPr sz="2025" b="1">
                <a:solidFill>
                  <a:srgbClr val="0B7285"/>
                </a:solidFill>
              </a:rPr>
              <a:t>Named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4D4AF3-4FA2-4183-AB4E-5B35C18E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8945" y="4991100"/>
            <a:ext cx="6898005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7E9D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86789A-448B-4D07-AE42-E49EB333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181600"/>
            <a:ext cx="6477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C98218"/>
                </a:solidFill>
              </a:defRPr>
            </a:pPr>
            <a:r>
              <a:rPr sz="2025" b="1">
                <a:solidFill>
                  <a:srgbClr val="C98218"/>
                </a:solidFill>
              </a:rPr>
              <a:t>Evidence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E34F20-ED93-4D81-9265-D5F61246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134100"/>
            <a:ext cx="68961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2616B"/>
                </a:solidFill>
              </a:defRPr>
            </a:pPr>
            <a:r>
              <a:rPr sz="1500" b="0">
                <a:solidFill>
                  <a:srgbClr val="52616B"/>
                </a:solidFill>
              </a:rPr>
              <a:t>The deck is designed as a workshop reference: each idea should become a workflow, worksheet, or backlog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9A2332-A495-4B43-AE59-2F433D11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601200"/>
            <a:ext cx="104775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B7285"/>
                </a:solidFill>
              </a:defRPr>
            </a:pPr>
            <a:r>
              <a:rPr sz="1125" b="1">
                <a:solidFill>
                  <a:srgbClr val="0B7285"/>
                </a:solidFill>
              </a:rPr>
              <a:t>142 / 142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45FFA6-17AF-41D7-AC17-65D3D996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9601200"/>
            <a:ext cx="10668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2616B"/>
                </a:solidFill>
              </a:defRPr>
            </a:pPr>
            <a:r>
              <a:rPr sz="1125" b="0">
                <a:solidFill>
                  <a:srgbClr val="52616B"/>
                </a:solidFill>
              </a:rPr>
              <a:t>Capstone Scenario and Close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5E486D-3176-49C3-99BF-E54EB51E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9601200"/>
            <a:ext cx="47053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16B"/>
                </a:solidFill>
              </a:defRPr>
            </a:pPr>
            <a:r>
              <a:rPr sz="975" b="0">
                <a:solidFill>
                  <a:srgbClr val="52616B"/>
                </a:solidFill>
              </a:rPr>
              <a:t>Source: Tabletop_Exercises, Thai_Legal_Escalation_Template, Incident_Decision_Log</a:t>
            </a:r>
          </a:p>
        </p:txBody>
      </p:sp>
    </p:spTree>
    <p:extLst>
      <p:ext uri="{BB962C8B-B14F-4D97-AF65-F5344CB8AC3E}">
        <p14:creationId xmlns:p14="http://schemas.microsoft.com/office/powerpoint/2010/main" val="15787272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2026-04-26T17:28:09.8600000Z</dcterms:created>
  <dcterms:modified xsi:type="dcterms:W3CDTF">2026-04-26T17:28:09.8600000Z</dcterms:modified>
</coreProperties>
</file>