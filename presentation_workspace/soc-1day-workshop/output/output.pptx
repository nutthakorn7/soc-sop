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d31e29b3a34e08" /><Relationship Type="http://schemas.openxmlformats.org/officeDocument/2006/relationships/extended-properties" Target="/docProps/app.xml" Id="R8ca523b28d324f08" /><Relationship Type="http://schemas.openxmlformats.org/officeDocument/2006/relationships/officeDocument" Target="/ppt/presentation.xml" Id="R40499e16899744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47a25954b9b4317"/>
  </p:sldMasterIdLst>
  <p:notesMasterIdLst>
    <p:notesMasterId xmlns:r="http://schemas.openxmlformats.org/officeDocument/2006/relationships" r:id="R82a7e7ec8d324e4f"/>
  </p:notesMasterIdLst>
  <p:sldIdLst>
    <p:sldId xmlns:r="http://schemas.openxmlformats.org/officeDocument/2006/relationships" id="256" r:id="R405bc8b00cf54e83"/>
    <p:sldId xmlns:r="http://schemas.openxmlformats.org/officeDocument/2006/relationships" id="257" r:id="R043ed0373e884432"/>
    <p:sldId xmlns:r="http://schemas.openxmlformats.org/officeDocument/2006/relationships" id="258" r:id="R09354fd752b741fe"/>
    <p:sldId xmlns:r="http://schemas.openxmlformats.org/officeDocument/2006/relationships" id="259" r:id="R165eddfc8c924a73"/>
    <p:sldId xmlns:r="http://schemas.openxmlformats.org/officeDocument/2006/relationships" id="260" r:id="R5f4fcbfe7f254eac"/>
    <p:sldId xmlns:r="http://schemas.openxmlformats.org/officeDocument/2006/relationships" id="261" r:id="Rc019b17960ae4f08"/>
    <p:sldId xmlns:r="http://schemas.openxmlformats.org/officeDocument/2006/relationships" id="262" r:id="R076d9029b3384a21"/>
    <p:sldId xmlns:r="http://schemas.openxmlformats.org/officeDocument/2006/relationships" id="263" r:id="Rc09fcb672af94475"/>
    <p:sldId xmlns:r="http://schemas.openxmlformats.org/officeDocument/2006/relationships" id="264" r:id="Rd8cce97589604d31"/>
    <p:sldId xmlns:r="http://schemas.openxmlformats.org/officeDocument/2006/relationships" id="265" r:id="R3304cba2fd394425"/>
    <p:sldId xmlns:r="http://schemas.openxmlformats.org/officeDocument/2006/relationships" id="266" r:id="Rbc891aaabd144a27"/>
    <p:sldId xmlns:r="http://schemas.openxmlformats.org/officeDocument/2006/relationships" id="267" r:id="R6eaf9bec28484878"/>
    <p:sldId xmlns:r="http://schemas.openxmlformats.org/officeDocument/2006/relationships" id="268" r:id="Rec86bd15f5b049e4"/>
    <p:sldId xmlns:r="http://schemas.openxmlformats.org/officeDocument/2006/relationships" id="269" r:id="R7f7a94626ce7469d"/>
    <p:sldId xmlns:r="http://schemas.openxmlformats.org/officeDocument/2006/relationships" id="270" r:id="R083b5500eff1477c"/>
    <p:sldId xmlns:r="http://schemas.openxmlformats.org/officeDocument/2006/relationships" id="271" r:id="R877288d490f146c5"/>
    <p:sldId xmlns:r="http://schemas.openxmlformats.org/officeDocument/2006/relationships" id="272" r:id="Rbaa719cc163744df"/>
    <p:sldId xmlns:r="http://schemas.openxmlformats.org/officeDocument/2006/relationships" id="273" r:id="R02bc6d821f174f98"/>
    <p:sldId xmlns:r="http://schemas.openxmlformats.org/officeDocument/2006/relationships" id="274" r:id="R7e92c44cf10a42cd"/>
    <p:sldId xmlns:r="http://schemas.openxmlformats.org/officeDocument/2006/relationships" id="275" r:id="Rab7054fe3d964b10"/>
    <p:sldId xmlns:r="http://schemas.openxmlformats.org/officeDocument/2006/relationships" id="276" r:id="R99a9a52220cf4a55"/>
    <p:sldId xmlns:r="http://schemas.openxmlformats.org/officeDocument/2006/relationships" id="277" r:id="R4fc7f560f3374964"/>
    <p:sldId xmlns:r="http://schemas.openxmlformats.org/officeDocument/2006/relationships" id="278" r:id="Re51bf81590224645"/>
    <p:sldId xmlns:r="http://schemas.openxmlformats.org/officeDocument/2006/relationships" id="279" r:id="R83dee807c1a84472"/>
    <p:sldId xmlns:r="http://schemas.openxmlformats.org/officeDocument/2006/relationships" id="280" r:id="R86993a87980d4a6b"/>
    <p:sldId xmlns:r="http://schemas.openxmlformats.org/officeDocument/2006/relationships" id="281" r:id="Rf4a21727346e4203"/>
    <p:sldId xmlns:r="http://schemas.openxmlformats.org/officeDocument/2006/relationships" id="282" r:id="Rf1b8a093ec184bc6"/>
    <p:sldId xmlns:r="http://schemas.openxmlformats.org/officeDocument/2006/relationships" id="283" r:id="Re13b17a50fe04c44"/>
    <p:sldId xmlns:r="http://schemas.openxmlformats.org/officeDocument/2006/relationships" id="284" r:id="Rfe0cdf3c713145dc"/>
    <p:sldId xmlns:r="http://schemas.openxmlformats.org/officeDocument/2006/relationships" id="285" r:id="R7e1fb564a8c34168"/>
    <p:sldId xmlns:r="http://schemas.openxmlformats.org/officeDocument/2006/relationships" id="286" r:id="Rf44dad769d1544a7"/>
    <p:sldId xmlns:r="http://schemas.openxmlformats.org/officeDocument/2006/relationships" id="287" r:id="Rc3ac9d57abd14041"/>
    <p:sldId xmlns:r="http://schemas.openxmlformats.org/officeDocument/2006/relationships" id="288" r:id="Rc0898fc04aa7452f"/>
    <p:sldId xmlns:r="http://schemas.openxmlformats.org/officeDocument/2006/relationships" id="289" r:id="R3426adb5abe141df"/>
    <p:sldId xmlns:r="http://schemas.openxmlformats.org/officeDocument/2006/relationships" id="290" r:id="R5e7d257e509744c3"/>
    <p:sldId xmlns:r="http://schemas.openxmlformats.org/officeDocument/2006/relationships" id="291" r:id="R394958d0193244ad"/>
    <p:sldId xmlns:r="http://schemas.openxmlformats.org/officeDocument/2006/relationships" id="292" r:id="Raf9c6b1bf61047f7"/>
    <p:sldId xmlns:r="http://schemas.openxmlformats.org/officeDocument/2006/relationships" id="293" r:id="R617e6561c5c64b6f"/>
    <p:sldId xmlns:r="http://schemas.openxmlformats.org/officeDocument/2006/relationships" id="294" r:id="Rd28721032aae4af0"/>
    <p:sldId xmlns:r="http://schemas.openxmlformats.org/officeDocument/2006/relationships" id="295" r:id="R5295d7e260294c4e"/>
    <p:sldId xmlns:r="http://schemas.openxmlformats.org/officeDocument/2006/relationships" id="296" r:id="R91ab0e1baf35402c"/>
    <p:sldId xmlns:r="http://schemas.openxmlformats.org/officeDocument/2006/relationships" id="297" r:id="R3a19a1161dc8469c"/>
    <p:sldId xmlns:r="http://schemas.openxmlformats.org/officeDocument/2006/relationships" id="298" r:id="R5798982334b3401e"/>
    <p:sldId xmlns:r="http://schemas.openxmlformats.org/officeDocument/2006/relationships" id="299" r:id="Rb7778b618761447f"/>
    <p:sldId xmlns:r="http://schemas.openxmlformats.org/officeDocument/2006/relationships" id="300" r:id="R929175f01e9b482b"/>
    <p:sldId xmlns:r="http://schemas.openxmlformats.org/officeDocument/2006/relationships" id="301" r:id="R762806c595d94dd5"/>
    <p:sldId xmlns:r="http://schemas.openxmlformats.org/officeDocument/2006/relationships" id="302" r:id="R6a9c72b09ac44d35"/>
    <p:sldId xmlns:r="http://schemas.openxmlformats.org/officeDocument/2006/relationships" id="303" r:id="Ra834171723e74681"/>
    <p:sldId xmlns:r="http://schemas.openxmlformats.org/officeDocument/2006/relationships" id="304" r:id="R967f5afab3a44539"/>
    <p:sldId xmlns:r="http://schemas.openxmlformats.org/officeDocument/2006/relationships" id="305" r:id="Rd03a6cc53cb242fc"/>
    <p:sldId xmlns:r="http://schemas.openxmlformats.org/officeDocument/2006/relationships" id="306" r:id="Rf160dc28b8754577"/>
    <p:sldId xmlns:r="http://schemas.openxmlformats.org/officeDocument/2006/relationships" id="307" r:id="R010084c5c7784cb2"/>
    <p:sldId xmlns:r="http://schemas.openxmlformats.org/officeDocument/2006/relationships" id="308" r:id="Rbf08ea406baa4c82"/>
    <p:sldId xmlns:r="http://schemas.openxmlformats.org/officeDocument/2006/relationships" id="309" r:id="Rbdca9df90c34453c"/>
    <p:sldId xmlns:r="http://schemas.openxmlformats.org/officeDocument/2006/relationships" id="310" r:id="R7795bae17bb340f9"/>
    <p:sldId xmlns:r="http://schemas.openxmlformats.org/officeDocument/2006/relationships" id="311" r:id="Re69bb9c28e0248de"/>
    <p:sldId xmlns:r="http://schemas.openxmlformats.org/officeDocument/2006/relationships" id="312" r:id="R737d696ee6354099"/>
    <p:sldId xmlns:r="http://schemas.openxmlformats.org/officeDocument/2006/relationships" id="313" r:id="Rc9bf646c040e421f"/>
    <p:sldId xmlns:r="http://schemas.openxmlformats.org/officeDocument/2006/relationships" id="314" r:id="R9b8c94cff3fc47b9"/>
    <p:sldId xmlns:r="http://schemas.openxmlformats.org/officeDocument/2006/relationships" id="315" r:id="R1f31a52d21574487"/>
    <p:sldId xmlns:r="http://schemas.openxmlformats.org/officeDocument/2006/relationships" id="316" r:id="R1a254c4b1769460c"/>
    <p:sldId xmlns:r="http://schemas.openxmlformats.org/officeDocument/2006/relationships" id="317" r:id="R3f423b54f03a4100"/>
    <p:sldId xmlns:r="http://schemas.openxmlformats.org/officeDocument/2006/relationships" id="318" r:id="Rc8e583ac4cf3496c"/>
    <p:sldId xmlns:r="http://schemas.openxmlformats.org/officeDocument/2006/relationships" id="319" r:id="Reaa20ce2488e4b70"/>
    <p:sldId xmlns:r="http://schemas.openxmlformats.org/officeDocument/2006/relationships" id="320" r:id="R506b1125fa434f56"/>
    <p:sldId xmlns:r="http://schemas.openxmlformats.org/officeDocument/2006/relationships" id="321" r:id="R803b318e990a471a"/>
    <p:sldId xmlns:r="http://schemas.openxmlformats.org/officeDocument/2006/relationships" id="322" r:id="Ra6215636cbbc4b49"/>
    <p:sldId xmlns:r="http://schemas.openxmlformats.org/officeDocument/2006/relationships" id="323" r:id="Rffa67da9d6584033"/>
    <p:sldId xmlns:r="http://schemas.openxmlformats.org/officeDocument/2006/relationships" id="324" r:id="R266810ffa6fc468d"/>
    <p:sldId xmlns:r="http://schemas.openxmlformats.org/officeDocument/2006/relationships" id="325" r:id="R5c7f535b609a4ae3"/>
    <p:sldId xmlns:r="http://schemas.openxmlformats.org/officeDocument/2006/relationships" id="326" r:id="R923c43058a0240f8"/>
    <p:sldId xmlns:r="http://schemas.openxmlformats.org/officeDocument/2006/relationships" id="327" r:id="Ra40913ff862745f4"/>
    <p:sldId xmlns:r="http://schemas.openxmlformats.org/officeDocument/2006/relationships" id="328" r:id="Rdf9a0c3933f94b5d"/>
    <p:sldId xmlns:r="http://schemas.openxmlformats.org/officeDocument/2006/relationships" id="329" r:id="Rd8ebd7a7c8db443a"/>
    <p:sldId xmlns:r="http://schemas.openxmlformats.org/officeDocument/2006/relationships" id="330" r:id="Rf34cc6e64fc44863"/>
    <p:sldId xmlns:r="http://schemas.openxmlformats.org/officeDocument/2006/relationships" id="331" r:id="R8db8c331a6d34ca7"/>
    <p:sldId xmlns:r="http://schemas.openxmlformats.org/officeDocument/2006/relationships" id="332" r:id="Rea46dc8ff3344bea"/>
    <p:sldId xmlns:r="http://schemas.openxmlformats.org/officeDocument/2006/relationships" id="333" r:id="Rbddae51a939d42c9"/>
    <p:sldId xmlns:r="http://schemas.openxmlformats.org/officeDocument/2006/relationships" id="334" r:id="R3964c050bb1a40ae"/>
    <p:sldId xmlns:r="http://schemas.openxmlformats.org/officeDocument/2006/relationships" id="335" r:id="Rf4e9e735aa0349aa"/>
    <p:sldId xmlns:r="http://schemas.openxmlformats.org/officeDocument/2006/relationships" id="336" r:id="Rf510473bfa0f4f0b"/>
    <p:sldId xmlns:r="http://schemas.openxmlformats.org/officeDocument/2006/relationships" id="337" r:id="R0ee9c374cf904384"/>
    <p:sldId xmlns:r="http://schemas.openxmlformats.org/officeDocument/2006/relationships" id="338" r:id="R777a88d8be8a4748"/>
    <p:sldId xmlns:r="http://schemas.openxmlformats.org/officeDocument/2006/relationships" id="339" r:id="R6c893756c2274da3"/>
    <p:sldId xmlns:r="http://schemas.openxmlformats.org/officeDocument/2006/relationships" id="340" r:id="Rfee0148839c5462c"/>
    <p:sldId xmlns:r="http://schemas.openxmlformats.org/officeDocument/2006/relationships" id="341" r:id="R453413a0f50142d3"/>
    <p:sldId xmlns:r="http://schemas.openxmlformats.org/officeDocument/2006/relationships" id="342" r:id="R0d552217664d4ac9"/>
    <p:sldId xmlns:r="http://schemas.openxmlformats.org/officeDocument/2006/relationships" id="343" r:id="R1bc4537f1a9642d5"/>
    <p:sldId xmlns:r="http://schemas.openxmlformats.org/officeDocument/2006/relationships" id="344" r:id="R89103f43e80b473d"/>
    <p:sldId xmlns:r="http://schemas.openxmlformats.org/officeDocument/2006/relationships" id="345" r:id="R2afc7ab2325c48de"/>
    <p:sldId xmlns:r="http://schemas.openxmlformats.org/officeDocument/2006/relationships" id="346" r:id="R08fe77985b2b4bef"/>
    <p:sldId xmlns:r="http://schemas.openxmlformats.org/officeDocument/2006/relationships" id="347" r:id="Re1c822d4d7804bfc"/>
    <p:sldId xmlns:r="http://schemas.openxmlformats.org/officeDocument/2006/relationships" id="348" r:id="R66c81b4ec9044f4a"/>
    <p:sldId xmlns:r="http://schemas.openxmlformats.org/officeDocument/2006/relationships" id="349" r:id="R34904b94f06240b3"/>
    <p:sldId xmlns:r="http://schemas.openxmlformats.org/officeDocument/2006/relationships" id="350" r:id="R8fe6413c6e484725"/>
    <p:sldId xmlns:r="http://schemas.openxmlformats.org/officeDocument/2006/relationships" id="351" r:id="Raaba3466298c4ac5"/>
    <p:sldId xmlns:r="http://schemas.openxmlformats.org/officeDocument/2006/relationships" id="352" r:id="R810f99e4f6da4f0a"/>
    <p:sldId xmlns:r="http://schemas.openxmlformats.org/officeDocument/2006/relationships" id="353" r:id="R746c3c68878840fd"/>
    <p:sldId xmlns:r="http://schemas.openxmlformats.org/officeDocument/2006/relationships" id="354" r:id="Re8cd7bee75ba4dca"/>
    <p:sldId xmlns:r="http://schemas.openxmlformats.org/officeDocument/2006/relationships" id="355" r:id="R256e24180f2f4f10"/>
    <p:sldId xmlns:r="http://schemas.openxmlformats.org/officeDocument/2006/relationships" id="356" r:id="R49c6e696ad1744a0"/>
    <p:sldId xmlns:r="http://schemas.openxmlformats.org/officeDocument/2006/relationships" id="357" r:id="R19cedd152a734ea4"/>
    <p:sldId xmlns:r="http://schemas.openxmlformats.org/officeDocument/2006/relationships" id="358" r:id="R8af18b756fe04410"/>
    <p:sldId xmlns:r="http://schemas.openxmlformats.org/officeDocument/2006/relationships" id="359" r:id="Rad7565b156b348f8"/>
    <p:sldId xmlns:r="http://schemas.openxmlformats.org/officeDocument/2006/relationships" id="360" r:id="R499b9e4ccf4449f3"/>
    <p:sldId xmlns:r="http://schemas.openxmlformats.org/officeDocument/2006/relationships" id="361" r:id="R3f486a7756e74832"/>
    <p:sldId xmlns:r="http://schemas.openxmlformats.org/officeDocument/2006/relationships" id="362" r:id="R73c01f69e4e749db"/>
    <p:sldId xmlns:r="http://schemas.openxmlformats.org/officeDocument/2006/relationships" id="363" r:id="R438e1abb1f32478d"/>
    <p:sldId xmlns:r="http://schemas.openxmlformats.org/officeDocument/2006/relationships" id="364" r:id="Rc069d887729c4cc3"/>
    <p:sldId xmlns:r="http://schemas.openxmlformats.org/officeDocument/2006/relationships" id="365" r:id="R33716958598d4963"/>
    <p:sldId xmlns:r="http://schemas.openxmlformats.org/officeDocument/2006/relationships" id="366" r:id="R4e181781449b487c"/>
    <p:sldId xmlns:r="http://schemas.openxmlformats.org/officeDocument/2006/relationships" id="367" r:id="R86d97083f7b64371"/>
    <p:sldId xmlns:r="http://schemas.openxmlformats.org/officeDocument/2006/relationships" id="368" r:id="R624c457329b841f3"/>
    <p:sldId xmlns:r="http://schemas.openxmlformats.org/officeDocument/2006/relationships" id="369" r:id="Rdd00aefef9df44b9"/>
    <p:sldId xmlns:r="http://schemas.openxmlformats.org/officeDocument/2006/relationships" id="370" r:id="R85df6bb0c2604a9b"/>
    <p:sldId xmlns:r="http://schemas.openxmlformats.org/officeDocument/2006/relationships" id="371" r:id="R4e31873c180d40f5"/>
    <p:sldId xmlns:r="http://schemas.openxmlformats.org/officeDocument/2006/relationships" id="372" r:id="R597e65a589da4849"/>
    <p:sldId xmlns:r="http://schemas.openxmlformats.org/officeDocument/2006/relationships" id="373" r:id="R4dcf776d6ad2439d"/>
    <p:sldId xmlns:r="http://schemas.openxmlformats.org/officeDocument/2006/relationships" id="374" r:id="R4a7dd1c290054c31"/>
    <p:sldId xmlns:r="http://schemas.openxmlformats.org/officeDocument/2006/relationships" id="375" r:id="R52b556383f954f79"/>
    <p:sldId xmlns:r="http://schemas.openxmlformats.org/officeDocument/2006/relationships" id="376" r:id="R7958877336f840a9"/>
    <p:sldId xmlns:r="http://schemas.openxmlformats.org/officeDocument/2006/relationships" id="377" r:id="Rdeb8f217656f415a"/>
    <p:sldId xmlns:r="http://schemas.openxmlformats.org/officeDocument/2006/relationships" id="378" r:id="R5faf7ed358454216"/>
    <p:sldId xmlns:r="http://schemas.openxmlformats.org/officeDocument/2006/relationships" id="379" r:id="R908a16ac2cfb4275"/>
    <p:sldId xmlns:r="http://schemas.openxmlformats.org/officeDocument/2006/relationships" id="380" r:id="Ra7f227d583f94ada"/>
    <p:sldId xmlns:r="http://schemas.openxmlformats.org/officeDocument/2006/relationships" id="381" r:id="R6f07ee5e1e0d4c74"/>
    <p:sldId xmlns:r="http://schemas.openxmlformats.org/officeDocument/2006/relationships" id="382" r:id="R593e1e96f0a1466a"/>
    <p:sldId xmlns:r="http://schemas.openxmlformats.org/officeDocument/2006/relationships" id="383" r:id="Rfc2670d8f0ce458c"/>
    <p:sldId xmlns:r="http://schemas.openxmlformats.org/officeDocument/2006/relationships" id="384" r:id="R67ef3195a5c6431e"/>
    <p:sldId xmlns:r="http://schemas.openxmlformats.org/officeDocument/2006/relationships" id="385" r:id="R58c50426efe64239"/>
    <p:sldId xmlns:r="http://schemas.openxmlformats.org/officeDocument/2006/relationships" id="386" r:id="R080f1c70ab254118"/>
    <p:sldId xmlns:r="http://schemas.openxmlformats.org/officeDocument/2006/relationships" id="387" r:id="Re0bb11fe2c7d4396"/>
    <p:sldId xmlns:r="http://schemas.openxmlformats.org/officeDocument/2006/relationships" id="388" r:id="Rf04ec385b9a34cfc"/>
    <p:sldId xmlns:r="http://schemas.openxmlformats.org/officeDocument/2006/relationships" id="389" r:id="R7b27ef0e64514012"/>
    <p:sldId xmlns:r="http://schemas.openxmlformats.org/officeDocument/2006/relationships" id="390" r:id="R8e67d627ab024651"/>
    <p:sldId xmlns:r="http://schemas.openxmlformats.org/officeDocument/2006/relationships" id="391" r:id="Re64e9f1965f448b1"/>
    <p:sldId xmlns:r="http://schemas.openxmlformats.org/officeDocument/2006/relationships" id="392" r:id="R072cb419a3964631"/>
    <p:sldId xmlns:r="http://schemas.openxmlformats.org/officeDocument/2006/relationships" id="393" r:id="Re595dcbd18b04d05"/>
    <p:sldId xmlns:r="http://schemas.openxmlformats.org/officeDocument/2006/relationships" id="394" r:id="Rd123bea8689d459a"/>
    <p:sldId xmlns:r="http://schemas.openxmlformats.org/officeDocument/2006/relationships" id="395" r:id="R54fe992b7cba4e09"/>
    <p:sldId xmlns:r="http://schemas.openxmlformats.org/officeDocument/2006/relationships" id="396" r:id="Rf6ae31b1d6644af6"/>
    <p:sldId xmlns:r="http://schemas.openxmlformats.org/officeDocument/2006/relationships" id="397" r:id="R0540fec5aaf84927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7a25954b9b4317" /><Relationship Type="http://schemas.openxmlformats.org/officeDocument/2006/relationships/theme" Target="/ppt/theme/theme1.xml" Id="R25ea6d2f8fa14b66" /><Relationship Type="http://schemas.openxmlformats.org/officeDocument/2006/relationships/notesMaster" Target="/ppt/notesMasters/notesMaster1.xml" Id="R82a7e7ec8d324e4f" /><Relationship Type="http://schemas.openxmlformats.org/officeDocument/2006/relationships/presProps" Target="/ppt/presProps.xml" Id="R5f52ce66a07648a2" /><Relationship Type="http://schemas.openxmlformats.org/officeDocument/2006/relationships/viewProps" Target="/ppt/viewProps.xml" Id="Red93a9ac0ada42fd" /><Relationship Type="http://schemas.openxmlformats.org/officeDocument/2006/relationships/tableStyles" Target="/ppt/tableStyles.xml" Id="Rb45fa4cf38524f1e" /><Relationship Type="http://schemas.openxmlformats.org/officeDocument/2006/relationships/slide" Target="/ppt/slides/slide1.xml" Id="R405bc8b00cf54e83" /><Relationship Type="http://schemas.openxmlformats.org/officeDocument/2006/relationships/slide" Target="/ppt/slides/slide2.xml" Id="R043ed0373e884432" /><Relationship Type="http://schemas.openxmlformats.org/officeDocument/2006/relationships/slide" Target="/ppt/slides/slide3.xml" Id="R09354fd752b741fe" /><Relationship Type="http://schemas.openxmlformats.org/officeDocument/2006/relationships/slide" Target="/ppt/slides/slide4.xml" Id="R165eddfc8c924a73" /><Relationship Type="http://schemas.openxmlformats.org/officeDocument/2006/relationships/slide" Target="/ppt/slides/slide5.xml" Id="R5f4fcbfe7f254eac" /><Relationship Type="http://schemas.openxmlformats.org/officeDocument/2006/relationships/slide" Target="/ppt/slides/slide6.xml" Id="Rc019b17960ae4f08" /><Relationship Type="http://schemas.openxmlformats.org/officeDocument/2006/relationships/slide" Target="/ppt/slides/slide7.xml" Id="R076d9029b3384a21" /><Relationship Type="http://schemas.openxmlformats.org/officeDocument/2006/relationships/slide" Target="/ppt/slides/slide8.xml" Id="Rc09fcb672af94475" /><Relationship Type="http://schemas.openxmlformats.org/officeDocument/2006/relationships/slide" Target="/ppt/slides/slide9.xml" Id="Rd8cce97589604d31" /><Relationship Type="http://schemas.openxmlformats.org/officeDocument/2006/relationships/slide" Target="/ppt/slides/slide10.xml" Id="R3304cba2fd394425" /><Relationship Type="http://schemas.openxmlformats.org/officeDocument/2006/relationships/slide" Target="/ppt/slides/slide11.xml" Id="Rbc891aaabd144a27" /><Relationship Type="http://schemas.openxmlformats.org/officeDocument/2006/relationships/slide" Target="/ppt/slides/slide12.xml" Id="R6eaf9bec28484878" /><Relationship Type="http://schemas.openxmlformats.org/officeDocument/2006/relationships/slide" Target="/ppt/slides/slide13.xml" Id="Rec86bd15f5b049e4" /><Relationship Type="http://schemas.openxmlformats.org/officeDocument/2006/relationships/slide" Target="/ppt/slides/slide14.xml" Id="R7f7a94626ce7469d" /><Relationship Type="http://schemas.openxmlformats.org/officeDocument/2006/relationships/slide" Target="/ppt/slides/slide15.xml" Id="R083b5500eff1477c" /><Relationship Type="http://schemas.openxmlformats.org/officeDocument/2006/relationships/slide" Target="/ppt/slides/slide16.xml" Id="R877288d490f146c5" /><Relationship Type="http://schemas.openxmlformats.org/officeDocument/2006/relationships/slide" Target="/ppt/slides/slide17.xml" Id="Rbaa719cc163744df" /><Relationship Type="http://schemas.openxmlformats.org/officeDocument/2006/relationships/slide" Target="/ppt/slides/slide18.xml" Id="R02bc6d821f174f98" /><Relationship Type="http://schemas.openxmlformats.org/officeDocument/2006/relationships/slide" Target="/ppt/slides/slide19.xml" Id="R7e92c44cf10a42cd" /><Relationship Type="http://schemas.openxmlformats.org/officeDocument/2006/relationships/slide" Target="/ppt/slides/slide20.xml" Id="Rab7054fe3d964b10" /><Relationship Type="http://schemas.openxmlformats.org/officeDocument/2006/relationships/slide" Target="/ppt/slides/slide21.xml" Id="R99a9a52220cf4a55" /><Relationship Type="http://schemas.openxmlformats.org/officeDocument/2006/relationships/slide" Target="/ppt/slides/slide22.xml" Id="R4fc7f560f3374964" /><Relationship Type="http://schemas.openxmlformats.org/officeDocument/2006/relationships/slide" Target="/ppt/slides/slide23.xml" Id="Re51bf81590224645" /><Relationship Type="http://schemas.openxmlformats.org/officeDocument/2006/relationships/slide" Target="/ppt/slides/slide24.xml" Id="R83dee807c1a84472" /><Relationship Type="http://schemas.openxmlformats.org/officeDocument/2006/relationships/slide" Target="/ppt/slides/slide25.xml" Id="R86993a87980d4a6b" /><Relationship Type="http://schemas.openxmlformats.org/officeDocument/2006/relationships/slide" Target="/ppt/slides/slide26.xml" Id="Rf4a21727346e4203" /><Relationship Type="http://schemas.openxmlformats.org/officeDocument/2006/relationships/slide" Target="/ppt/slides/slide27.xml" Id="Rf1b8a093ec184bc6" /><Relationship Type="http://schemas.openxmlformats.org/officeDocument/2006/relationships/slide" Target="/ppt/slides/slide28.xml" Id="Re13b17a50fe04c44" /><Relationship Type="http://schemas.openxmlformats.org/officeDocument/2006/relationships/slide" Target="/ppt/slides/slide29.xml" Id="Rfe0cdf3c713145dc" /><Relationship Type="http://schemas.openxmlformats.org/officeDocument/2006/relationships/slide" Target="/ppt/slides/slide30.xml" Id="R7e1fb564a8c34168" /><Relationship Type="http://schemas.openxmlformats.org/officeDocument/2006/relationships/slide" Target="/ppt/slides/slide31.xml" Id="Rf44dad769d1544a7" /><Relationship Type="http://schemas.openxmlformats.org/officeDocument/2006/relationships/slide" Target="/ppt/slides/slide32.xml" Id="Rc3ac9d57abd14041" /><Relationship Type="http://schemas.openxmlformats.org/officeDocument/2006/relationships/slide" Target="/ppt/slides/slide33.xml" Id="Rc0898fc04aa7452f" /><Relationship Type="http://schemas.openxmlformats.org/officeDocument/2006/relationships/slide" Target="/ppt/slides/slide34.xml" Id="R3426adb5abe141df" /><Relationship Type="http://schemas.openxmlformats.org/officeDocument/2006/relationships/slide" Target="/ppt/slides/slide35.xml" Id="R5e7d257e509744c3" /><Relationship Type="http://schemas.openxmlformats.org/officeDocument/2006/relationships/slide" Target="/ppt/slides/slide36.xml" Id="R394958d0193244ad" /><Relationship Type="http://schemas.openxmlformats.org/officeDocument/2006/relationships/slide" Target="/ppt/slides/slide37.xml" Id="Raf9c6b1bf61047f7" /><Relationship Type="http://schemas.openxmlformats.org/officeDocument/2006/relationships/slide" Target="/ppt/slides/slide38.xml" Id="R617e6561c5c64b6f" /><Relationship Type="http://schemas.openxmlformats.org/officeDocument/2006/relationships/slide" Target="/ppt/slides/slide39.xml" Id="Rd28721032aae4af0" /><Relationship Type="http://schemas.openxmlformats.org/officeDocument/2006/relationships/slide" Target="/ppt/slides/slide40.xml" Id="R5295d7e260294c4e" /><Relationship Type="http://schemas.openxmlformats.org/officeDocument/2006/relationships/slide" Target="/ppt/slides/slide41.xml" Id="R91ab0e1baf35402c" /><Relationship Type="http://schemas.openxmlformats.org/officeDocument/2006/relationships/slide" Target="/ppt/slides/slide42.xml" Id="R3a19a1161dc8469c" /><Relationship Type="http://schemas.openxmlformats.org/officeDocument/2006/relationships/slide" Target="/ppt/slides/slide43.xml" Id="R5798982334b3401e" /><Relationship Type="http://schemas.openxmlformats.org/officeDocument/2006/relationships/slide" Target="/ppt/slides/slide44.xml" Id="Rb7778b618761447f" /><Relationship Type="http://schemas.openxmlformats.org/officeDocument/2006/relationships/slide" Target="/ppt/slides/slide45.xml" Id="R929175f01e9b482b" /><Relationship Type="http://schemas.openxmlformats.org/officeDocument/2006/relationships/slide" Target="/ppt/slides/slide46.xml" Id="R762806c595d94dd5" /><Relationship Type="http://schemas.openxmlformats.org/officeDocument/2006/relationships/slide" Target="/ppt/slides/slide47.xml" Id="R6a9c72b09ac44d35" /><Relationship Type="http://schemas.openxmlformats.org/officeDocument/2006/relationships/slide" Target="/ppt/slides/slide48.xml" Id="Ra834171723e74681" /><Relationship Type="http://schemas.openxmlformats.org/officeDocument/2006/relationships/slide" Target="/ppt/slides/slide49.xml" Id="R967f5afab3a44539" /><Relationship Type="http://schemas.openxmlformats.org/officeDocument/2006/relationships/slide" Target="/ppt/slides/slide50.xml" Id="Rd03a6cc53cb242fc" /><Relationship Type="http://schemas.openxmlformats.org/officeDocument/2006/relationships/slide" Target="/ppt/slides/slide51.xml" Id="Rf160dc28b8754577" /><Relationship Type="http://schemas.openxmlformats.org/officeDocument/2006/relationships/slide" Target="/ppt/slides/slide52.xml" Id="R010084c5c7784cb2" /><Relationship Type="http://schemas.openxmlformats.org/officeDocument/2006/relationships/slide" Target="/ppt/slides/slide53.xml" Id="Rbf08ea406baa4c82" /><Relationship Type="http://schemas.openxmlformats.org/officeDocument/2006/relationships/slide" Target="/ppt/slides/slide54.xml" Id="Rbdca9df90c34453c" /><Relationship Type="http://schemas.openxmlformats.org/officeDocument/2006/relationships/slide" Target="/ppt/slides/slide55.xml" Id="R7795bae17bb340f9" /><Relationship Type="http://schemas.openxmlformats.org/officeDocument/2006/relationships/slide" Target="/ppt/slides/slide56.xml" Id="Re69bb9c28e0248de" /><Relationship Type="http://schemas.openxmlformats.org/officeDocument/2006/relationships/slide" Target="/ppt/slides/slide57.xml" Id="R737d696ee6354099" /><Relationship Type="http://schemas.openxmlformats.org/officeDocument/2006/relationships/slide" Target="/ppt/slides/slide58.xml" Id="Rc9bf646c040e421f" /><Relationship Type="http://schemas.openxmlformats.org/officeDocument/2006/relationships/slide" Target="/ppt/slides/slide59.xml" Id="R9b8c94cff3fc47b9" /><Relationship Type="http://schemas.openxmlformats.org/officeDocument/2006/relationships/slide" Target="/ppt/slides/slide60.xml" Id="R1f31a52d21574487" /><Relationship Type="http://schemas.openxmlformats.org/officeDocument/2006/relationships/slide" Target="/ppt/slides/slide61.xml" Id="R1a254c4b1769460c" /><Relationship Type="http://schemas.openxmlformats.org/officeDocument/2006/relationships/slide" Target="/ppt/slides/slide62.xml" Id="R3f423b54f03a4100" /><Relationship Type="http://schemas.openxmlformats.org/officeDocument/2006/relationships/slide" Target="/ppt/slides/slide63.xml" Id="Rc8e583ac4cf3496c" /><Relationship Type="http://schemas.openxmlformats.org/officeDocument/2006/relationships/slide" Target="/ppt/slides/slide64.xml" Id="Reaa20ce2488e4b70" /><Relationship Type="http://schemas.openxmlformats.org/officeDocument/2006/relationships/slide" Target="/ppt/slides/slide65.xml" Id="R506b1125fa434f56" /><Relationship Type="http://schemas.openxmlformats.org/officeDocument/2006/relationships/slide" Target="/ppt/slides/slide66.xml" Id="R803b318e990a471a" /><Relationship Type="http://schemas.openxmlformats.org/officeDocument/2006/relationships/slide" Target="/ppt/slides/slide67.xml" Id="Ra6215636cbbc4b49" /><Relationship Type="http://schemas.openxmlformats.org/officeDocument/2006/relationships/slide" Target="/ppt/slides/slide68.xml" Id="Rffa67da9d6584033" /><Relationship Type="http://schemas.openxmlformats.org/officeDocument/2006/relationships/slide" Target="/ppt/slides/slide69.xml" Id="R266810ffa6fc468d" /><Relationship Type="http://schemas.openxmlformats.org/officeDocument/2006/relationships/slide" Target="/ppt/slides/slide70.xml" Id="R5c7f535b609a4ae3" /><Relationship Type="http://schemas.openxmlformats.org/officeDocument/2006/relationships/slide" Target="/ppt/slides/slide71.xml" Id="R923c43058a0240f8" /><Relationship Type="http://schemas.openxmlformats.org/officeDocument/2006/relationships/slide" Target="/ppt/slides/slide72.xml" Id="Ra40913ff862745f4" /><Relationship Type="http://schemas.openxmlformats.org/officeDocument/2006/relationships/slide" Target="/ppt/slides/slide73.xml" Id="Rdf9a0c3933f94b5d" /><Relationship Type="http://schemas.openxmlformats.org/officeDocument/2006/relationships/slide" Target="/ppt/slides/slide74.xml" Id="Rd8ebd7a7c8db443a" /><Relationship Type="http://schemas.openxmlformats.org/officeDocument/2006/relationships/slide" Target="/ppt/slides/slide75.xml" Id="Rf34cc6e64fc44863" /><Relationship Type="http://schemas.openxmlformats.org/officeDocument/2006/relationships/slide" Target="/ppt/slides/slide76.xml" Id="R8db8c331a6d34ca7" /><Relationship Type="http://schemas.openxmlformats.org/officeDocument/2006/relationships/slide" Target="/ppt/slides/slide77.xml" Id="Rea46dc8ff3344bea" /><Relationship Type="http://schemas.openxmlformats.org/officeDocument/2006/relationships/slide" Target="/ppt/slides/slide78.xml" Id="Rbddae51a939d42c9" /><Relationship Type="http://schemas.openxmlformats.org/officeDocument/2006/relationships/slide" Target="/ppt/slides/slide79.xml" Id="R3964c050bb1a40ae" /><Relationship Type="http://schemas.openxmlformats.org/officeDocument/2006/relationships/slide" Target="/ppt/slides/slide80.xml" Id="Rf4e9e735aa0349aa" /><Relationship Type="http://schemas.openxmlformats.org/officeDocument/2006/relationships/slide" Target="/ppt/slides/slide81.xml" Id="Rf510473bfa0f4f0b" /><Relationship Type="http://schemas.openxmlformats.org/officeDocument/2006/relationships/slide" Target="/ppt/slides/slide82.xml" Id="R0ee9c374cf904384" /><Relationship Type="http://schemas.openxmlformats.org/officeDocument/2006/relationships/slide" Target="/ppt/slides/slide83.xml" Id="R777a88d8be8a4748" /><Relationship Type="http://schemas.openxmlformats.org/officeDocument/2006/relationships/slide" Target="/ppt/slides/slide84.xml" Id="R6c893756c2274da3" /><Relationship Type="http://schemas.openxmlformats.org/officeDocument/2006/relationships/slide" Target="/ppt/slides/slide85.xml" Id="Rfee0148839c5462c" /><Relationship Type="http://schemas.openxmlformats.org/officeDocument/2006/relationships/slide" Target="/ppt/slides/slide86.xml" Id="R453413a0f50142d3" /><Relationship Type="http://schemas.openxmlformats.org/officeDocument/2006/relationships/slide" Target="/ppt/slides/slide87.xml" Id="R0d552217664d4ac9" /><Relationship Type="http://schemas.openxmlformats.org/officeDocument/2006/relationships/slide" Target="/ppt/slides/slide88.xml" Id="R1bc4537f1a9642d5" /><Relationship Type="http://schemas.openxmlformats.org/officeDocument/2006/relationships/slide" Target="/ppt/slides/slide89.xml" Id="R89103f43e80b473d" /><Relationship Type="http://schemas.openxmlformats.org/officeDocument/2006/relationships/slide" Target="/ppt/slides/slide90.xml" Id="R2afc7ab2325c48de" /><Relationship Type="http://schemas.openxmlformats.org/officeDocument/2006/relationships/slide" Target="/ppt/slides/slide91.xml" Id="R08fe77985b2b4bef" /><Relationship Type="http://schemas.openxmlformats.org/officeDocument/2006/relationships/slide" Target="/ppt/slides/slide92.xml" Id="Re1c822d4d7804bfc" /><Relationship Type="http://schemas.openxmlformats.org/officeDocument/2006/relationships/slide" Target="/ppt/slides/slide93.xml" Id="R66c81b4ec9044f4a" /><Relationship Type="http://schemas.openxmlformats.org/officeDocument/2006/relationships/slide" Target="/ppt/slides/slide94.xml" Id="R34904b94f06240b3" /><Relationship Type="http://schemas.openxmlformats.org/officeDocument/2006/relationships/slide" Target="/ppt/slides/slide95.xml" Id="R8fe6413c6e484725" /><Relationship Type="http://schemas.openxmlformats.org/officeDocument/2006/relationships/slide" Target="/ppt/slides/slide96.xml" Id="Raaba3466298c4ac5" /><Relationship Type="http://schemas.openxmlformats.org/officeDocument/2006/relationships/slide" Target="/ppt/slides/slide97.xml" Id="R810f99e4f6da4f0a" /><Relationship Type="http://schemas.openxmlformats.org/officeDocument/2006/relationships/slide" Target="/ppt/slides/slide98.xml" Id="R746c3c68878840fd" /><Relationship Type="http://schemas.openxmlformats.org/officeDocument/2006/relationships/slide" Target="/ppt/slides/slide99.xml" Id="Re8cd7bee75ba4dca" /><Relationship Type="http://schemas.openxmlformats.org/officeDocument/2006/relationships/slide" Target="/ppt/slides/slide100.xml" Id="R256e24180f2f4f10" /><Relationship Type="http://schemas.openxmlformats.org/officeDocument/2006/relationships/slide" Target="/ppt/slides/slide101.xml" Id="R49c6e696ad1744a0" /><Relationship Type="http://schemas.openxmlformats.org/officeDocument/2006/relationships/slide" Target="/ppt/slides/slide102.xml" Id="R19cedd152a734ea4" /><Relationship Type="http://schemas.openxmlformats.org/officeDocument/2006/relationships/slide" Target="/ppt/slides/slide103.xml" Id="R8af18b756fe04410" /><Relationship Type="http://schemas.openxmlformats.org/officeDocument/2006/relationships/slide" Target="/ppt/slides/slide104.xml" Id="Rad7565b156b348f8" /><Relationship Type="http://schemas.openxmlformats.org/officeDocument/2006/relationships/slide" Target="/ppt/slides/slide105.xml" Id="R499b9e4ccf4449f3" /><Relationship Type="http://schemas.openxmlformats.org/officeDocument/2006/relationships/slide" Target="/ppt/slides/slide106.xml" Id="R3f486a7756e74832" /><Relationship Type="http://schemas.openxmlformats.org/officeDocument/2006/relationships/slide" Target="/ppt/slides/slide107.xml" Id="R73c01f69e4e749db" /><Relationship Type="http://schemas.openxmlformats.org/officeDocument/2006/relationships/slide" Target="/ppt/slides/slide108.xml" Id="R438e1abb1f32478d" /><Relationship Type="http://schemas.openxmlformats.org/officeDocument/2006/relationships/slide" Target="/ppt/slides/slide109.xml" Id="Rc069d887729c4cc3" /><Relationship Type="http://schemas.openxmlformats.org/officeDocument/2006/relationships/slide" Target="/ppt/slides/slide110.xml" Id="R33716958598d4963" /><Relationship Type="http://schemas.openxmlformats.org/officeDocument/2006/relationships/slide" Target="/ppt/slides/slide111.xml" Id="R4e181781449b487c" /><Relationship Type="http://schemas.openxmlformats.org/officeDocument/2006/relationships/slide" Target="/ppt/slides/slide112.xml" Id="R86d97083f7b64371" /><Relationship Type="http://schemas.openxmlformats.org/officeDocument/2006/relationships/slide" Target="/ppt/slides/slide113.xml" Id="R624c457329b841f3" /><Relationship Type="http://schemas.openxmlformats.org/officeDocument/2006/relationships/slide" Target="/ppt/slides/slide114.xml" Id="Rdd00aefef9df44b9" /><Relationship Type="http://schemas.openxmlformats.org/officeDocument/2006/relationships/slide" Target="/ppt/slides/slide115.xml" Id="R85df6bb0c2604a9b" /><Relationship Type="http://schemas.openxmlformats.org/officeDocument/2006/relationships/slide" Target="/ppt/slides/slide116.xml" Id="R4e31873c180d40f5" /><Relationship Type="http://schemas.openxmlformats.org/officeDocument/2006/relationships/slide" Target="/ppt/slides/slide117.xml" Id="R597e65a589da4849" /><Relationship Type="http://schemas.openxmlformats.org/officeDocument/2006/relationships/slide" Target="/ppt/slides/slide118.xml" Id="R4dcf776d6ad2439d" /><Relationship Type="http://schemas.openxmlformats.org/officeDocument/2006/relationships/slide" Target="/ppt/slides/slide119.xml" Id="R4a7dd1c290054c31" /><Relationship Type="http://schemas.openxmlformats.org/officeDocument/2006/relationships/slide" Target="/ppt/slides/slide120.xml" Id="R52b556383f954f79" /><Relationship Type="http://schemas.openxmlformats.org/officeDocument/2006/relationships/slide" Target="/ppt/slides/slide121.xml" Id="R7958877336f840a9" /><Relationship Type="http://schemas.openxmlformats.org/officeDocument/2006/relationships/slide" Target="/ppt/slides/slide122.xml" Id="Rdeb8f217656f415a" /><Relationship Type="http://schemas.openxmlformats.org/officeDocument/2006/relationships/slide" Target="/ppt/slides/slide123.xml" Id="R5faf7ed358454216" /><Relationship Type="http://schemas.openxmlformats.org/officeDocument/2006/relationships/slide" Target="/ppt/slides/slide124.xml" Id="R908a16ac2cfb4275" /><Relationship Type="http://schemas.openxmlformats.org/officeDocument/2006/relationships/slide" Target="/ppt/slides/slide125.xml" Id="Ra7f227d583f94ada" /><Relationship Type="http://schemas.openxmlformats.org/officeDocument/2006/relationships/slide" Target="/ppt/slides/slide126.xml" Id="R6f07ee5e1e0d4c74" /><Relationship Type="http://schemas.openxmlformats.org/officeDocument/2006/relationships/slide" Target="/ppt/slides/slide127.xml" Id="R593e1e96f0a1466a" /><Relationship Type="http://schemas.openxmlformats.org/officeDocument/2006/relationships/slide" Target="/ppt/slides/slide128.xml" Id="Rfc2670d8f0ce458c" /><Relationship Type="http://schemas.openxmlformats.org/officeDocument/2006/relationships/slide" Target="/ppt/slides/slide129.xml" Id="R67ef3195a5c6431e" /><Relationship Type="http://schemas.openxmlformats.org/officeDocument/2006/relationships/slide" Target="/ppt/slides/slide130.xml" Id="R58c50426efe64239" /><Relationship Type="http://schemas.openxmlformats.org/officeDocument/2006/relationships/slide" Target="/ppt/slides/slide131.xml" Id="R080f1c70ab254118" /><Relationship Type="http://schemas.openxmlformats.org/officeDocument/2006/relationships/slide" Target="/ppt/slides/slide132.xml" Id="Re0bb11fe2c7d4396" /><Relationship Type="http://schemas.openxmlformats.org/officeDocument/2006/relationships/slide" Target="/ppt/slides/slide133.xml" Id="Rf04ec385b9a34cfc" /><Relationship Type="http://schemas.openxmlformats.org/officeDocument/2006/relationships/slide" Target="/ppt/slides/slide134.xml" Id="R7b27ef0e64514012" /><Relationship Type="http://schemas.openxmlformats.org/officeDocument/2006/relationships/slide" Target="/ppt/slides/slide135.xml" Id="R8e67d627ab024651" /><Relationship Type="http://schemas.openxmlformats.org/officeDocument/2006/relationships/slide" Target="/ppt/slides/slide136.xml" Id="Re64e9f1965f448b1" /><Relationship Type="http://schemas.openxmlformats.org/officeDocument/2006/relationships/slide" Target="/ppt/slides/slide137.xml" Id="R072cb419a3964631" /><Relationship Type="http://schemas.openxmlformats.org/officeDocument/2006/relationships/slide" Target="/ppt/slides/slide138.xml" Id="Re595dcbd18b04d05" /><Relationship Type="http://schemas.openxmlformats.org/officeDocument/2006/relationships/slide" Target="/ppt/slides/slide139.xml" Id="Rd123bea8689d459a" /><Relationship Type="http://schemas.openxmlformats.org/officeDocument/2006/relationships/slide" Target="/ppt/slides/slide140.xml" Id="R54fe992b7cba4e09" /><Relationship Type="http://schemas.openxmlformats.org/officeDocument/2006/relationships/slide" Target="/ppt/slides/slide141.xml" Id="Rf6ae31b1d6644af6" /><Relationship Type="http://schemas.openxmlformats.org/officeDocument/2006/relationships/slide" Target="/ppt/slides/slide142.xml" Id="R0540fec5aaf849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8fd5508a06848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b3fb2376e564b9e" /><Relationship Type="http://schemas.openxmlformats.org/officeDocument/2006/relationships/notesMaster" Target="/ppt/notesMasters/notesMaster1.xml" Id="Reffed375d6084e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9d7d80fb9f4c66" /><Relationship Type="http://schemas.openxmlformats.org/officeDocument/2006/relationships/notesMaster" Target="/ppt/notesMasters/notesMaster1.xml" Id="Rb8646d79a6b14f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2d5d66ed8e417b" /><Relationship Type="http://schemas.openxmlformats.org/officeDocument/2006/relationships/notesMaster" Target="/ppt/notesMasters/notesMaster1.xml" Id="R5097d6b3b44648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92e14fb21a4a70" /><Relationship Type="http://schemas.openxmlformats.org/officeDocument/2006/relationships/notesMaster" Target="/ppt/notesMasters/notesMaster1.xml" Id="R053bfc4bcb984e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eae47c6bac4582" /><Relationship Type="http://schemas.openxmlformats.org/officeDocument/2006/relationships/notesMaster" Target="/ppt/notesMasters/notesMaster1.xml" Id="R68fedfbe112749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1b16615f58c4f3a" /><Relationship Type="http://schemas.openxmlformats.org/officeDocument/2006/relationships/notesMaster" Target="/ppt/notesMasters/notesMaster1.xml" Id="R6dd9deeb2d0140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4ebcc40a804215" /><Relationship Type="http://schemas.openxmlformats.org/officeDocument/2006/relationships/notesMaster" Target="/ppt/notesMasters/notesMaster1.xml" Id="R63c058afa3ff46f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542cdfae76447c9" /><Relationship Type="http://schemas.openxmlformats.org/officeDocument/2006/relationships/notesMaster" Target="/ppt/notesMasters/notesMaster1.xml" Id="R4b1f8f04a10747f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1bc5eec66fa4e47" /><Relationship Type="http://schemas.openxmlformats.org/officeDocument/2006/relationships/notesMaster" Target="/ppt/notesMasters/notesMaster1.xml" Id="Rcc0012cc88f6408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de743b5749247a6" /><Relationship Type="http://schemas.openxmlformats.org/officeDocument/2006/relationships/notesMaster" Target="/ppt/notesMasters/notesMaster1.xml" Id="R067898a78806419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e6dbc4e843441f" /><Relationship Type="http://schemas.openxmlformats.org/officeDocument/2006/relationships/notesMaster" Target="/ppt/notesMasters/notesMaster1.xml" Id="R3a504c5f7f32472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aee998988aa4ecb" /><Relationship Type="http://schemas.openxmlformats.org/officeDocument/2006/relationships/notesMaster" Target="/ppt/notesMasters/notesMaster1.xml" Id="Rcba8a612db884fa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438cc06f7d84765" /><Relationship Type="http://schemas.openxmlformats.org/officeDocument/2006/relationships/notesMaster" Target="/ppt/notesMasters/notesMaster1.xml" Id="R2b50e30a1f9b447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885aafb728b44ab" /><Relationship Type="http://schemas.openxmlformats.org/officeDocument/2006/relationships/notesMaster" Target="/ppt/notesMasters/notesMaster1.xml" Id="R1f301035f38f455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d2cb5b055b94781" /><Relationship Type="http://schemas.openxmlformats.org/officeDocument/2006/relationships/notesMaster" Target="/ppt/notesMasters/notesMaster1.xml" Id="R6f8a8b01bff34e8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a054d9b96474d3e" /><Relationship Type="http://schemas.openxmlformats.org/officeDocument/2006/relationships/notesMaster" Target="/ppt/notesMasters/notesMaster1.xml" Id="R19dc3c114d4f4e9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43439da2ce04716" /><Relationship Type="http://schemas.openxmlformats.org/officeDocument/2006/relationships/notesMaster" Target="/ppt/notesMasters/notesMaster1.xml" Id="Rcfe367696a814df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cc3b397aa8d4e0d" /><Relationship Type="http://schemas.openxmlformats.org/officeDocument/2006/relationships/notesMaster" Target="/ppt/notesMasters/notesMaster1.xml" Id="Re340744f0b4942e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b36cd3d106f480f" /><Relationship Type="http://schemas.openxmlformats.org/officeDocument/2006/relationships/notesMaster" Target="/ppt/notesMasters/notesMaster1.xml" Id="R3aedb07045b548a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0dec87b93b34c2a" /><Relationship Type="http://schemas.openxmlformats.org/officeDocument/2006/relationships/notesMaster" Target="/ppt/notesMasters/notesMaster1.xml" Id="R5ce53c3f5910415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1634603d05640da" /><Relationship Type="http://schemas.openxmlformats.org/officeDocument/2006/relationships/notesMaster" Target="/ppt/notesMasters/notesMaster1.xml" Id="R276c5a4e305e4de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3bd45cef8624ac2" /><Relationship Type="http://schemas.openxmlformats.org/officeDocument/2006/relationships/notesMaster" Target="/ppt/notesMasters/notesMaster1.xml" Id="R1d1fc97aee7d43c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02152ed11014b24" /><Relationship Type="http://schemas.openxmlformats.org/officeDocument/2006/relationships/notesMaster" Target="/ppt/notesMasters/notesMaster1.xml" Id="Rab09bcd1f9b440b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8730e4047ac4108" /><Relationship Type="http://schemas.openxmlformats.org/officeDocument/2006/relationships/notesMaster" Target="/ppt/notesMasters/notesMaster1.xml" Id="Rd97162d0cf00461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52b28a8bf9f4cc6" /><Relationship Type="http://schemas.openxmlformats.org/officeDocument/2006/relationships/notesMaster" Target="/ppt/notesMasters/notesMaster1.xml" Id="Re0020f4c368f4ac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60ebc7915b9483b" /><Relationship Type="http://schemas.openxmlformats.org/officeDocument/2006/relationships/notesMaster" Target="/ppt/notesMasters/notesMaster1.xml" Id="Re2f64917762b423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3842a05e5a6400d" /><Relationship Type="http://schemas.openxmlformats.org/officeDocument/2006/relationships/notesMaster" Target="/ppt/notesMasters/notesMaster1.xml" Id="R395dffe55c194b1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2b8f2287b884fa4" /><Relationship Type="http://schemas.openxmlformats.org/officeDocument/2006/relationships/notesMaster" Target="/ppt/notesMasters/notesMaster1.xml" Id="R9db241c03a7247f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ec335afc6044c2e" /><Relationship Type="http://schemas.openxmlformats.org/officeDocument/2006/relationships/notesMaster" Target="/ppt/notesMasters/notesMaster1.xml" Id="Re7b3a09edec94bc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48ce70f01714a63" /><Relationship Type="http://schemas.openxmlformats.org/officeDocument/2006/relationships/notesMaster" Target="/ppt/notesMasters/notesMaster1.xml" Id="Rf6cd0b5257d7470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0a3a68498534ecb" /><Relationship Type="http://schemas.openxmlformats.org/officeDocument/2006/relationships/notesMaster" Target="/ppt/notesMasters/notesMaster1.xml" Id="Ra7ce2b470b6d4cb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f56916ada2c44da" /><Relationship Type="http://schemas.openxmlformats.org/officeDocument/2006/relationships/notesMaster" Target="/ppt/notesMasters/notesMaster1.xml" Id="R0963c819344c4e9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c548f1e84154f6c" /><Relationship Type="http://schemas.openxmlformats.org/officeDocument/2006/relationships/notesMaster" Target="/ppt/notesMasters/notesMaster1.xml" Id="R8a9bf5e0618046b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47bf1ca41934c0d" /><Relationship Type="http://schemas.openxmlformats.org/officeDocument/2006/relationships/notesMaster" Target="/ppt/notesMasters/notesMaster1.xml" Id="R02699bb9e8524e7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b712824c26b44ad" /><Relationship Type="http://schemas.openxmlformats.org/officeDocument/2006/relationships/notesMaster" Target="/ppt/notesMasters/notesMaster1.xml" Id="R0bcfdaa55786458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f080351df514c21" /><Relationship Type="http://schemas.openxmlformats.org/officeDocument/2006/relationships/notesMaster" Target="/ppt/notesMasters/notesMaster1.xml" Id="R27225b24630641f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ed8bf27f620f446e" /><Relationship Type="http://schemas.openxmlformats.org/officeDocument/2006/relationships/notesMaster" Target="/ppt/notesMasters/notesMaster1.xml" Id="Rd211f066b8614061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02052ed5eb84c96" /><Relationship Type="http://schemas.openxmlformats.org/officeDocument/2006/relationships/notesMaster" Target="/ppt/notesMasters/notesMaster1.xml" Id="R0d7e0be308004e2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f8f800a93b8d4fac" /><Relationship Type="http://schemas.openxmlformats.org/officeDocument/2006/relationships/notesMaster" Target="/ppt/notesMasters/notesMaster1.xml" Id="R2b8c21f4a8ee414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8f2a8083723401e" /><Relationship Type="http://schemas.openxmlformats.org/officeDocument/2006/relationships/notesMaster" Target="/ppt/notesMasters/notesMaster1.xml" Id="R42e5e4bb688c4a27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9f44b5fd2d57483d" /><Relationship Type="http://schemas.openxmlformats.org/officeDocument/2006/relationships/notesMaster" Target="/ppt/notesMasters/notesMaster1.xml" Id="R0a7d5ac0556d463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7f4abe0d08f14fb0" /><Relationship Type="http://schemas.openxmlformats.org/officeDocument/2006/relationships/notesMaster" Target="/ppt/notesMasters/notesMaster1.xml" Id="Rdf0be48c63e54cc6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6e8bb35e4f7b4a9d" /><Relationship Type="http://schemas.openxmlformats.org/officeDocument/2006/relationships/notesMaster" Target="/ppt/notesMasters/notesMaster1.xml" Id="Rb19667e841d24a2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5a3df97126534274" /><Relationship Type="http://schemas.openxmlformats.org/officeDocument/2006/relationships/notesMaster" Target="/ppt/notesMasters/notesMaster1.xml" Id="R3742928fd0904c9a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9f16647a53f4dbd" /><Relationship Type="http://schemas.openxmlformats.org/officeDocument/2006/relationships/notesMaster" Target="/ppt/notesMasters/notesMaster1.xml" Id="R45071ec9b50e4cc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97707cc858a440b4" /><Relationship Type="http://schemas.openxmlformats.org/officeDocument/2006/relationships/notesMaster" Target="/ppt/notesMasters/notesMaster1.xml" Id="Rcd45d36c225e4e8f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156a693594ac491d" /><Relationship Type="http://schemas.openxmlformats.org/officeDocument/2006/relationships/notesMaster" Target="/ppt/notesMasters/notesMaster1.xml" Id="R60feaada2fd04002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5138b46fcd034b32" /><Relationship Type="http://schemas.openxmlformats.org/officeDocument/2006/relationships/notesMaster" Target="/ppt/notesMasters/notesMaster1.xml" Id="Rd0dbf92597f542ae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4659a9763a0549e3" /><Relationship Type="http://schemas.openxmlformats.org/officeDocument/2006/relationships/notesMaster" Target="/ppt/notesMasters/notesMaster1.xml" Id="Recd88603ab80403b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585a7ffb1f304d4f" /><Relationship Type="http://schemas.openxmlformats.org/officeDocument/2006/relationships/notesMaster" Target="/ppt/notesMasters/notesMaster1.xml" Id="R9c0607400bca439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35ce2e006e19468d" /><Relationship Type="http://schemas.openxmlformats.org/officeDocument/2006/relationships/notesMaster" Target="/ppt/notesMasters/notesMaster1.xml" Id="Re876d0c4d4dc4776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b2d59d119944480f" /><Relationship Type="http://schemas.openxmlformats.org/officeDocument/2006/relationships/notesMaster" Target="/ppt/notesMasters/notesMaster1.xml" Id="Rcfa050c1226d4a43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87c158ce3d564a07" /><Relationship Type="http://schemas.openxmlformats.org/officeDocument/2006/relationships/notesMaster" Target="/ppt/notesMasters/notesMaster1.xml" Id="R9ee6c678f5104694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19bead9cd1cb44f5" /><Relationship Type="http://schemas.openxmlformats.org/officeDocument/2006/relationships/notesMaster" Target="/ppt/notesMasters/notesMaster1.xml" Id="R227459a637bd4853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f0f2cc4088054a18" /><Relationship Type="http://schemas.openxmlformats.org/officeDocument/2006/relationships/notesMaster" Target="/ppt/notesMasters/notesMaster1.xml" Id="R566bfbbb2eb94fc2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93a7a45fdd0141b3" /><Relationship Type="http://schemas.openxmlformats.org/officeDocument/2006/relationships/notesMaster" Target="/ppt/notesMasters/notesMaster1.xml" Id="Raffcff1c25124c54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ee6e97333efc4736" /><Relationship Type="http://schemas.openxmlformats.org/officeDocument/2006/relationships/notesMaster" Target="/ppt/notesMasters/notesMaster1.xml" Id="R59e9d6302962401b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254081d8f1684b70" /><Relationship Type="http://schemas.openxmlformats.org/officeDocument/2006/relationships/notesMaster" Target="/ppt/notesMasters/notesMaster1.xml" Id="R0b1275f341804fe9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1061fa5c38ae4084" /><Relationship Type="http://schemas.openxmlformats.org/officeDocument/2006/relationships/notesMaster" Target="/ppt/notesMasters/notesMaster1.xml" Id="Rcba786f1ddd345c6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af81af096d024813" /><Relationship Type="http://schemas.openxmlformats.org/officeDocument/2006/relationships/notesMaster" Target="/ppt/notesMasters/notesMaster1.xml" Id="R2bcfa441f902405c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5478dc2eb4344fe0" /><Relationship Type="http://schemas.openxmlformats.org/officeDocument/2006/relationships/notesMaster" Target="/ppt/notesMasters/notesMaster1.xml" Id="R4b264024e3054341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cd87f708a5384ff7" /><Relationship Type="http://schemas.openxmlformats.org/officeDocument/2006/relationships/notesMaster" Target="/ppt/notesMasters/notesMaster1.xml" Id="Rbd0b2765f7c64d7e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6b3d53f0073d4526" /><Relationship Type="http://schemas.openxmlformats.org/officeDocument/2006/relationships/notesMaster" Target="/ppt/notesMasters/notesMaster1.xml" Id="Rb0e258fdb6404790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b6ecac21de6b4c35" /><Relationship Type="http://schemas.openxmlformats.org/officeDocument/2006/relationships/notesMaster" Target="/ppt/notesMasters/notesMaster1.xml" Id="Rd93375a4c6644bbd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689fdd693a71456c" /><Relationship Type="http://schemas.openxmlformats.org/officeDocument/2006/relationships/notesMaster" Target="/ppt/notesMasters/notesMaster1.xml" Id="R7a5999313f8140f7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5ed23132472c4400" /><Relationship Type="http://schemas.openxmlformats.org/officeDocument/2006/relationships/notesMaster" Target="/ppt/notesMasters/notesMaster1.xml" Id="R370a4b1e2c8947d1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e24d13c772ae4c4d" /><Relationship Type="http://schemas.openxmlformats.org/officeDocument/2006/relationships/notesMaster" Target="/ppt/notesMasters/notesMaster1.xml" Id="R730ae22ef59d4fab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06d68318db924760" /><Relationship Type="http://schemas.openxmlformats.org/officeDocument/2006/relationships/notesMaster" Target="/ppt/notesMasters/notesMaster1.xml" Id="R529ed91958294b79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d4c84eb3f72245fb" /><Relationship Type="http://schemas.openxmlformats.org/officeDocument/2006/relationships/notesMaster" Target="/ppt/notesMasters/notesMaster1.xml" Id="R119842d6770a4a5d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430053414ed24de0" /><Relationship Type="http://schemas.openxmlformats.org/officeDocument/2006/relationships/notesMaster" Target="/ppt/notesMasters/notesMaster1.xml" Id="Ra22b75b2d69e4281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b455b08d596b45f0" /><Relationship Type="http://schemas.openxmlformats.org/officeDocument/2006/relationships/notesMaster" Target="/ppt/notesMasters/notesMaster1.xml" Id="Rac01e7f535954894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aa6ccf3ed8764b4e" /><Relationship Type="http://schemas.openxmlformats.org/officeDocument/2006/relationships/notesMaster" Target="/ppt/notesMasters/notesMaster1.xml" Id="R1e74c3db636d43ad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a3bcc96d0a7f4195" /><Relationship Type="http://schemas.openxmlformats.org/officeDocument/2006/relationships/notesMaster" Target="/ppt/notesMasters/notesMaster1.xml" Id="R8193424719ac4fde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ed68f16366d04312" /><Relationship Type="http://schemas.openxmlformats.org/officeDocument/2006/relationships/notesMaster" Target="/ppt/notesMasters/notesMaster1.xml" Id="R0506a010fad24d14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87c3cdbd17b44ab8" /><Relationship Type="http://schemas.openxmlformats.org/officeDocument/2006/relationships/notesMaster" Target="/ppt/notesMasters/notesMaster1.xml" Id="R8cf4968f58214186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1f7d3b16cbc94cfc" /><Relationship Type="http://schemas.openxmlformats.org/officeDocument/2006/relationships/notesMaster" Target="/ppt/notesMasters/notesMaster1.xml" Id="R49f4304174b84495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c32f7f6f00824bd0" /><Relationship Type="http://schemas.openxmlformats.org/officeDocument/2006/relationships/notesMaster" Target="/ppt/notesMasters/notesMaster1.xml" Id="R6fa26c66224244b1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fface3a2b8af460e" /><Relationship Type="http://schemas.openxmlformats.org/officeDocument/2006/relationships/notesMaster" Target="/ppt/notesMasters/notesMaster1.xml" Id="R2c86762081e84278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d9462a0014814c27" /><Relationship Type="http://schemas.openxmlformats.org/officeDocument/2006/relationships/notesMaster" Target="/ppt/notesMasters/notesMaster1.xml" Id="Rcf015c4164b04c2d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182c3ca1327a4f14" /><Relationship Type="http://schemas.openxmlformats.org/officeDocument/2006/relationships/notesMaster" Target="/ppt/notesMasters/notesMaster1.xml" Id="Racb3d67669f94b62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9128a9def7eb4238" /><Relationship Type="http://schemas.openxmlformats.org/officeDocument/2006/relationships/notesMaster" Target="/ppt/notesMasters/notesMaster1.xml" Id="R7d20359ef4f04841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1e124eb896264300" /><Relationship Type="http://schemas.openxmlformats.org/officeDocument/2006/relationships/notesMaster" Target="/ppt/notesMasters/notesMaster1.xml" Id="Rd475f3d43a664b7a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ca370de93803423c" /><Relationship Type="http://schemas.openxmlformats.org/officeDocument/2006/relationships/notesMaster" Target="/ppt/notesMasters/notesMaster1.xml" Id="Re6fac129dfe24dd7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144a918717194592" /><Relationship Type="http://schemas.openxmlformats.org/officeDocument/2006/relationships/notesMaster" Target="/ppt/notesMasters/notesMaster1.xml" Id="R3277ce3397a54ba5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edd546c0385842f0" /><Relationship Type="http://schemas.openxmlformats.org/officeDocument/2006/relationships/notesMaster" Target="/ppt/notesMasters/notesMaster1.xml" Id="Ref74d25d595b42a2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a3cbebbe99d14e2a" /><Relationship Type="http://schemas.openxmlformats.org/officeDocument/2006/relationships/notesMaster" Target="/ppt/notesMasters/notesMaster1.xml" Id="Rb7d9f0bd662c426e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c644837c9f5b4f14" /><Relationship Type="http://schemas.openxmlformats.org/officeDocument/2006/relationships/notesMaster" Target="/ppt/notesMasters/notesMaster1.xml" Id="Rc63d25a03fb5469c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429cd52a87bd4913" /><Relationship Type="http://schemas.openxmlformats.org/officeDocument/2006/relationships/notesMaster" Target="/ppt/notesMasters/notesMaster1.xml" Id="Ref0e6b4f2e3f4f5a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46dabbc022fc464a" /><Relationship Type="http://schemas.openxmlformats.org/officeDocument/2006/relationships/notesMaster" Target="/ppt/notesMasters/notesMaster1.xml" Id="R3410f2522d1543ec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0d8ffe1e92a84bf2" /><Relationship Type="http://schemas.openxmlformats.org/officeDocument/2006/relationships/notesMaster" Target="/ppt/notesMasters/notesMaster1.xml" Id="R7500026f5fca44bf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9bf9af01b6c64c79" /><Relationship Type="http://schemas.openxmlformats.org/officeDocument/2006/relationships/notesMaster" Target="/ppt/notesMasters/notesMaster1.xml" Id="Re2e51bb2594747fe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b5206308ff80488e" /><Relationship Type="http://schemas.openxmlformats.org/officeDocument/2006/relationships/notesMaster" Target="/ppt/notesMasters/notesMaster1.xml" Id="R6ba1057db3bf49c3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3018e481357c4102" /><Relationship Type="http://schemas.openxmlformats.org/officeDocument/2006/relationships/notesMaster" Target="/ppt/notesMasters/notesMaster1.xml" Id="Rf81fe21cf27b4743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e69be156dc244e23" /><Relationship Type="http://schemas.openxmlformats.org/officeDocument/2006/relationships/notesMaster" Target="/ppt/notesMasters/notesMaster1.xml" Id="R83812fcc2e8347bd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2746609bc8f84d77" /><Relationship Type="http://schemas.openxmlformats.org/officeDocument/2006/relationships/notesMaster" Target="/ppt/notesMasters/notesMaster1.xml" Id="R636b274c6d054d0b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1a7b06d2a1374aab" /><Relationship Type="http://schemas.openxmlformats.org/officeDocument/2006/relationships/notesMaster" Target="/ppt/notesMasters/notesMaster1.xml" Id="R87d7208f27aa4408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2a7aad3b11ac42d5" /><Relationship Type="http://schemas.openxmlformats.org/officeDocument/2006/relationships/notesMaster" Target="/ppt/notesMasters/notesMaster1.xml" Id="Rda60d0f2aed94324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acd30a2c50504d6c" /><Relationship Type="http://schemas.openxmlformats.org/officeDocument/2006/relationships/notesMaster" Target="/ppt/notesMasters/notesMaster1.xml" Id="Ra8fe6fcc9a3f4864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ada60fdd119e427c" /><Relationship Type="http://schemas.openxmlformats.org/officeDocument/2006/relationships/notesMaster" Target="/ppt/notesMasters/notesMaster1.xml" Id="R6c0d179fdcc24fe8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da363fb695be461a" /><Relationship Type="http://schemas.openxmlformats.org/officeDocument/2006/relationships/notesMaster" Target="/ppt/notesMasters/notesMaster1.xml" Id="R3bb8d49061ea429c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1deb36e4a0d44b53" /><Relationship Type="http://schemas.openxmlformats.org/officeDocument/2006/relationships/notesMaster" Target="/ppt/notesMasters/notesMaster1.xml" Id="R7bde2f28bf164b40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e9ddcc3e774c47cb" /><Relationship Type="http://schemas.openxmlformats.org/officeDocument/2006/relationships/notesMaster" Target="/ppt/notesMasters/notesMaster1.xml" Id="Raa56065f2e77450a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d3ffc49b419f4286" /><Relationship Type="http://schemas.openxmlformats.org/officeDocument/2006/relationships/notesMaster" Target="/ppt/notesMasters/notesMaster1.xml" Id="Reb4c4692f36a4d3c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e9ac979e9fcb4e13" /><Relationship Type="http://schemas.openxmlformats.org/officeDocument/2006/relationships/notesMaster" Target="/ppt/notesMasters/notesMaster1.xml" Id="R6f4141a8c3834e57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f002fd5f7b3f447c" /><Relationship Type="http://schemas.openxmlformats.org/officeDocument/2006/relationships/notesMaster" Target="/ppt/notesMasters/notesMaster1.xml" Id="Re0a8c679a8124337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d35aa8fc45eb4e0a" /><Relationship Type="http://schemas.openxmlformats.org/officeDocument/2006/relationships/notesMaster" Target="/ppt/notesMasters/notesMaster1.xml" Id="R5e35cc59e15a4ae8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20359186a6ae47af" /><Relationship Type="http://schemas.openxmlformats.org/officeDocument/2006/relationships/notesMaster" Target="/ppt/notesMasters/notesMaster1.xml" Id="Rd979835720034bbf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ff3f0f7ac7d34841" /><Relationship Type="http://schemas.openxmlformats.org/officeDocument/2006/relationships/notesMaster" Target="/ppt/notesMasters/notesMaster1.xml" Id="R86557ebe43474a73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70f6bc1bc4ff4364" /><Relationship Type="http://schemas.openxmlformats.org/officeDocument/2006/relationships/notesMaster" Target="/ppt/notesMasters/notesMaster1.xml" Id="Ra113e8754b0a4b1c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e2aff8adc9d543a7" /><Relationship Type="http://schemas.openxmlformats.org/officeDocument/2006/relationships/notesMaster" Target="/ppt/notesMasters/notesMaster1.xml" Id="Ree9226ea7487496a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f9a0fc12decc4fba" /><Relationship Type="http://schemas.openxmlformats.org/officeDocument/2006/relationships/notesMaster" Target="/ppt/notesMasters/notesMaster1.xml" Id="R2f0e5fd0d7634350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014f2f7b17d14864" /><Relationship Type="http://schemas.openxmlformats.org/officeDocument/2006/relationships/notesMaster" Target="/ppt/notesMasters/notesMaster1.xml" Id="Rd330a743692e4910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6ec59f9955dc4535" /><Relationship Type="http://schemas.openxmlformats.org/officeDocument/2006/relationships/notesMaster" Target="/ppt/notesMasters/notesMaster1.xml" Id="R9ce97f8bc78f4a9f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083c3904062648cc" /><Relationship Type="http://schemas.openxmlformats.org/officeDocument/2006/relationships/notesMaster" Target="/ppt/notesMasters/notesMaster1.xml" Id="R10616ab77a75431e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17390c41a492429c" /><Relationship Type="http://schemas.openxmlformats.org/officeDocument/2006/relationships/notesMaster" Target="/ppt/notesMasters/notesMaster1.xml" Id="Rf6f876247325430c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04f49b32fad1475b" /><Relationship Type="http://schemas.openxmlformats.org/officeDocument/2006/relationships/notesMaster" Target="/ppt/notesMasters/notesMaster1.xml" Id="R9f351f8992fe4a1b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7eb0ae0605ab46cd" /><Relationship Type="http://schemas.openxmlformats.org/officeDocument/2006/relationships/notesMaster" Target="/ppt/notesMasters/notesMaster1.xml" Id="R7ce2854885014f30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d7d1847356ee4e39" /><Relationship Type="http://schemas.openxmlformats.org/officeDocument/2006/relationships/notesMaster" Target="/ppt/notesMasters/notesMaster1.xml" Id="R4d145673182442b5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1720e3bcc1564473" /><Relationship Type="http://schemas.openxmlformats.org/officeDocument/2006/relationships/notesMaster" Target="/ppt/notesMasters/notesMaster1.xml" Id="R9958e9c208c845a5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301d889c68334e8d" /><Relationship Type="http://schemas.openxmlformats.org/officeDocument/2006/relationships/notesMaster" Target="/ppt/notesMasters/notesMaster1.xml" Id="R2f90fea0768042cd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329284c8f316459e" /><Relationship Type="http://schemas.openxmlformats.org/officeDocument/2006/relationships/notesMaster" Target="/ppt/notesMasters/notesMaster1.xml" Id="R66b66a9361264901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9836dde2c77945c6" /><Relationship Type="http://schemas.openxmlformats.org/officeDocument/2006/relationships/notesMaster" Target="/ppt/notesMasters/notesMaster1.xml" Id="Rc7397774df424126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c0ab012be83d4743" /><Relationship Type="http://schemas.openxmlformats.org/officeDocument/2006/relationships/notesMaster" Target="/ppt/notesMasters/notesMaster1.xml" Id="R961b9a7508c64734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6aefdc0cae3248f7" /><Relationship Type="http://schemas.openxmlformats.org/officeDocument/2006/relationships/notesMaster" Target="/ppt/notesMasters/notesMaster1.xml" Id="R175cb3ce8a5c44a3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b708b77e59484ea2" /><Relationship Type="http://schemas.openxmlformats.org/officeDocument/2006/relationships/notesMaster" Target="/ppt/notesMasters/notesMaster1.xml" Id="Re359f9adb7f04152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5d0632bac42e4e80" /><Relationship Type="http://schemas.openxmlformats.org/officeDocument/2006/relationships/notesMaster" Target="/ppt/notesMasters/notesMaster1.xml" Id="R319786600e3746f7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ada5135f02754002" /><Relationship Type="http://schemas.openxmlformats.org/officeDocument/2006/relationships/notesMaster" Target="/ppt/notesMasters/notesMaster1.xml" Id="R24c1b21e18174806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352d28402de84728" /><Relationship Type="http://schemas.openxmlformats.org/officeDocument/2006/relationships/notesMaster" Target="/ppt/notesMasters/notesMaster1.xml" Id="R28c5f8ddd3f7465a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abe2e63cdb634fa1" /><Relationship Type="http://schemas.openxmlformats.org/officeDocument/2006/relationships/notesMaster" Target="/ppt/notesMasters/notesMaster1.xml" Id="Rae11ec86002c4959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c42d810f2da74f48" /><Relationship Type="http://schemas.openxmlformats.org/officeDocument/2006/relationships/notesMaster" Target="/ppt/notesMasters/notesMaster1.xml" Id="R4d7cb11283914450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cdbd79b8f6b24c58" /><Relationship Type="http://schemas.openxmlformats.org/officeDocument/2006/relationships/notesMaster" Target="/ppt/notesMasters/notesMaster1.xml" Id="Rc3821805b2c8421e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47f728f182f3453d" /><Relationship Type="http://schemas.openxmlformats.org/officeDocument/2006/relationships/notesMaster" Target="/ppt/notesMasters/notesMaster1.xml" Id="Rc16357c5bbbc42c4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73f06f57f45a49c8" /><Relationship Type="http://schemas.openxmlformats.org/officeDocument/2006/relationships/notesMaster" Target="/ppt/notesMasters/notesMaster1.xml" Id="Racbefd9599cd425a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cf4178fc7b884172" /><Relationship Type="http://schemas.openxmlformats.org/officeDocument/2006/relationships/notesMaster" Target="/ppt/notesMasters/notesMaster1.xml" Id="R526cfda426194625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a0d87e8ce555424e" /><Relationship Type="http://schemas.openxmlformats.org/officeDocument/2006/relationships/notesMaster" Target="/ppt/notesMasters/notesMaster1.xml" Id="R39fc7959823c477d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bf2a131ea8a44c25" /><Relationship Type="http://schemas.openxmlformats.org/officeDocument/2006/relationships/notesMaster" Target="/ppt/notesMasters/notesMaster1.xml" Id="R10d1e5d53fed4447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16f86cd81f7347dc" /><Relationship Type="http://schemas.openxmlformats.org/officeDocument/2006/relationships/notesMaster" Target="/ppt/notesMasters/notesMaster1.xml" Id="R38d00777482444e6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09138589c1b54202" /><Relationship Type="http://schemas.openxmlformats.org/officeDocument/2006/relationships/notesMaster" Target="/ppt/notesMasters/notesMaster1.xml" Id="R37d28b604fa34ae4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ed1bacbe79ba4a72" /><Relationship Type="http://schemas.openxmlformats.org/officeDocument/2006/relationships/notesMaster" Target="/ppt/notesMasters/notesMaster1.xml" Id="Rd0a334a354f743c6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47b072daf6384411" /><Relationship Type="http://schemas.openxmlformats.org/officeDocument/2006/relationships/notesMaster" Target="/ppt/notesMasters/notesMaster1.xml" Id="R3e820fbc19984cdb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faf101c76ad345e8" /><Relationship Type="http://schemas.openxmlformats.org/officeDocument/2006/relationships/notesMaster" Target="/ppt/notesMasters/notesMaster1.xml" Id="R15146ef082714b1b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d1944be72429479e" /><Relationship Type="http://schemas.openxmlformats.org/officeDocument/2006/relationships/notesMaster" Target="/ppt/notesMasters/notesMaster1.xml" Id="R21e04b7d060444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1: 1-Day SOC Building and Operations Workshop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Define the operating decision this topic must support.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2: Why this workshop exists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Most SOC failures are operating-model failures before they are tool failures.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3: Audience map by role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CISO owns risk appetite, funding, executive escalation, and external posture.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4: Learning outcomes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Design a SOC blueprint with scope, telemetry, tools, and ownership.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5: Full-day agenda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Define the operating decision this topic must support.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6: How to use this deck during the workshop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Define the operating decision this topic must support.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7: How this repo maps to the workshop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Build content comes from SOC fundamentals, budget, architecture, and technology guides.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8: Workshop rules: practical outputs, not theory only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Define the operating decision this topic must support.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9: What a SOC is and is not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 SOC is an operating capability, not a room with dashboards.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10: Business outcomes of a SOC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Reduce detection and response time for priority threats.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11: SOC service boundaries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Define which assets, identities, services, cloud workloads, and data classes are in scope.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12: SOC maturity stages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Foundation: scope, minimum telemetry, triage routine, and severity model.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13: In-house vs MSSP vs hybrid model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In-house maximizes control but requires staffing, management, and content maturity.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14: When each operating model fails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In-house fails when coverage expands faster than staffing and process quality.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15: Minimum viable SOC vs mature SOC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Minimum viable means critical logs, critical detections, triage, severity, and escalation.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16: Core SOC services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Monitoring and triage: alert intake, enrichment, severity, and routing.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17: People, process, technology operating triangle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People decide and execute; process makes decisions repeatable; technology provides evidence.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18: Common early-stage mistakes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Tool-first implementation without mission, scope, or log-source priorities.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19: Common scale-stage mistakes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Alert volume grows but tuning, coverage management, and handoff quality do not.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20: SOC maturity comparison matrix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21: operating model comparison table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22: Workshop: define SOC scope and target state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23: What a practical SOC blueprint looks like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It shows systems, telemetry, tools, ownership, workflows, and escalation boundaries.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24: High-level SOC architecture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Telemetry sources feed collection, normalization, analytics, enrichment, case management, and response.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25: Telemetry pipeline overview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Collect only what has an investigation, compliance, or detection use case.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26: Endpoint telemetry layer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Prioritize process execution, parent-child process chains, file writes, persistence, and isolation state.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27: Identity and authentication telemetry layer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Collect successful and failed login, MFA events, privilege changes, token activity, and risky sign-ins.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28: Network telemetry layer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Network visibility supports C2, DNS tunneling, exfiltration, scanning, and lateral movement.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29: Email and collaboration telemetry layer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Email is the front door for phishing, BEC, malware delivery, and social engineering.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30: Cloud and SaaS telemetry layer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Cloud incidents often start as identity, API, storage exposure, or configuration events.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31: Application and database telemetry layer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Application logs prove user action, transaction context, data access, and abuse patterns.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32: Alerting and enrichment flow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Alert quality improves when enrichment adds asset criticality, identity role, vulnerability, and threat intel.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33: Case management and response flow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The case record is the operational source of truth for decisions and evidence.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34: Log-source prioritization model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Start with identity, endpoint, firewall, email, cloud control plane, DNS, and proxy.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35: Trust boundaries and data sensitivity zones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Mark where personal data, regulated records, privileged admin paths, and third-party access live.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36: architecture pattern comparison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37: telemetry coverage and blind spots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38: Worksheet: draft target-state architecture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39: SOC organization structure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Separate monitoring, engineering, IR, management, and executive decision ownership.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40: Role map: CISO to analyst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CISO sets risk appetite, escalation expectations, funding, and executive commitments.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41: Tier 1 responsibilities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Monitor queues, validate alert context, classify obvious false positives, and escalate confirmed risk.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42: Tier 2 responsibilities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Perform deeper investigation across identity, endpoint, network, cloud, and application evidence.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43: Tier 3 / IR responsibilities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Lead complex incidents, containment strategy, eradication, recovery validation, and PIR.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44: Security engineering responsibilities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Own telemetry onboarding, parser quality, detection deployment, tuning, and automation guardrails.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45: SOC Manager responsibilities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Own workflow quality, staffing, escalation discipline, metrics, and service expectations.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46: CISO responsibilities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Own risk decisions, external posture, board visibility, and investment priorities.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47: Skill matrix across roles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Analysts need triage, log reading, evidence notes, and escalation judgment.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48: Staffing model basics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Calculate coverage by seat-hours, not by job titles.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49: 8x5 vs extended-hours vs 24x7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8x5 works when after-hours risk is accepted or covered externally.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50: Shift design patterns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Design shifts around alert volume, business hours, service criticality, and fatigue management.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51: Shift handoff model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Handoff should transfer active incidents, pending decisions, fragile services, and open evidence requests.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52: staffing benchmark examples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53: role-to-responsibility matrix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54: Workshop: design staffing and shift coverage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55: Core SOC tool categories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SIEM centralizes searchable evidence and detection correlation.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56: SIEM: job and selection criteria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The SIEM's job is searchable evidence, correlation, dashboards, and investigation continuity.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57: EDR/XDR: job and selection criteria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Endpoint tooling must support process context, isolation, collection, and response audit trail.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58: SOAR/automation: when it helps and when it hurts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Automation helps repeat enrichment, routing, evidence collection, and low-risk containment.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59: Threat intelligence platform and feeds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Threat intelligence should answer prioritized questions, not flood the SOC with indicators.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60: Case management and knowledge base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The case system preserves timeline, evidence, ownership, approvals, and closure rationale.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61: DLP, IAM, vulnerability, and supporting control data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Supporting control data turns alerts into risk context.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62: Tool integration sequence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Connect identity, endpoint, network, email, and cloud before advanced automation.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63: Build-vs-buy and complexity tradeoffs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Build when team skill, ownership, and maintenance capacity are real.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64: Budget categories: people, platform, content, operations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People costs usually dominate a sustainable SOC budget.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65: Phased budget model by maturity stage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Foundation funds minimum people, critical telemetry, SIEM/EDR, and core SOPs.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66: tool evaluation scorecard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67: budget allocation example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68: Worksheet: prioritize tools and budget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69: SOC operating model in production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Production SOC work is queue discipline, investigation quality, escalation, reporting, and improvement.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70: Service catalog and what the SOC owns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The service catalog defines what the SOC monitors, responds to, reports, and improves.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71: Alert intake to triage flow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Every alert needs source, confidence, affected asset, identity, severity, and routing.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72: Escalation path and authority boundaries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Escalation is about decision rights, not just notification.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73: Shift handoff operational pattern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Handoff transfers active work, fragile services, unresolved decisions, and monitoring priorities.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74: KPI model: MTTD, MTTR, quality, backlog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Time metrics matter, but quality metrics show whether the work is trusted.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75: Detection backlog management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Backlog items need threat rationale, telemetry dependency, owner, priority, and validation plan.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76: Telemetry onboarding lifecycle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Onboarding is request, owner approval, parsing, validation, use case mapping, and health monitoring.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77: Alert tuning lifecycle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Tuning starts from observed false positives and missed true positives.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78: Governance cadence: daily, weekly, monthly, quarterly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Daily manages active operations and incidents.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79: Control ownership and accountability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Every control needs business owner, technical owner, evidence owner, and escalation owner.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80: governance operating calendar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81: service ownership / RACI example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82: Workshop: map your operating workflow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83: Detection engineering mission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Detection engineering converts risk hypotheses into tested, maintainable monitoring content.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84: Use case lifecycle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Start with threat or business risk, then define data, logic, test, owner, and response.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85: Mapping to ATT&amp;CK and business risk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ATT&amp;CK gives technique language; business risk gives prioritization.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86: Telemetry dependency model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 detection is only as strong as the source, parser, retention, and context behind it.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87: Sigma and YARA in the operating model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Sigma expresses log detections in a portable way; YARA expresses file or malware signatures.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88: Detection content quality attributes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Good content is specific, explainable, testable, maintainable, and mapped to response.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89: False positive reduction loop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Classify why the alert fired and why it was not actionable.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90: Coverage matrix concept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Coverage is a matrix of risk, technique, telemetry, detection, playbook, and owner.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91: Prioritizing detections by threat and asset value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Start with high-impact assets, likely attack paths, and recent incident lessons.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92: Detection testing and validation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Test with controlled simulations, historical data, and expected false-positive examples.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93: Promotion workflow: idea to production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Idea, design, data validation, test, peer review, staged release, monitoring, and review.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94: sample use case hierarchy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95: sample coverage matrix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96: Worksheet: identify coverage gaps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97: IR lifecycle overview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preparation, detection, analysis, containment, eradication, recovery, and lessons learned.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98: Severity model and classification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Severity should reflect business impact, data impact, spread, privilege, and service disruption.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99: Decision authority in incidents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High-impact actions require named approvers before the incident occurs.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100: Analyst-to-IR escalation model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Escalate when scope expands, containment is needed, evidence may be legal, or severity exceeds queue handling.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101: Runbooks vs playbooks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Runbooks guide routine analyst actions by tier and workflow.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102: Playbook operating pattern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Trigger, triage, analysis, containment, eradication, recovery, communication, and closure.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103: Containment decision logic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Containment balances risk reduction against business disruption and evidence preservation.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104: Eradication and recovery logic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Eradication removes attacker access, persistence, malicious artifacts, and exploited weakness.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105: Evidence handling and preservation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Preserve logs, artifacts, screenshots, hashes, requests, and decision records early.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106: Chain of custody basics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Record who collected, transferred, stored, accessed, and released each evidence item.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107: Decision logging during incidents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Log what was known, what was assumed, who approved, and what happens next.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108: Crisis command / war room model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Activate when severity, service impact, external pressure, or uncertainty exceeds normal workflow.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109: Closure, PIR, and lessons learned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Closure needs technical recovery, monitoring exit, communications completion, and outstanding risk decisions.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110: severity matrix view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111: evidence and decision chain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112: Workshop block 3 debrief: alert-to-incident operating exercise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113: Why Thai compliance belongs in SOC operations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SOC produces the facts needed for Legal, DPO, CISO, and executives to decide.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114: PDPA operating checkpoint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Open when personal data or sensitive personal data may be exposed, altered, destroyed, or accessed.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115: Computer-Related Crime Act operating checkpoint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Open when unauthorized access, data alteration, malicious tooling, disruption, or traffic-data requests are involved.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116: Cybersecurity Act operating checkpoint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Open when a cyber threat may affect critical service, public-facing service, or public safety.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117: Electronic Transactions Act and evidentiary integrity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Electronic records may need integrity, authenticity, time source, and system-of-record proof.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118: NCSA / ThaiCERT coordination path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when national or sectoral coordination, advisory response, IOC sharing, or major incident support is needed.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119: Thai legal trigger-to-action model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Trigger identifies whether privacy, computer crime, cybersecurity, electronic evidence, or coordination path opens.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120: Notification decision and evidence package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Decision states notify, defer, or not required, with approver and next review time.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121: Thai legal escalation template in use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122: Workshop: legal-impact and escalation decisions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123: Incident report structure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Report what happened, when detected, systems affected, evidence, impact, actions, and status.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124: Incident decision log structure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Capture decision, options considered, evidence reviewed, approver, time, and next review.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125: Monthly SOC report structure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Report incidents, alert quality, backlog, telemetry health, detection changes, and remediation movement.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126: Executive dashboard view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Executives need risk posture, trend, major incidents, open decisions, and resource needs.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127: Board-level decision pack view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Board material should show material risk, control gaps, accepted risk, funded actions, and progress.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128: Communicating facts vs assumptions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Facts are observed and evidenced; assumptions are current interpretations that may change.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129: reporting template map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130: Worksheet: executive escalation brief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131: SOC onboarding path</a:t>
            </a:r>
          </a:p>
          <a:p xmlns:a="http://schemas.openxmlformats.org/drawingml/2006/main">
            <a:r>
              <a:t>Module: Training, Simulation, and Continuous Improvement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Onboarding should move from access and process awareness to shadowing, guided work, and independent handling.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132: Analyst development and cross-skilling</a:t>
            </a:r>
          </a:p>
          <a:p xmlns:a="http://schemas.openxmlformats.org/drawingml/2006/main">
            <a:r>
              <a:t>Module: Training, Simulation, and Continuous Improvement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Develop analysts from queue handling toward investigation, detection logic, and incident coordination.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133: Simulation and purple-team cadence</a:t>
            </a:r>
          </a:p>
          <a:p xmlns:a="http://schemas.openxmlformats.org/drawingml/2006/main">
            <a:r>
              <a:t>Module: Training, Simulation, and Continuous Improvement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Simulations test people, process, telemetry, detections, playbooks, and reporting.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134: Certification path and capability-building logic</a:t>
            </a:r>
          </a:p>
          <a:p xmlns:a="http://schemas.openxmlformats.org/drawingml/2006/main">
            <a:r>
              <a:t>Module: Training, Simulation, and Continuous Improvement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Certifications support a skill path but do not replace hands-on operating practice.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135: Lessons learned into operational improvement</a:t>
            </a:r>
          </a:p>
          <a:p xmlns:a="http://schemas.openxmlformats.org/drawingml/2006/main">
            <a:r>
              <a:t>Module: Training, Simulation, and Continuous Improvement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Lessons learned should create owned actions with due dates and governance follow-up.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136: training and maturity alignment</a:t>
            </a:r>
          </a:p>
          <a:p xmlns:a="http://schemas.openxmlformats.org/drawingml/2006/main">
            <a:r>
              <a:t>Module: Training, Simulation, and Continuous Improvement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137: Capstone scenario setup</a:t>
            </a:r>
          </a:p>
          <a:p xmlns:a="http://schemas.openxmlformats.org/drawingml/2006/main">
            <a:r>
              <a:t>Module: Capstone Scenario and Close</a:t>
            </a:r>
          </a:p>
          <a:p xmlns:a="http://schemas.openxmlformats.org/drawingml/2006/main">
            <a:r>
              <a:t>โหมดการสอน: DEBRIEF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Scenario: credential stuffing on a public customer portal followed by successful logins and invoice downloads.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138: Team task: architecture, staffing, detection, IR, legal, reporting decisions</a:t>
            </a:r>
          </a:p>
          <a:p xmlns:a="http://schemas.openxmlformats.org/drawingml/2006/main">
            <a:r>
              <a:t>Module: Capstone Scenario and Close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Identify missing telemetry, current owners, shift path, and required containment decision.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139: Team task: evidence and escalation decisions</a:t>
            </a:r>
          </a:p>
          <a:p xmlns:a="http://schemas.openxmlformats.org/drawingml/2006/main">
            <a:r>
              <a:t>Module: Capstone Scenario and Close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List the first evidence package: timeline, accounts, IPs, user actions, data accessed, logs, and custody.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140: Debrief framework by role</a:t>
            </a:r>
          </a:p>
          <a:p xmlns:a="http://schemas.openxmlformats.org/drawingml/2006/main">
            <a:r>
              <a:t>Module: Capstone Scenario and Close</a:t>
            </a:r>
          </a:p>
          <a:p xmlns:a="http://schemas.openxmlformats.org/drawingml/2006/main">
            <a:r>
              <a:t>โหมดการสอน: DEBRIEF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CISO: risk decision, executive message, and external posture.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141: 30/60/90-day action plan output</a:t>
            </a:r>
          </a:p>
          <a:p xmlns:a="http://schemas.openxmlformats.org/drawingml/2006/main">
            <a:r>
              <a:t>Module: Capstone Scenario and Close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30 days: fix critical visibility, severity, handoff, and top playbooks.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142: Final takeaways and repo re-entry map</a:t>
            </a:r>
          </a:p>
          <a:p xmlns:a="http://schemas.openxmlformats.org/drawingml/2006/main">
            <a:r>
              <a:t>Module: Capstone Scenario and Close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the repo as the operating manual, not as a document archive.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9277c6cabb454b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87a5b88f6c94e5c" /><Relationship Type="http://schemas.openxmlformats.org/officeDocument/2006/relationships/slideLayout" Target="/ppt/slideLayouts/slideLayout2.xml" Id="Ra8161f50314341f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161f50314341f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5befc622684086" /><Relationship Type="http://schemas.openxmlformats.org/officeDocument/2006/relationships/image" Target="/ppt/media/image.jpeg" Id="R2c4932ce759f469a" /><Relationship Type="http://schemas.openxmlformats.org/officeDocument/2006/relationships/notesSlide" Target="/ppt/notesSlides/notesSlide1.xml" Id="R7ba4119775c449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8763e15c9d4455" /><Relationship Type="http://schemas.openxmlformats.org/officeDocument/2006/relationships/notesSlide" Target="/ppt/notesSlides/notesSlide2.xml" Id="R667a9cb9e0d94b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a9d0aefd404687" /><Relationship Type="http://schemas.openxmlformats.org/officeDocument/2006/relationships/notesSlide" Target="/ppt/notesSlides/notesSlide3.xml" Id="R7807c1c7c55849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36141820a34704" /><Relationship Type="http://schemas.openxmlformats.org/officeDocument/2006/relationships/notesSlide" Target="/ppt/notesSlides/notesSlide4.xml" Id="Ra71dd5553a4946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58db1755d1408e" /><Relationship Type="http://schemas.openxmlformats.org/officeDocument/2006/relationships/notesSlide" Target="/ppt/notesSlides/notesSlide5.xml" Id="Rad522161e60a4a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9df6222f754783" /><Relationship Type="http://schemas.openxmlformats.org/officeDocument/2006/relationships/notesSlide" Target="/ppt/notesSlides/notesSlide6.xml" Id="Rbd140b6a0524453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592e3fb3b644c2" /><Relationship Type="http://schemas.openxmlformats.org/officeDocument/2006/relationships/image" Target="/ppt/media/image2.jpeg" Id="R29b019daf735419c" /><Relationship Type="http://schemas.openxmlformats.org/officeDocument/2006/relationships/notesSlide" Target="/ppt/notesSlides/notesSlide7.xml" Id="R1bcd6b1c637c40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4865b177c14a94" /><Relationship Type="http://schemas.openxmlformats.org/officeDocument/2006/relationships/notesSlide" Target="/ppt/notesSlides/notesSlide8.xml" Id="R8b08dd256d3c415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81b02a7a1f440b" /><Relationship Type="http://schemas.openxmlformats.org/officeDocument/2006/relationships/notesSlide" Target="/ppt/notesSlides/notesSlide9.xml" Id="R35234734c83640f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a86f4a58ed4fad" /><Relationship Type="http://schemas.openxmlformats.org/officeDocument/2006/relationships/notesSlide" Target="/ppt/notesSlides/notesSlide10.xml" Id="Rfbc82722d094491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da5351cea24939" /><Relationship Type="http://schemas.openxmlformats.org/officeDocument/2006/relationships/notesSlide" Target="/ppt/notesSlides/notesSlide11.xml" Id="Rd6eb43463fe1486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5f86506a6b41bc" /><Relationship Type="http://schemas.openxmlformats.org/officeDocument/2006/relationships/notesSlide" Target="/ppt/notesSlides/notesSlide12.xml" Id="R6932e85220ea44a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6276a17d7e4a33" /><Relationship Type="http://schemas.openxmlformats.org/officeDocument/2006/relationships/notesSlide" Target="/ppt/notesSlides/notesSlide13.xml" Id="R44b8456adc884d2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4fea2a55254a02" /><Relationship Type="http://schemas.openxmlformats.org/officeDocument/2006/relationships/notesSlide" Target="/ppt/notesSlides/notesSlide14.xml" Id="Ra93e7f93c107440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c36f0f9c1e4d41" /><Relationship Type="http://schemas.openxmlformats.org/officeDocument/2006/relationships/notesSlide" Target="/ppt/notesSlides/notesSlide15.xml" Id="R887d13034ad44aa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6d0fbed4f44729" /><Relationship Type="http://schemas.openxmlformats.org/officeDocument/2006/relationships/notesSlide" Target="/ppt/notesSlides/notesSlide16.xml" Id="R6fd39b89743c483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658fd4d1c44e9d" /><Relationship Type="http://schemas.openxmlformats.org/officeDocument/2006/relationships/notesSlide" Target="/ppt/notesSlides/notesSlide17.xml" Id="R42a0546162de454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dad78dd41e4f24" /><Relationship Type="http://schemas.openxmlformats.org/officeDocument/2006/relationships/notesSlide" Target="/ppt/notesSlides/notesSlide18.xml" Id="R8eb5a5cbab2a423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aeb3bc3b6747a8" /><Relationship Type="http://schemas.openxmlformats.org/officeDocument/2006/relationships/notesSlide" Target="/ppt/notesSlides/notesSlide19.xml" Id="R16335a1aebe74ba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86dfe87bf34177" /><Relationship Type="http://schemas.openxmlformats.org/officeDocument/2006/relationships/notesSlide" Target="/ppt/notesSlides/notesSlide20.xml" Id="R91f98c2027e34e0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77fab70b1945f0" /><Relationship Type="http://schemas.openxmlformats.org/officeDocument/2006/relationships/notesSlide" Target="/ppt/notesSlides/notesSlide21.xml" Id="R073105b230044f5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d6fec183df4374" /><Relationship Type="http://schemas.openxmlformats.org/officeDocument/2006/relationships/notesSlide" Target="/ppt/notesSlides/notesSlide22.xml" Id="R5b02f596ce7448f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4a2a74fd71472d" /><Relationship Type="http://schemas.openxmlformats.org/officeDocument/2006/relationships/notesSlide" Target="/ppt/notesSlides/notesSlide23.xml" Id="R90288e84b2bf4d0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739144bad34057" /><Relationship Type="http://schemas.openxmlformats.org/officeDocument/2006/relationships/notesSlide" Target="/ppt/notesSlides/notesSlide24.xml" Id="R2f32c6a1d41f4cd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cb7df86932419f" /><Relationship Type="http://schemas.openxmlformats.org/officeDocument/2006/relationships/notesSlide" Target="/ppt/notesSlides/notesSlide25.xml" Id="Re2c823ae00a945d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bf8a740aef423d" /><Relationship Type="http://schemas.openxmlformats.org/officeDocument/2006/relationships/notesSlide" Target="/ppt/notesSlides/notesSlide26.xml" Id="R60a09668bf054e1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8e75ce0adc43ab" /><Relationship Type="http://schemas.openxmlformats.org/officeDocument/2006/relationships/notesSlide" Target="/ppt/notesSlides/notesSlide27.xml" Id="R57bcb69db233439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350aed17e64a6e" /><Relationship Type="http://schemas.openxmlformats.org/officeDocument/2006/relationships/notesSlide" Target="/ppt/notesSlides/notesSlide28.xml" Id="Rfee37bf98dda4ee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2e48e698cb40ca" /><Relationship Type="http://schemas.openxmlformats.org/officeDocument/2006/relationships/notesSlide" Target="/ppt/notesSlides/notesSlide29.xml" Id="R7bedd2a794874bd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9c235fe84441a1" /><Relationship Type="http://schemas.openxmlformats.org/officeDocument/2006/relationships/notesSlide" Target="/ppt/notesSlides/notesSlide30.xml" Id="R010cdfa0e8b0418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e2ea3e169b4060" /><Relationship Type="http://schemas.openxmlformats.org/officeDocument/2006/relationships/notesSlide" Target="/ppt/notesSlides/notesSlide31.xml" Id="Ra8596f6f375a44d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162354c98941a8" /><Relationship Type="http://schemas.openxmlformats.org/officeDocument/2006/relationships/notesSlide" Target="/ppt/notesSlides/notesSlide32.xml" Id="R37ab83e4676a420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f48855d2514fbc" /><Relationship Type="http://schemas.openxmlformats.org/officeDocument/2006/relationships/notesSlide" Target="/ppt/notesSlides/notesSlide33.xml" Id="R6f5c9e1fe40e4756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9729b427b04515" /><Relationship Type="http://schemas.openxmlformats.org/officeDocument/2006/relationships/notesSlide" Target="/ppt/notesSlides/notesSlide34.xml" Id="R5974239d102d42e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b3faf3077f457e" /><Relationship Type="http://schemas.openxmlformats.org/officeDocument/2006/relationships/notesSlide" Target="/ppt/notesSlides/notesSlide35.xml" Id="Rfde4783a5e6d418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4f2ff704d84473" /><Relationship Type="http://schemas.openxmlformats.org/officeDocument/2006/relationships/notesSlide" Target="/ppt/notesSlides/notesSlide36.xml" Id="R441d2d89ebf64c5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a63be91efb4a3f" /><Relationship Type="http://schemas.openxmlformats.org/officeDocument/2006/relationships/notesSlide" Target="/ppt/notesSlides/notesSlide37.xml" Id="R84492c954062461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ed63771a9a4081" /><Relationship Type="http://schemas.openxmlformats.org/officeDocument/2006/relationships/notesSlide" Target="/ppt/notesSlides/notesSlide38.xml" Id="Rd7f573618c00473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2a257da9c441ed" /><Relationship Type="http://schemas.openxmlformats.org/officeDocument/2006/relationships/notesSlide" Target="/ppt/notesSlides/notesSlide39.xml" Id="R3f9d55b42b31413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17d005df9c47b9" /><Relationship Type="http://schemas.openxmlformats.org/officeDocument/2006/relationships/notesSlide" Target="/ppt/notesSlides/notesSlide40.xml" Id="R6d1035afa4eb46e4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fad94e036d4595" /><Relationship Type="http://schemas.openxmlformats.org/officeDocument/2006/relationships/notesSlide" Target="/ppt/notesSlides/notesSlide41.xml" Id="Rc888732a591e469f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fcdf6053694bfb" /><Relationship Type="http://schemas.openxmlformats.org/officeDocument/2006/relationships/notesSlide" Target="/ppt/notesSlides/notesSlide42.xml" Id="Rd5d3373242c44a2f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c4908a9dc94b33" /><Relationship Type="http://schemas.openxmlformats.org/officeDocument/2006/relationships/notesSlide" Target="/ppt/notesSlides/notesSlide43.xml" Id="R76b70c685a6a46b6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0c3538fa60419d" /><Relationship Type="http://schemas.openxmlformats.org/officeDocument/2006/relationships/notesSlide" Target="/ppt/notesSlides/notesSlide44.xml" Id="R4ff952d7a5fd4d1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4a1e5ebf9b4319" /><Relationship Type="http://schemas.openxmlformats.org/officeDocument/2006/relationships/notesSlide" Target="/ppt/notesSlides/notesSlide45.xml" Id="R2b90cf7d975a404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30d70b007e4d06" /><Relationship Type="http://schemas.openxmlformats.org/officeDocument/2006/relationships/notesSlide" Target="/ppt/notesSlides/notesSlide46.xml" Id="R8b2c88464572472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7ba4bcdbc2456b" /><Relationship Type="http://schemas.openxmlformats.org/officeDocument/2006/relationships/notesSlide" Target="/ppt/notesSlides/notesSlide47.xml" Id="Rd4bdb2f5babf4b93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802b37de3248a1" /><Relationship Type="http://schemas.openxmlformats.org/officeDocument/2006/relationships/notesSlide" Target="/ppt/notesSlides/notesSlide48.xml" Id="Rdd0332ef65d9455f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7f06f46a8b4bc4" /><Relationship Type="http://schemas.openxmlformats.org/officeDocument/2006/relationships/notesSlide" Target="/ppt/notesSlides/notesSlide49.xml" Id="R23e2b83f8cb24cfc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b6c7bb3a3d4cfc" /><Relationship Type="http://schemas.openxmlformats.org/officeDocument/2006/relationships/notesSlide" Target="/ppt/notesSlides/notesSlide50.xml" Id="Re09464fcf9584f69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88ed7a1d3e4701" /><Relationship Type="http://schemas.openxmlformats.org/officeDocument/2006/relationships/notesSlide" Target="/ppt/notesSlides/notesSlide51.xml" Id="R88dfeff4e1264022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bcd38fddb349e1" /><Relationship Type="http://schemas.openxmlformats.org/officeDocument/2006/relationships/notesSlide" Target="/ppt/notesSlides/notesSlide52.xml" Id="Rc382dc0875eb42c7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e47ed4eb334965" /><Relationship Type="http://schemas.openxmlformats.org/officeDocument/2006/relationships/notesSlide" Target="/ppt/notesSlides/notesSlide53.xml" Id="R032c4a4203f5480f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431b76af2c460f" /><Relationship Type="http://schemas.openxmlformats.org/officeDocument/2006/relationships/notesSlide" Target="/ppt/notesSlides/notesSlide54.xml" Id="Rcb376e14426544ae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0010a19ecb4aa2" /><Relationship Type="http://schemas.openxmlformats.org/officeDocument/2006/relationships/notesSlide" Target="/ppt/notesSlides/notesSlide55.xml" Id="Rc775e3bd313f4c42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3f9d69e164458d" /><Relationship Type="http://schemas.openxmlformats.org/officeDocument/2006/relationships/notesSlide" Target="/ppt/notesSlides/notesSlide56.xml" Id="Rc7f98932f9324cbb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43c86786624ca5" /><Relationship Type="http://schemas.openxmlformats.org/officeDocument/2006/relationships/notesSlide" Target="/ppt/notesSlides/notesSlide57.xml" Id="Rbd556a8dc9ae40e3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621d6b88c54ea4" /><Relationship Type="http://schemas.openxmlformats.org/officeDocument/2006/relationships/notesSlide" Target="/ppt/notesSlides/notesSlide58.xml" Id="Rc0bf858201f84f8c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2b142009164364" /><Relationship Type="http://schemas.openxmlformats.org/officeDocument/2006/relationships/notesSlide" Target="/ppt/notesSlides/notesSlide59.xml" Id="R474388b965d440d8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e2b2912bc647f0" /><Relationship Type="http://schemas.openxmlformats.org/officeDocument/2006/relationships/notesSlide" Target="/ppt/notesSlides/notesSlide60.xml" Id="Ra211baf949084d52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d49b2b9e6440a3" /><Relationship Type="http://schemas.openxmlformats.org/officeDocument/2006/relationships/notesSlide" Target="/ppt/notesSlides/notesSlide61.xml" Id="Rb408e3fa5bf74fdd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8fbe72a89a40b4" /><Relationship Type="http://schemas.openxmlformats.org/officeDocument/2006/relationships/notesSlide" Target="/ppt/notesSlides/notesSlide62.xml" Id="Rc8564fa9901443da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8872deebbd4475" /><Relationship Type="http://schemas.openxmlformats.org/officeDocument/2006/relationships/notesSlide" Target="/ppt/notesSlides/notesSlide63.xml" Id="R2feda0bd5eb149f4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35e564f5304488" /><Relationship Type="http://schemas.openxmlformats.org/officeDocument/2006/relationships/notesSlide" Target="/ppt/notesSlides/notesSlide64.xml" Id="Rce072d6fea374fb9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2bd7ccb3734c84" /><Relationship Type="http://schemas.openxmlformats.org/officeDocument/2006/relationships/notesSlide" Target="/ppt/notesSlides/notesSlide65.xml" Id="R3184bca9c01242fa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9f50ee71824968" /><Relationship Type="http://schemas.openxmlformats.org/officeDocument/2006/relationships/notesSlide" Target="/ppt/notesSlides/notesSlide66.xml" Id="Rfb34f97afdfb4be4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0438105265475a" /><Relationship Type="http://schemas.openxmlformats.org/officeDocument/2006/relationships/notesSlide" Target="/ppt/notesSlides/notesSlide67.xml" Id="Rcdec0569f4a1487b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412319670e4cdc" /><Relationship Type="http://schemas.openxmlformats.org/officeDocument/2006/relationships/notesSlide" Target="/ppt/notesSlides/notesSlide68.xml" Id="Rf035cd5524d3423e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8e8b5f1c4b4f06" /><Relationship Type="http://schemas.openxmlformats.org/officeDocument/2006/relationships/notesSlide" Target="/ppt/notesSlides/notesSlide69.xml" Id="R7bd5462517bd410f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bb333f7aba4c57" /><Relationship Type="http://schemas.openxmlformats.org/officeDocument/2006/relationships/notesSlide" Target="/ppt/notesSlides/notesSlide70.xml" Id="Rf88b8bc2cce74568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084a3fcb2b421b" /><Relationship Type="http://schemas.openxmlformats.org/officeDocument/2006/relationships/notesSlide" Target="/ppt/notesSlides/notesSlide71.xml" Id="R0a02d1f59893420f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192bcf95d64bc9" /><Relationship Type="http://schemas.openxmlformats.org/officeDocument/2006/relationships/notesSlide" Target="/ppt/notesSlides/notesSlide72.xml" Id="R50e075b9f2f44e01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2bd414398741a1" /><Relationship Type="http://schemas.openxmlformats.org/officeDocument/2006/relationships/notesSlide" Target="/ppt/notesSlides/notesSlide73.xml" Id="R92f84452500c4b51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0569bdae744289" /><Relationship Type="http://schemas.openxmlformats.org/officeDocument/2006/relationships/notesSlide" Target="/ppt/notesSlides/notesSlide74.xml" Id="Rbaa2418311cb4018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6a840a46444a2b" /><Relationship Type="http://schemas.openxmlformats.org/officeDocument/2006/relationships/notesSlide" Target="/ppt/notesSlides/notesSlide75.xml" Id="Rf4f92e09fb014f5f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1f2876de9045cd" /><Relationship Type="http://schemas.openxmlformats.org/officeDocument/2006/relationships/notesSlide" Target="/ppt/notesSlides/notesSlide76.xml" Id="R950a486192a44085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991258d7d547e6" /><Relationship Type="http://schemas.openxmlformats.org/officeDocument/2006/relationships/notesSlide" Target="/ppt/notesSlides/notesSlide77.xml" Id="Rdec54bb27c5843d8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fe6e5db1c54b37" /><Relationship Type="http://schemas.openxmlformats.org/officeDocument/2006/relationships/notesSlide" Target="/ppt/notesSlides/notesSlide78.xml" Id="Rb868b5b059b04329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b8c486878048dc" /><Relationship Type="http://schemas.openxmlformats.org/officeDocument/2006/relationships/notesSlide" Target="/ppt/notesSlides/notesSlide79.xml" Id="Rd9996db9431144aa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5d639c07b8464f" /><Relationship Type="http://schemas.openxmlformats.org/officeDocument/2006/relationships/notesSlide" Target="/ppt/notesSlides/notesSlide80.xml" Id="Rf6865ea526fe4219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d6ed42b73f4e21" /><Relationship Type="http://schemas.openxmlformats.org/officeDocument/2006/relationships/notesSlide" Target="/ppt/notesSlides/notesSlide81.xml" Id="Rd16d86ed069d42bd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7be9145f794de2" /><Relationship Type="http://schemas.openxmlformats.org/officeDocument/2006/relationships/notesSlide" Target="/ppt/notesSlides/notesSlide82.xml" Id="R3409a6e24c0c4414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f1e6e051324df9" /><Relationship Type="http://schemas.openxmlformats.org/officeDocument/2006/relationships/notesSlide" Target="/ppt/notesSlides/notesSlide83.xml" Id="Rfc9c5c4d736140fb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3edc17270a4591" /><Relationship Type="http://schemas.openxmlformats.org/officeDocument/2006/relationships/notesSlide" Target="/ppt/notesSlides/notesSlide84.xml" Id="R09f249319b2547ec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160e40fce04219" /><Relationship Type="http://schemas.openxmlformats.org/officeDocument/2006/relationships/notesSlide" Target="/ppt/notesSlides/notesSlide85.xml" Id="Rf121c51bafc04508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98a17b2486452c" /><Relationship Type="http://schemas.openxmlformats.org/officeDocument/2006/relationships/notesSlide" Target="/ppt/notesSlides/notesSlide86.xml" Id="R994146dabed64f83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2bf640fdb54ee0" /><Relationship Type="http://schemas.openxmlformats.org/officeDocument/2006/relationships/notesSlide" Target="/ppt/notesSlides/notesSlide87.xml" Id="Rb6a75aee351a4f09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1522643cc1459b" /><Relationship Type="http://schemas.openxmlformats.org/officeDocument/2006/relationships/notesSlide" Target="/ppt/notesSlides/notesSlide88.xml" Id="Rc188d13262574df1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6c3df808ff4ba5" /><Relationship Type="http://schemas.openxmlformats.org/officeDocument/2006/relationships/notesSlide" Target="/ppt/notesSlides/notesSlide89.xml" Id="Ra09fcd2f0c814ffd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b0de4ed9e24b0a" /><Relationship Type="http://schemas.openxmlformats.org/officeDocument/2006/relationships/notesSlide" Target="/ppt/notesSlides/notesSlide90.xml" Id="Rf61b4455223b4327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3cb63f39404c77" /><Relationship Type="http://schemas.openxmlformats.org/officeDocument/2006/relationships/notesSlide" Target="/ppt/notesSlides/notesSlide91.xml" Id="Rca9d43c4497e48dc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3a93fa58084540" /><Relationship Type="http://schemas.openxmlformats.org/officeDocument/2006/relationships/notesSlide" Target="/ppt/notesSlides/notesSlide92.xml" Id="R4b1a606cc70549fc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14b991fb804c91" /><Relationship Type="http://schemas.openxmlformats.org/officeDocument/2006/relationships/notesSlide" Target="/ppt/notesSlides/notesSlide93.xml" Id="Re3538f7e793d4605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f0a3675d1b4699" /><Relationship Type="http://schemas.openxmlformats.org/officeDocument/2006/relationships/notesSlide" Target="/ppt/notesSlides/notesSlide94.xml" Id="R99ad19ee35bd45c3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1671828a574079" /><Relationship Type="http://schemas.openxmlformats.org/officeDocument/2006/relationships/notesSlide" Target="/ppt/notesSlides/notesSlide95.xml" Id="R6e78489c0d6f4055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e3773d1fc945b5" /><Relationship Type="http://schemas.openxmlformats.org/officeDocument/2006/relationships/notesSlide" Target="/ppt/notesSlides/notesSlide96.xml" Id="R64e4f8ece7634863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eea25d1df94f4a" /><Relationship Type="http://schemas.openxmlformats.org/officeDocument/2006/relationships/notesSlide" Target="/ppt/notesSlides/notesSlide97.xml" Id="R2085b3b47da045d0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93e476226a4a71" /><Relationship Type="http://schemas.openxmlformats.org/officeDocument/2006/relationships/notesSlide" Target="/ppt/notesSlides/notesSlide98.xml" Id="R41b66373b2db4c1c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8a06885425495d" /><Relationship Type="http://schemas.openxmlformats.org/officeDocument/2006/relationships/notesSlide" Target="/ppt/notesSlides/notesSlide99.xml" Id="Rfe2381815c3446aa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75292191a247f3" /><Relationship Type="http://schemas.openxmlformats.org/officeDocument/2006/relationships/notesSlide" Target="/ppt/notesSlides/notesSlide100.xml" Id="R45d85823063c4173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094165f3f340f8" /><Relationship Type="http://schemas.openxmlformats.org/officeDocument/2006/relationships/notesSlide" Target="/ppt/notesSlides/notesSlide101.xml" Id="R3d83a6cd23974086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3abda1683c4740" /><Relationship Type="http://schemas.openxmlformats.org/officeDocument/2006/relationships/notesSlide" Target="/ppt/notesSlides/notesSlide102.xml" Id="R285fff1e003940a5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fdcec7ed264deb" /><Relationship Type="http://schemas.openxmlformats.org/officeDocument/2006/relationships/notesSlide" Target="/ppt/notesSlides/notesSlide103.xml" Id="R24f5c8d3e0ad42f1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95ac508b534a25" /><Relationship Type="http://schemas.openxmlformats.org/officeDocument/2006/relationships/notesSlide" Target="/ppt/notesSlides/notesSlide104.xml" Id="Rdb88765e07864f7c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087c35d1b0441f" /><Relationship Type="http://schemas.openxmlformats.org/officeDocument/2006/relationships/notesSlide" Target="/ppt/notesSlides/notesSlide105.xml" Id="R8cde4d4a9c0f4e5e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e370c8e5d74a30" /><Relationship Type="http://schemas.openxmlformats.org/officeDocument/2006/relationships/notesSlide" Target="/ppt/notesSlides/notesSlide106.xml" Id="R320b81eaf2cc42b2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b8deef22904757" /><Relationship Type="http://schemas.openxmlformats.org/officeDocument/2006/relationships/notesSlide" Target="/ppt/notesSlides/notesSlide107.xml" Id="Rc559f92428d84660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c22b0b61e24a45" /><Relationship Type="http://schemas.openxmlformats.org/officeDocument/2006/relationships/notesSlide" Target="/ppt/notesSlides/notesSlide108.xml" Id="R68fd23911d6744e6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0e9ea404954717" /><Relationship Type="http://schemas.openxmlformats.org/officeDocument/2006/relationships/notesSlide" Target="/ppt/notesSlides/notesSlide109.xml" Id="Re244dfd13109444e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95f11bad6d4612" /><Relationship Type="http://schemas.openxmlformats.org/officeDocument/2006/relationships/notesSlide" Target="/ppt/notesSlides/notesSlide110.xml" Id="R5fd218a2a6e4439f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b946f243f24a8c" /><Relationship Type="http://schemas.openxmlformats.org/officeDocument/2006/relationships/notesSlide" Target="/ppt/notesSlides/notesSlide111.xml" Id="Rc324489d04d94ba4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8f20d9ffba4bbb" /><Relationship Type="http://schemas.openxmlformats.org/officeDocument/2006/relationships/notesSlide" Target="/ppt/notesSlides/notesSlide112.xml" Id="R9b202e3afc14474a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414950d08f4290" /><Relationship Type="http://schemas.openxmlformats.org/officeDocument/2006/relationships/notesSlide" Target="/ppt/notesSlides/notesSlide113.xml" Id="R8e0402aaa70a41c8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3837d243104f37" /><Relationship Type="http://schemas.openxmlformats.org/officeDocument/2006/relationships/notesSlide" Target="/ppt/notesSlides/notesSlide114.xml" Id="R3f1db41bbdc943c0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1428f1708945f4" /><Relationship Type="http://schemas.openxmlformats.org/officeDocument/2006/relationships/notesSlide" Target="/ppt/notesSlides/notesSlide115.xml" Id="R16df70515cee4635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872137e74f452c" /><Relationship Type="http://schemas.openxmlformats.org/officeDocument/2006/relationships/notesSlide" Target="/ppt/notesSlides/notesSlide116.xml" Id="Re64e8981de234916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333903adf04c08" /><Relationship Type="http://schemas.openxmlformats.org/officeDocument/2006/relationships/notesSlide" Target="/ppt/notesSlides/notesSlide117.xml" Id="R9b3a32008fa54f5c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84ed9e6b7c4a63" /><Relationship Type="http://schemas.openxmlformats.org/officeDocument/2006/relationships/notesSlide" Target="/ppt/notesSlides/notesSlide118.xml" Id="Rfe43f62ca04b4b94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2a5b9771fe4594" /><Relationship Type="http://schemas.openxmlformats.org/officeDocument/2006/relationships/notesSlide" Target="/ppt/notesSlides/notesSlide119.xml" Id="R80c3bb60d0ff4587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27cae4596e476c" /><Relationship Type="http://schemas.openxmlformats.org/officeDocument/2006/relationships/notesSlide" Target="/ppt/notesSlides/notesSlide120.xml" Id="R67d0241ae3e641c9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952d304c5b465a" /><Relationship Type="http://schemas.openxmlformats.org/officeDocument/2006/relationships/notesSlide" Target="/ppt/notesSlides/notesSlide121.xml" Id="R2b19996dd8894c32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5a2716c3814854" /><Relationship Type="http://schemas.openxmlformats.org/officeDocument/2006/relationships/notesSlide" Target="/ppt/notesSlides/notesSlide122.xml" Id="Rc96a13dfca5c4d55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ccd8508d6443ba" /><Relationship Type="http://schemas.openxmlformats.org/officeDocument/2006/relationships/notesSlide" Target="/ppt/notesSlides/notesSlide123.xml" Id="R5277f70c0fdf4b28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390951117a4202" /><Relationship Type="http://schemas.openxmlformats.org/officeDocument/2006/relationships/notesSlide" Target="/ppt/notesSlides/notesSlide124.xml" Id="R54b5e809cbfd4978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a7dbd5c84a4fc5" /><Relationship Type="http://schemas.openxmlformats.org/officeDocument/2006/relationships/notesSlide" Target="/ppt/notesSlides/notesSlide125.xml" Id="R7fca5edbdc404999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cb1f41863e45a2" /><Relationship Type="http://schemas.openxmlformats.org/officeDocument/2006/relationships/notesSlide" Target="/ppt/notesSlides/notesSlide126.xml" Id="R4432a01a14ee4cb1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26d1832f39492a" /><Relationship Type="http://schemas.openxmlformats.org/officeDocument/2006/relationships/notesSlide" Target="/ppt/notesSlides/notesSlide127.xml" Id="R128c2b5b907849eb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f08d4608564a91" /><Relationship Type="http://schemas.openxmlformats.org/officeDocument/2006/relationships/notesSlide" Target="/ppt/notesSlides/notesSlide128.xml" Id="Rc6174584bda2485a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d89943ed2b4128" /><Relationship Type="http://schemas.openxmlformats.org/officeDocument/2006/relationships/notesSlide" Target="/ppt/notesSlides/notesSlide129.xml" Id="Ra81b4c4a15e3429a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f4e968e4104aee" /><Relationship Type="http://schemas.openxmlformats.org/officeDocument/2006/relationships/notesSlide" Target="/ppt/notesSlides/notesSlide130.xml" Id="R983de142e4f947da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67de55c47549d3" /><Relationship Type="http://schemas.openxmlformats.org/officeDocument/2006/relationships/notesSlide" Target="/ppt/notesSlides/notesSlide131.xml" Id="R513f37d96764415d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90c1836a934ee9" /><Relationship Type="http://schemas.openxmlformats.org/officeDocument/2006/relationships/notesSlide" Target="/ppt/notesSlides/notesSlide132.xml" Id="Rf096c7bb445e4d97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3455d392ba45a0" /><Relationship Type="http://schemas.openxmlformats.org/officeDocument/2006/relationships/notesSlide" Target="/ppt/notesSlides/notesSlide133.xml" Id="R11541549fe6748c3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21fd338aaa415a" /><Relationship Type="http://schemas.openxmlformats.org/officeDocument/2006/relationships/notesSlide" Target="/ppt/notesSlides/notesSlide134.xml" Id="Re16172ea89f44223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0ae49dc41241b9" /><Relationship Type="http://schemas.openxmlformats.org/officeDocument/2006/relationships/notesSlide" Target="/ppt/notesSlides/notesSlide135.xml" Id="R4946a0b819454f6d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33c6f8e0174a08" /><Relationship Type="http://schemas.openxmlformats.org/officeDocument/2006/relationships/notesSlide" Target="/ppt/notesSlides/notesSlide136.xml" Id="Ree77cc7efff741b6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d52a6ba2334f8b" /><Relationship Type="http://schemas.openxmlformats.org/officeDocument/2006/relationships/notesSlide" Target="/ppt/notesSlides/notesSlide137.xml" Id="R61ba97f094214463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4e26441ebd4088" /><Relationship Type="http://schemas.openxmlformats.org/officeDocument/2006/relationships/notesSlide" Target="/ppt/notesSlides/notesSlide138.xml" Id="Ra481632bf1204268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4a0ea1e3414c90" /><Relationship Type="http://schemas.openxmlformats.org/officeDocument/2006/relationships/notesSlide" Target="/ppt/notesSlides/notesSlide139.xml" Id="R33f7f82d88b94634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a0e03bec824609" /><Relationship Type="http://schemas.openxmlformats.org/officeDocument/2006/relationships/notesSlide" Target="/ppt/notesSlides/notesSlide140.xml" Id="R4ff01f210bda4936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e36acf935f4109" /><Relationship Type="http://schemas.openxmlformats.org/officeDocument/2006/relationships/notesSlide" Target="/ppt/notesSlides/notesSlide141.xml" Id="Rd2e6229a7a004bab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e5c53b571e4ed3" /><Relationship Type="http://schemas.openxmlformats.org/officeDocument/2006/relationships/image" Target="/ppt/media/image3.jpeg" Id="R34488598615648f4" /><Relationship Type="http://schemas.openxmlformats.org/officeDocument/2006/relationships/notesSlide" Target="/ppt/notesSlides/notesSlide142.xml" Id="R9aacf796267e4c5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B0CE6E-11C5-4CC3-86FC-82AC7884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85800"/>
            <a:ext cx="8801100" cy="137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17202A"/>
                </a:solidFill>
              </a:defRPr>
            </a:pPr>
            <a:r>
              <a:rPr sz="5400" b="1">
                <a:solidFill>
                  <a:srgbClr val="17202A"/>
                </a:solidFill>
              </a:rPr>
              <a:t>1-Day SOC Building and Operations Workshop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2E5344-B5BA-4F86-84F2-7C3C8CFE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476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E14A44-BA28-478B-9909-B317D006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84010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52616B"/>
                </a:solidFill>
              </a:defRPr>
            </a:pPr>
            <a:r>
              <a:rPr sz="2550" b="0">
                <a:solidFill>
                  <a:srgbClr val="52616B"/>
                </a:solidFill>
              </a:rPr>
              <a:t>Build, run, detect, respond, govern, train, and report using the full SOCSOP repository.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54D38-D591-4800-ADB7-5A476BC2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800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For CISO, SOC Manager, SOC Analyst, Security Engineer, and IR Engineer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7D2A1-BD7B-4771-A929-71932427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880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English slides with Thai facilitator notes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B58E08-D735-4970-A47C-3FC9D9F7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85800"/>
            <a:ext cx="5334000" cy="533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pic>
        <p:nvPicPr>
          <p:cNvPr id="7" name="repo-soc-header-imag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4932ce759f469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210800" y="685800"/>
            <a:ext cx="5334000" cy="5334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F80EBD-2034-41D5-998C-8347E422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210300"/>
            <a:ext cx="7200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Practical outputs, not theory only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A13949-0E4B-45AE-A989-56992E88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667500"/>
            <a:ext cx="7200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16B"/>
                </a:solidFill>
              </a:defRPr>
            </a:pPr>
            <a:r>
              <a:rPr sz="1350" b="0">
                <a:solidFill>
                  <a:srgbClr val="52616B"/>
                </a:solidFill>
              </a:rPr>
              <a:t>Visual asset source: SOCSOP GitHub repo / assets</a:t>
            </a:r>
          </a:p>
        </p:txBody>
      </p:sp>
    </p:spTree>
    <p:extLst>
      <p:ext uri="{BB962C8B-B14F-4D97-AF65-F5344CB8AC3E}">
        <p14:creationId xmlns:p14="http://schemas.microsoft.com/office/powerpoint/2010/main" val="125767993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DB15D17-3247-42CF-9D40-D5B91123E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Why this workshop exists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B940D9-6E20-4580-88A7-1DC48D01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B1BCE3-1642-4CE3-9044-8AE537C1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D92C5C-A8EC-4ED4-B98A-668131ED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E2916A-0E4B-430B-A12E-71E1CE37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D72282-5EC1-497D-B4B7-1B1725F7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7ACDA3-BC74-4F83-8E03-43EF867F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B41AA5-C45E-4E6E-9C33-4E7C1DB2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Most SOC failures are operating-model failures before they are tool failures.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1E3755-D97B-4302-80ED-34473867A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6528DB-A264-4FA7-81BB-4A1D32E2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9681B2-37E1-4FC8-A70D-2212430F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This workshop turns the SOP repo into decisions, artifacts, and working routines.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A09838-4C91-44BC-8601-2D05071D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DDB443-FD94-4F03-98BC-1D34A407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BD16E5-7130-42E1-94D8-8BB261DB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385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Every section ends with something the team can reuse after class.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FC3D3B-45A9-4E58-8831-EA41579E6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56802C-02D1-4702-9A90-6B35A1BC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64CAFD-E538-4A15-A4F9-B25A94AEF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5DAC77-BD41-4F8B-81D0-99FF5639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2E4EEC-4C83-4330-9934-B5A5BCB1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374002-A0FF-4AF7-94CE-A9750CFC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BD65BF-C1A2-4CD7-A868-45DCFFD5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1E75CD-5DC0-4637-9F86-7EB0C1EB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7B1B43-9980-4595-9757-A9FFF9FE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002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AB464D-4312-48B3-BF53-08B237BD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C50F4B-03D1-4FE2-B686-15350C81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64414347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DC64DCF-086E-4007-B62F-0E907044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Audience map by role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8AFF58-F0D3-4049-8818-8D4B09E2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AE87AD-2E72-41AD-A26E-5A56CA41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CCD618-FD7D-4422-A01D-8805FBE0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FC49B6-297D-48CD-896F-9D767FF4C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168CA-3D18-4409-8CAC-F53B99BC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8134350" cy="7629525"/>
          </a:xfrm>
          <a:prstGeom xmlns:a="http://schemas.openxmlformats.org/drawingml/2006/main" prst="roundRect">
            <a:avLst>
              <a:gd name="adj" fmla="val 174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B49031-965E-46E9-9490-3B4D531D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7C66"/>
                </a:solidFill>
              </a:defRPr>
            </a:pPr>
            <a:r>
              <a:rPr sz="1650" b="1">
                <a:solidFill>
                  <a:srgbClr val="0D7C66"/>
                </a:solidFill>
              </a:rPr>
              <a:t>Artifact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08D63B-E234-42B2-A5B3-38127DB5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9240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1377E1-76DE-431C-9DB0-7D525FDA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2C8DA6-5148-4EED-B637-C66AC940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B0D293-1AAB-4310-A0E6-28EFA1A7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050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AD8DC5-0B31-4C54-A6CE-F44E8CED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623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F42DE0-2A05-4AB0-8899-2D3876E9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194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33C5FB-1246-4371-8861-69AE6658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623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1C7984-00D4-4267-AD0E-1A3985BB8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778753-AABB-45B4-BEA9-3BC0D7EE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4AFBD4-B297-48BC-85D2-FA537276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195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678EA6-A40C-488C-9137-7CBD232D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768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C755B-BEE6-471C-951A-0342A0B5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339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BE197-604F-46D6-9B27-1BEB6ED2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768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3DC508-A21F-45CF-8011-CFCA4AB8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340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690AE2-398F-4CC2-BC80-C07A712E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764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What participants should take away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35F110-139C-4854-80F5-279FB14D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0764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44D278-C708-46DA-866B-88FFB9D5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479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CISO owns risk appetite, funding, executive escalation, and external posture.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4F1A0-73FC-4415-BBC4-1630BC16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385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B8775C-0760-422C-9755-FDFCBF86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4099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SOC Manager owns workflow, staffing, quality, handoff, and service delivery.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319C9C-9F1E-44AD-99EE-A1CB1D6C4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005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A1D26E-0E9D-4F7C-9BE2-914DB88E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5720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Analysts, engineers, and IR roles turn alerts into evidence-backed action.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A86362-DFAD-4DA7-88C9-C6D17F5A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003 / 142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407EEA-F9A5-415B-A1CF-D628F4C6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2E1B659-8C0A-4C03-9050-AE28264B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78204429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BDB2EB-79D9-4D01-9977-B3B85FCB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Learning outcomes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BF9F76-77B6-43E6-9DBA-557C6822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82D8CA-4521-4D61-9D12-21D9D542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5EB04-AF2C-4E4F-BC83-8C6560FC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CD4769-E680-4C34-84D4-EA48287C8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DEDB24-C92E-447A-A3AC-9B7EFF48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26A2A8-3ABA-4EDF-AD79-5AC44D69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63FA3D-7ECE-493F-88C1-DBA604549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Design a SOC blueprint with scope, telemetry, tools, and ownership.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317053-773A-4CEC-BEE9-99FB432F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376AD4-7095-4E75-8E2B-27175E9B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293334-6B74-4D02-A1F2-E8397F64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050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Operate alert triage, detection engineering, playbooks, reporting, and governance.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284C3A-2431-4CCD-B6E3-88F9120C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A69EC0-1BBA-42D5-BF08-1D90B60A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F149A4-7D17-4B50-BAC3-3790E625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670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Make defensible legal, executive, and technical decisions during incidents.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F6E9DA-FC80-4C61-B395-168310CE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99E4CF-F2B8-4AE8-92B6-91D13FC6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CE0463-3823-4FEE-BBAB-B5A93F07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71406B-7327-40FA-9EBF-B832C000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7DCFB9-935F-4D53-AE5B-511A05DD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CC55C6-37AD-41AD-B5EC-E1140DDD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63283B-9721-4565-8921-C3E95C15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0CA652-2C77-4853-AF6B-C970A20FD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417AB5-912A-4B06-B116-26E20A39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004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43677F-7ED4-4505-9837-EAEA88A5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EA6E7-FB50-4DFB-97B0-952E0F64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60907144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7BE43C4-154D-4491-96D7-532C108C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Full-day agenda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2A7E75-F1A3-453C-AE70-C552FDE8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DADD84-3853-4D72-9C8F-B37B488F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75EECE-B9D4-4108-B6B9-3B735851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9849A7-B361-411E-9A9A-ABD0B566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1-day teaching cadence with embedded workshop blocks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25C5EB-FC36-408D-8F52-07FA64DD1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1428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09:00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5DDE0-9814-4D27-936E-A4A0C542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57350"/>
            <a:ext cx="2190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2A"/>
                </a:solidFill>
              </a:defRPr>
            </a:pPr>
            <a:r>
              <a:rPr sz="2100" b="1">
                <a:solidFill>
                  <a:srgbClr val="17202A"/>
                </a:solidFill>
              </a:rPr>
              <a:t>Frame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0E941C-BAEA-491C-B1D4-877C37BB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657350"/>
            <a:ext cx="12725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16B"/>
                </a:solidFill>
              </a:defRPr>
            </a:pPr>
            <a:r>
              <a:rPr sz="2025" b="0">
                <a:solidFill>
                  <a:srgbClr val="52616B"/>
                </a:solidFill>
              </a:rPr>
              <a:t>Outcomes, roles, repo 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F8286D-A5DF-45C5-937D-86A729C97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52700"/>
            <a:ext cx="1428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09:35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1B6965-9C5C-4F1B-AEFC-F4FE3F78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52700"/>
            <a:ext cx="2190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2A"/>
                </a:solidFill>
              </a:defRPr>
            </a:pPr>
            <a:r>
              <a:rPr sz="2100" b="1">
                <a:solidFill>
                  <a:srgbClr val="17202A"/>
                </a:solidFill>
              </a:rPr>
              <a:t>Build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D5C236-E4CF-4C5C-8470-3BA27E368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52700"/>
            <a:ext cx="12725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16B"/>
                </a:solidFill>
              </a:defRPr>
            </a:pPr>
            <a:r>
              <a:rPr sz="2025" b="0">
                <a:solidFill>
                  <a:srgbClr val="52616B"/>
                </a:solidFill>
              </a:rPr>
              <a:t>Foundation, blueprint, architecture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459A65-9C1E-49E6-8DF0-250F6948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48050"/>
            <a:ext cx="1428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10:45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0585E3-8582-4253-B7A7-B05765A7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48050"/>
            <a:ext cx="2190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2A"/>
                </a:solidFill>
              </a:defRPr>
            </a:pPr>
            <a:r>
              <a:rPr sz="2100" b="1">
                <a:solidFill>
                  <a:srgbClr val="17202A"/>
                </a:solidFill>
              </a:rPr>
              <a:t>Operate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FF6F50-0677-4170-A72B-AECF31C2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48050"/>
            <a:ext cx="12725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16B"/>
                </a:solidFill>
              </a:defRPr>
            </a:pPr>
            <a:r>
              <a:rPr sz="2025" b="0">
                <a:solidFill>
                  <a:srgbClr val="52616B"/>
                </a:solidFill>
              </a:rPr>
              <a:t>People, shift, tools, budget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59543D-8502-4276-881D-5C887FBE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1428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13:00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F50AE2-7D32-499E-A7BA-01E1E9BA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343400"/>
            <a:ext cx="2190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2A"/>
                </a:solidFill>
              </a:defRPr>
            </a:pPr>
            <a:r>
              <a:rPr sz="2100" b="1">
                <a:solidFill>
                  <a:srgbClr val="17202A"/>
                </a:solidFill>
              </a:rPr>
              <a:t>Run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CDCD9B-0593-4D4C-9BF4-DD322C0A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43400"/>
            <a:ext cx="12725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16B"/>
                </a:solidFill>
              </a:defRPr>
            </a:pPr>
            <a:r>
              <a:rPr sz="2025" b="0">
                <a:solidFill>
                  <a:srgbClr val="52616B"/>
                </a:solidFill>
              </a:rPr>
              <a:t>Workflow, detection, IR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2ABA86-44D7-489F-B99B-15E2A0D2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1428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15:00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9A97A5-EEDC-42F5-99B9-E05E99E7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38750"/>
            <a:ext cx="2190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2A"/>
                </a:solidFill>
              </a:defRPr>
            </a:pPr>
            <a:r>
              <a:rPr sz="2100" b="1">
                <a:solidFill>
                  <a:srgbClr val="17202A"/>
                </a:solidFill>
              </a:rPr>
              <a:t>Govern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827F83-F324-413B-8A9D-9C65BF3D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238750"/>
            <a:ext cx="12725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16B"/>
                </a:solidFill>
              </a:defRPr>
            </a:pPr>
            <a:r>
              <a:rPr sz="2025" b="0">
                <a:solidFill>
                  <a:srgbClr val="52616B"/>
                </a:solidFill>
              </a:rPr>
              <a:t>Thai compliance and reporting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AEA325-1585-42A8-A5BC-291C9C30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34100"/>
            <a:ext cx="1428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15:35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B126A3-26A5-44FF-9641-5CEEEAAF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134100"/>
            <a:ext cx="2190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2A"/>
                </a:solidFill>
              </a:defRPr>
            </a:pPr>
            <a:r>
              <a:rPr sz="2100" b="1">
                <a:solidFill>
                  <a:srgbClr val="17202A"/>
                </a:solidFill>
              </a:rPr>
              <a:t>Apply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510A8B-860F-4B62-A65A-09F993FE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6134100"/>
            <a:ext cx="12725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16B"/>
                </a:solidFill>
              </a:defRPr>
            </a:pPr>
            <a:r>
              <a:rPr sz="2025" b="0">
                <a:solidFill>
                  <a:srgbClr val="52616B"/>
                </a:solidFill>
              </a:rPr>
              <a:t>Capstone and action plan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F9C137-713D-4D5E-AF95-DA9DF278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005 / 142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0006F2-465A-469A-8B15-6AF32C213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651856-F39E-404B-993B-E578BD14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85226413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1BD091E-1075-4A8D-8EF0-CB6BF836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How to use this deck during the workshop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54A0FA-726A-443B-972B-BA7CDAE3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43DE5B-AE22-4C7A-9793-46518A31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ADE876-55D6-4AAA-BA74-21977328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99FD7-849B-4D4E-BCC4-EB39A954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CF8D18-A5B4-4062-A167-BE95D707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92C0EB-E489-4498-937C-FB71D363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A5031E-7987-4219-A30B-81E752B8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Define the operating decision this topic must support.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6FCBDD-87CF-4234-81AA-44B4C981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060871-00A7-4186-9109-689D08CE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49E7CA-081E-434A-A84B-2DEE10E8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0505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Identify the owner, evidence, workflow, and expected artifact.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41E6E3-2EEB-4FAF-ABAD-74C65C11B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555A24-FDAB-4D5C-BBA1-D3C31871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5FA832-D5F0-4544-8419-6B5998CF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956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Capture the gap that becomes backlog after the workshop.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5F6CC7-1A9F-4E3F-8A0D-953156D1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D3D2EF-4987-4C7F-AB6F-FA3EE598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8BA0E1-9474-45BC-B45D-07D0D670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47ECB8-ADE8-4CA3-A78C-1B86C825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671D66-FA67-4396-A6AD-7A853A0A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C358DB-7878-49F3-AB49-D752BEFD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2BAC2C-23ED-4FF0-B04B-4110409F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F44451-F9A1-4A4B-B12B-0EA28CDE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F3D95D-4C80-41D5-9573-D1601E13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006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1C11A8-EF2C-41E4-B44E-CBA7FC86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E09FF7-C5C6-4489-8C76-90AFC96B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63112610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DDB1891-78DC-41E8-9C84-F35329C0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How this repo maps to the workshop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A6431-2E3E-474D-8F6A-5E59B27A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A2FA44-3538-4E53-83D3-0F3C9506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507491-1A36-4128-BD85-81EC5C62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BDC741-4444-4D62-B4D8-CBDD9EC5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Visual repo anchor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FBBAA2-8023-4C99-A2F3-B3D0BF82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7166610" cy="47625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pic>
        <p:nvPicPr>
          <p:cNvPr id="7" name="repo-soc-header-imag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b019daf735419c"/>
          <a:srcRect xmlns:a="http://schemas.openxmlformats.org/drawingml/2006/main" l="0" t="16773" r="0" b="167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1676400"/>
            <a:ext cx="7166610" cy="4762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8EC7E3-60DA-4F9C-B269-F8F19B2A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72250"/>
            <a:ext cx="7162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visuals from the GitHub repo as proof that each module points back to a reusable SOP asset.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5C72E3-86AB-4C7C-8AE1-FDD48EBD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91249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D7C66"/>
                </a:solidFill>
              </a:defRPr>
            </a:pPr>
            <a:r>
              <a:rPr sz="1875" b="1">
                <a:solidFill>
                  <a:srgbClr val="0D7C66"/>
                </a:solidFill>
              </a:rPr>
              <a:t>Repo-to-workshop map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72DB3B-58C3-4F82-842F-B408B50A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2047875"/>
            <a:ext cx="8191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7BB8AA-23B1-4FBA-B58C-3FA4598D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71700"/>
            <a:ext cx="628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00-01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66273-2B8A-4911-AFFE-ABEB508B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57400"/>
            <a:ext cx="1809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Foundations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3DBBC0-563F-4CC5-B0F6-F91B398C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057400"/>
            <a:ext cx="619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16B"/>
                </a:solidFill>
              </a:defRPr>
            </a:pPr>
            <a:r>
              <a:rPr sz="1650" b="0">
                <a:solidFill>
                  <a:srgbClr val="52616B"/>
                </a:solidFill>
              </a:rPr>
              <a:t>scope, roadmap, budget, stack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78BA16-CFC2-4F6D-9160-E7408DE3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2867025"/>
            <a:ext cx="8191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423B82-1BC1-4A60-9FE7-FA9D69CC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90850"/>
            <a:ext cx="628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49CF69-6598-47ED-A46C-6D78FA81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76550"/>
            <a:ext cx="1809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698EC4-7276-4952-A3E2-330AE47A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876550"/>
            <a:ext cx="619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16B"/>
                </a:solidFill>
              </a:defRPr>
            </a:pPr>
            <a:r>
              <a:rPr sz="1650" b="0">
                <a:solidFill>
                  <a:srgbClr val="52616B"/>
                </a:solidFill>
              </a:rPr>
              <a:t>framework, runbooks, 50+ playbooks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606478-47FB-4DA3-B398-42DC324BF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3686175"/>
            <a:ext cx="8191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2875F6-95FC-47B5-8D41-66AA017A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10000"/>
            <a:ext cx="628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00FD22-8134-4AF4-A242-9B10409A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95700"/>
            <a:ext cx="1809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Operations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988A94-7EA0-4BFA-8A00-52EF2189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3695700"/>
            <a:ext cx="619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16B"/>
                </a:solidFill>
              </a:defRPr>
            </a:pPr>
            <a:r>
              <a:rPr sz="1650" b="0">
                <a:solidFill>
                  <a:srgbClr val="52616B"/>
                </a:solidFill>
              </a:rPr>
              <a:t>handoff, metrics, governance, services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0101A5-F6FD-4EE7-93FE-717C40A8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4505325"/>
            <a:ext cx="8191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2346B7-0B7C-4FF9-8C7D-F0DD96F3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629150"/>
            <a:ext cx="628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272689-3E12-4E45-A26D-54364F30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514850"/>
            <a:ext cx="1809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Detection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2AD7AE-D6ED-45BE-99F0-4AFC4A32B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4514850"/>
            <a:ext cx="619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16B"/>
                </a:solidFill>
              </a:defRPr>
            </a:pPr>
            <a:r>
              <a:rPr sz="1650" b="0">
                <a:solidFill>
                  <a:srgbClr val="52616B"/>
                </a:solidFill>
              </a:rPr>
              <a:t>coverage, Sigma, YARA, use cases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B2CD82-A34C-4BF9-ABD9-0C5E43DE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5324475"/>
            <a:ext cx="8191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580132-50BD-4500-900D-7D5211A0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448300"/>
            <a:ext cx="628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07/11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F20979-54FC-4325-95A3-D8073BA3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334000"/>
            <a:ext cx="1809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Govern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2FEDF3-8F66-4422-87D9-CBD8ED0A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5334000"/>
            <a:ext cx="619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16B"/>
                </a:solidFill>
              </a:defRPr>
            </a:pPr>
            <a:r>
              <a:rPr sz="1650" b="0">
                <a:solidFill>
                  <a:srgbClr val="52616B"/>
                </a:solidFill>
              </a:rPr>
              <a:t>compliance, reports, executive packs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842464-29D9-4994-958A-160D6C6C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6143625"/>
            <a:ext cx="8191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A21BBE-D806-44B6-92BE-8C0FF8F4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267450"/>
            <a:ext cx="628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09/10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B0A997-F3CB-427C-9AF7-717CCAB32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6153150"/>
            <a:ext cx="1809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Improve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9D8103-C51E-49D8-8468-2EC70275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53150"/>
            <a:ext cx="619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16B"/>
                </a:solidFill>
              </a:defRPr>
            </a:pPr>
            <a:r>
              <a:rPr sz="1650" b="0">
                <a:solidFill>
                  <a:srgbClr val="52616B"/>
                </a:solidFill>
              </a:rPr>
              <a:t>simulation, training, onboarding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C26D3F1-327B-4F52-BE70-D8E61C11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6962775"/>
            <a:ext cx="912114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93A803-1D0E-41F1-A1DC-A1E1277B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7143750"/>
            <a:ext cx="8705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cue: point to the repo section participants should open after each exercise.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C28820-96E8-4450-887B-E763456C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007 / 142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6EB80D-6CAC-44A4-BA04-DB86B258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7438E2A-E8E5-442B-AA45-898BD019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688047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E83E69-9BB1-435F-9272-1203ECDB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Workshop rules: practical outputs, not theory only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B38FAF-2665-432F-9CAA-EEEE1D3D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3AE4A6-A8E9-43AA-95A3-EA5BC1FD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B1344-FC10-49FA-99C1-677451B0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D8A6CA-028B-4386-8420-336E20CB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3E348-8B5B-4522-900F-A55FE00E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67EC61-1ACD-4E3C-87DD-FD8A54C8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EC5E3B-5305-450C-BF8E-C6013E61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Define the operating decision this topic must support.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BA7B1D-43F4-41A8-B188-4352EA7F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E1A391-CA2E-49C4-BC3B-39BFAF45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EC4D8C-A34B-4BAF-AC39-21CF8DF4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0505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Identify the owner, evidence, workflow, and expected artifact.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155218-29A2-4AE6-8AB8-3ECB208E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46411B-BC4A-4B8C-A651-6B444137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D5CDA-6F6A-4EFB-A891-E6875806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956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Capture the gap that becomes backlog after the workshop.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C99923-6065-4E71-AA53-2C181FF6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5FBA82-1AD4-4079-B6D9-AF5EAC10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433E57-FD06-4053-891F-6B4FD0F2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6EA819-3D01-41AC-A2C7-CC0220E9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57B567-2CCE-48F0-A3A3-9A194010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D19442-80DE-4CAA-99B3-0B733938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09420B-817F-434E-8469-F54186B8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AD07EE-9D44-411E-8F11-993AFB2B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8A1025-BFC1-46E8-A870-55ABE708D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008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945B72-64D9-4CDD-A4C9-9603E863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D6BA46-19B8-43E2-9578-EEC07B1B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50510648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C5CF6A-FD20-47F8-9D20-3AB7F0EB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332D9-681B-4D9E-86E1-373F59FA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7285"/>
                </a:solidFill>
              </a:defRPr>
            </a:pPr>
            <a:r>
              <a:rPr sz="2550" b="1">
                <a:solidFill>
                  <a:srgbClr val="0B7285"/>
                </a:solidFill>
              </a:rPr>
              <a:t>009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965187-E829-4C9C-A913-45ACFBD1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BUILD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12BAC7-5104-4787-AF04-52E536DD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5F36DE-7D0F-48FE-A8DD-55BFD3F9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Choose the SOC mission, scope, and target operating model.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2457B2E-1958-4DC0-91AF-5DFD56BA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What a SOC is and is not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D3D010-2ECE-416D-A0C6-C8DC5AC0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17EC3F-CFA4-4C0C-8926-038AA3A6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089166-E22B-4C20-801C-859D0310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3979C7-DA35-4EF3-99B0-FAEFD69F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8EAA25-E647-43E7-A156-50786CF1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Teaching job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03DDCC-692D-48BE-964F-FD569661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FAB3CB-BC93-496B-B5EB-090E1DED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A16621-1C24-4906-BE35-C6497985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 SOC is an operating capability, not a room with dashboards.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8F804A-00CD-4564-8150-998B12F9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7622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E1BD57-6173-465A-8A71-16139EB7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018CDF-04E2-4B52-B567-8899C7AD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76225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detects, triages, investigates, escalates, coordinates, and learns.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1691B9-F2A6-44CC-AE33-18900DE3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3528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5BD1AA-54E0-42BC-A972-5451F2B96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909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128D51-6649-4075-AB71-0C56D5D6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528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is not a replacement for asset ownership, engineering hygiene, or business decisions.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4F88BA-3159-41CF-80B8-6EE71F87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21005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736487-37DA-418F-B6B5-B4A50524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1960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Output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2462DE-625C-42D3-AFC0-B35DCF06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1960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964EEA-25AD-4508-BF3C-223AC351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61975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009 / 142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488F5E-F389-42A0-9E56-62D4E71C3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619750"/>
            <a:ext cx="61150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554ADE-DA4F-4877-9327-F1E3E0345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561975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79603715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E79BB3-E2B8-48A8-BFC6-77E6B019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Business outcomes of a SOC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952497-59ED-4583-93CF-2A4FE2F6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B68BA2-67DC-4A99-95A3-19B815B1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1A426-A61A-46BF-B243-10901259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0B1246-530F-4ADC-A06E-81BE892B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B8B423-BDB4-4440-B956-74AC654D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316F29-A2E4-44FF-AF0E-08EAEE30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3584EC-2A8F-43F2-A3EB-35FCC924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Reduce detection and response time for priority threats.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ECD2FB-5D9E-4B8D-8FB6-95EEABD9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D7A591-E711-44B6-9A8D-02AF0D58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22DB5B-4A58-4BFC-949C-53E65CDD5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050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Create reliable evidence for risk, legal, compliance, and executive decisions.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92811-8145-4482-9D6B-A7715807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1287D5-28B4-4905-86D2-1C18F112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59AD52-CEF1-4B7C-8DF8-781E3526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670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Expose repeated weaknesses so remediation can be funded and tracked.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194CB7-C201-43FF-8233-04B42028B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3ACCB1-4077-4C67-840A-AF1106680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D83FEE-8CEA-41DF-B521-B7DA1212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93F915-7D8A-4C0F-8808-90FE2827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F45E2D-C875-43C2-8FA6-03C75130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56B037-A4CB-4F59-A6DB-F16B4F6D6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8BAC73-855F-4FAF-8655-06918BF6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09E2FE-6CFE-4CBF-88C4-44E076A2D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263B65-3CF5-478F-8C23-22976F6D5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010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6AB953-C409-4A63-A560-D72C1EB6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6439DB-DD2F-4629-A76A-0EE439B18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59109051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0FD684D-C8B8-4432-9DB7-A3D88FF3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SOC service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82A5DE-144E-40D8-A349-A254E498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4C1F40-028E-452E-B0E7-87D77B4A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EEAEAC-3864-4373-8256-AB55ABD0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B7C14-2825-4387-BF0F-9CB75E3C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1461CF-AE88-4993-B9A0-E4A8933B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8134350" cy="7629525"/>
          </a:xfrm>
          <a:prstGeom xmlns:a="http://schemas.openxmlformats.org/drawingml/2006/main" prst="roundRect">
            <a:avLst>
              <a:gd name="adj" fmla="val 174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573F74-B521-4CA5-93EC-7820D87F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Artifact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A31C2C-A1A0-481F-BD24-CC578CE4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9240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39099A-3C7A-4CE6-BD2D-298B9C60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30D93C-6062-40FB-AC9B-17C0B504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09FFEA-D90E-4FDF-86A9-2B1B116B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050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3A3A90-1209-4703-AC05-A61A0EBB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623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05F3F0-DB10-46BA-9671-BD5DE665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194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C0EA60-4DA5-4A8D-8A94-3BCAA517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623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1045C5-188B-43E7-90DB-344A6F1F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25B68B-CAEB-4224-95D1-5F6D423C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6A55BC-AB94-462A-BD4B-2186E1AD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195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165172-D2F3-49CD-AB64-8BD8F416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768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2C0E27-703E-4B2A-9573-A6167539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339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A64D38-775E-4C97-A640-E3F9486E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768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B80957-94E6-45E3-BDE4-27A412D4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340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E9B2F8-828A-475C-BAF6-D5E76EFC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764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What participants should take away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CCF693-0A22-4025-A23B-5B76F7EC9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0764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BDF1A7-154F-4961-8D26-A1E59A5C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479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Define which assets, identities, services, cloud workloads, and data classes are in scope.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5D40B7-29C3-4B57-95E3-CF1FFB1CA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385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912A69-F4D1-48F0-9FB1-F3994926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40995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Define what the SOC can do directly versus what it must request from system owners.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6DBBC1-6407-4160-95E7-016D73944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005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0824DE-9B10-49DC-B23B-84860BAF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57200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Keep escalation paths explicit for containment, shutdown, notification, and public statements.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426DE0-4255-46C8-B3FF-51B7EF45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011 / 142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CC160D-8092-4C54-9140-99581A69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6255A6-4076-4AB3-AE11-05C325E8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56011950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4FEC205-E4A9-4D98-A306-D21455FA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SOC maturity stages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D79250-A46E-40E8-B4EA-C6D0661B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33FD5E-7805-42C9-9734-47F18FEE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E36F66-EC0E-4D14-9BD1-C4737D8E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CA0F06-0FAE-4A04-B472-32A6B75D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412C0D-44C6-44DA-A749-9DB3FFD6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B126BA-764C-4797-B1B8-DDA27BA8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39711-87BB-4C9E-92B9-FD70A207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Foundation: scope, minimum telemetry, triage routine, and severity model.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8C9FC3-D32D-406A-9BCF-152C4C9D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BC4165-D76B-45F3-85D3-02B1BE78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A6324C-2A7E-4C44-96F4-7899E335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Operational: playbooks, ownership, tuning, reporting, and regular exercises.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FCBD5B-45AC-4F83-AD6D-F8BCEA8D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3C975A-28E5-49C1-B86C-6EEDC0B8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DEC591-F616-425A-94F6-7938F564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38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Mature: coverage management, automation, threat hunting, governance, and measurable improvement.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2B6DFB-0D41-4479-9CFD-6999ADF42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ECEF47-9B25-4581-BF8A-54B9692B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391E01-C880-411D-92B1-04533A12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075141-E629-47DB-A8CD-EF8A9E7F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FB1508-0B8E-4A6A-AA1A-07CC4670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451E35-2604-469F-8A03-385E6735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DD7963-5C24-4CD3-97AE-D3BFA2D8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6B12BE-290F-4DF2-BF06-0B3A7A9ED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A4B666-6396-4926-B68F-0B2E20B2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012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E5B314-C4DF-4B30-A1E6-47C450DD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9A723B-FB4C-49A0-85D9-2748935B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82767535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97F5C3F-32BE-4EC0-B503-583B01A2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In-house vs MSSP vs hybrid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A7F89C-ECEE-486B-9FB5-00E5CD69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9AF96E-285C-4CF8-B055-BC9F6944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49F81E-30EE-46D1-93B9-CF1A358B0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C897EE-2BE6-449F-A8E1-59F95BEB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18540E-D449-4B08-93CF-CC72800E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B7C3AB-3DD7-4477-8382-D2D17F5C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4A9952-332D-4296-A303-994657EA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3F082-962B-4D9B-BADB-9772660A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21CD97-C2FA-4C25-85D0-1C082BCB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B68E86-37A8-483F-9B7E-59C4C891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4C01F5-792D-45DA-92FE-3E5A9CB2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B65FF9-67CB-473D-92F8-98A679A5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5FA0A7-B758-4926-AAB0-B225C2AA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5894D5-FBF9-475D-8F16-854E8D5F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B285FD-E7E9-4E1F-9800-2F87F575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93AB60-D963-4BD5-95B4-CC9EF914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54DAB6-AA63-4D34-A91F-722028281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15FAC4-555B-4FC5-B484-609D6B01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D3FBF9-709F-48B8-A273-5650F280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577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In-house maximizes control but requires staffing, management, and content maturity.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B4035C-A314-4141-880D-5F91D7B0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6764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508C8E-0828-4A33-B4AB-D65CDF77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0764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7429A2-EB71-48A6-819C-C6C620CB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2479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MSSP extends coverage but cannot own internal business context alone.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B61EFC-4ACE-4461-9B30-892D07129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2766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86962-8039-40B6-8C6C-705F3AD1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4480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Hybrid works when internal owners handle decisions and the partner handles monitoring scale.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C52588-3F32-4BBF-881A-A89129AF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44767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1BADD2-C8C9-4869-AEFE-EBDD9A08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6482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84D961-5478-45EB-AEC6-8A41C21A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013 / 142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ACFE6B-08E3-43CC-9F7F-ED298112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35D673-10D1-433A-A9F1-AF2340FC9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93789953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E3BAF7D-9D69-4289-A68E-6AE56A68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When each operating model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E0F1F0-026C-4F0C-A491-0C0F8005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251AB-8A52-4460-A3CF-A335F367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0AD28-F1FA-4F8A-BA46-8E765CABA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CA3AE-7E8F-4327-85B0-51B33952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23A7F-1080-498E-9FBF-42404473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4D3711-DBB9-4C6F-BEFB-3AAAA8E0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314F65-F5E3-4076-84E1-F7ED2A11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7F08E1-32A2-4FB3-BE27-81036277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A6A6E7-2721-4EF7-9F34-F64B3CBC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3C192F-3BBB-4B16-B6D2-492BC75D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AE62CE-58E8-405D-A9FD-7CB146CF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0AD80-5FB4-4ED8-9DA6-E94B3221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E43C8D-AADD-4E1D-BB43-B41C80A3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02B698-AFDD-4D37-8413-67F32B22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62C5EA-6FDB-4A1D-AEBC-62694F13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07551E-76D4-43F4-B588-F07F8807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0B4E3F-6EC6-48CB-979A-E678839C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8C2BEC-08D9-4AEF-A438-189D31F9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8346A2-EE4E-4C7A-A129-8B1358F5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577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In-house fails when coverage expands faster than staffing and process quality.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C1FCA0-68AE-4563-B024-6771E9F0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6764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C4386E-8A31-44E6-9D1E-53C406FC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0764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D25DD3-EA05-477F-9504-0C411A7F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2479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MSSP fails when escalations lack asset owners, authority, and evidence standards.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92C797-4718-4D62-933E-5AEE81E8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2766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6F0C21-3DBD-4508-A1FE-251313E9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4480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Hybrid fails when responsibilities are implied instead of contracted and rehearsed.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B872D6-BAC8-45E6-8F0A-AFB2B8A4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44767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8E5635-30F8-4E9D-A6F5-31E0EF1E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6482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53E72F-51E5-4649-B0A9-1E3A28D0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014 / 142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6424F6-AD63-4A6C-A798-74E435C9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06E045-0DE0-4B76-B3E2-4F6C63DA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82700872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4200CE-C879-4CE9-BFFE-D0EAE8AD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Minimum viable SOC vs mature SOC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6473A-C66C-4413-8CF7-EBA808D65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938446-A1CE-4A09-A8DB-7F270743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A7DFD-CBFD-492C-B10F-047C9BB5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F123DA-936C-46E9-9470-A5A69AAF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6DE73C-28D7-45D6-A073-E52C6D07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CB3658-1F6A-4E9D-8A05-60F7055D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E67CE2-3AA0-4B9F-A55B-499AEDCF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Minimum viable means critical logs, critical detections, triage, severity, and escalation.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AF7A50-F1DD-4C8A-BC3E-3B7A5339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7B59FC-4454-45FD-8449-8404FDBC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0B07F-4729-481B-8DC7-A145B1C7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Mature means coverage lifecycle, response governance, engineering feedback, and board-ready reporting.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ACF49C-9BE2-4B4F-8DA7-2FDB9DF5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79925D-01F9-4D00-9D2C-2E027A60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5F2081-F1C9-471E-BE01-5ABA71FC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385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Do not automate a workflow the team cannot explain manually.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B1CA1A-1820-45CC-9AE6-15CA5958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0579F4-C596-4803-97E6-0CDC1BA2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7B9B6F-783E-4A32-930B-0A8E3F9F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9B3B1F-E574-466C-9BEE-FD99E1A9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925E13-95E0-41FA-9BED-ADA179DC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83F678-7733-4FB5-8529-30E57179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785EE5-1132-48CE-A2FF-8EBBF650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BCC7A6-6F20-41D5-959C-1FBEE7D4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E31963-959C-449A-AFB4-49B4E861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015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4BF77E-E8C3-4F1E-9484-0B4D7BD5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4DBE39-9708-46E2-BB85-FCD77EBE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12417498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69A6FFC-3611-464E-A8DD-F953FDD4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Core SOC services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486A76-186F-4542-928D-C04CB260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F6584F-4C65-4751-86E2-2D3571F9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222EFA-24CC-46A9-A858-02091B6F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0B4727-A74E-4B4E-982D-64CDA218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7574F8-91F0-4A5B-8DF5-77F8B114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8134350" cy="7629525"/>
          </a:xfrm>
          <a:prstGeom xmlns:a="http://schemas.openxmlformats.org/drawingml/2006/main" prst="roundRect">
            <a:avLst>
              <a:gd name="adj" fmla="val 174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6FDEA2-F44D-4BDC-B0D2-C47643C0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Artifact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4AA487-AA3A-457D-B0AE-A9A71C15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9240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F7C0A1-EB52-45B1-8DF6-53E9895F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84CC40-A272-4841-A29E-EF89524F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F3E78-6F92-4DE8-A1EB-08776C30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050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BCDFB3-09C0-408D-95E5-F735E480A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623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09FB0A-7B41-4F36-9DC1-76ECEBA3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194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3E73D7-BC3C-46FE-9581-163A3219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623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CC5462-5D8F-4A75-B66B-838F991E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C0AD92-C80D-46FF-8510-9FC9FDB0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85135A-66E9-4996-96F6-92CFFC53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195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77BE80-70DE-46C5-A475-384A588D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768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6B8132-7B63-4D53-812A-9FBFD381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339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10C960-7829-41E4-9C5C-7D677889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768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F6DAD7-96D9-4293-8C89-725A4746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340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984988-88C8-49D9-AAF6-69CD16832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764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What participants should take away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583B6B-2DB2-4D7C-8339-C0C2DF4B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0764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13DCE3-5951-4D28-81EB-A2E44C08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47900"/>
            <a:ext cx="7715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Monitoring and triage: alert intake, enrichment, severity, and routing.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5B74D8-EE53-4821-B19A-41D70E07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385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D7B09-7C92-4B04-A9BA-7F0FAE7B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40995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Incident response coordination: containment, evidence, communication, and recovery tracking.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5E4C7B-AF97-492B-9CE8-C3108B534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005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F05B2B-A233-4A91-8FED-9E351F97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57200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Continuous improvement: tuning, detection backlog, telemetry onboarding, and exercises.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6C3A58-6400-4EA6-8725-01476643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016 / 142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F393B2-B655-4683-A93F-D2756D57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30B464-8B43-4CF5-9C21-6F51B1B1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81383115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5EB363D-97FD-4FED-92C1-D87125E8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People, process, technology operating triangle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0AF0A-FA62-430F-A872-5F5BB8DC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305A9C-FDC0-47E9-8C93-85741F3C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2B8EDC-7423-4B3F-8CC8-DEB31FFE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E1F259-D476-42FF-A063-3DBC3F04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D32D9F-B080-4EBE-AA2F-3EBFB3DA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23023-937B-47B9-ADB1-3E3C31BD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BDE98-426C-4D48-A644-10B87CE3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73AD49-4134-4E78-8B51-A8C2DD33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C3E890-7D6D-4592-9C7B-BBDEFC08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9CA6CD-C30B-4FCF-A216-A5307329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E6AD08-A711-4B38-89A4-80D87FB5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6B308A-0B5C-45A7-AA5E-7F41482A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51B933-5772-4BC1-B571-6D6A22A2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4EE9ED-7767-4ABC-A186-9E020D63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0D3763-6476-418D-A777-411CF69E4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2CB4F6-3702-4D37-8B7A-A55C842F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1E87F8-AA87-40C3-B299-988E4930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124E4C-65AF-45CF-86F1-660C327B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0164A4-64F6-4DFC-90E9-D2DA2265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577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People decide and execute; process makes decisions repeatable; technology provides evidence.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2B3EDD-3D5D-47CF-A405-32AF4E1F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6764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A45ADF-0CD9-4D65-803F-FBEC6BE4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0764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060548-B212-4DF0-8BB5-3782125B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2479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Buying tools cannot compensate for unclear ownership or weak escalation.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3EE9B3-FFD8-44D7-9F4A-85A91193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2766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4CF94F-AF8F-4CCB-AABB-31F4D682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4480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Strong SOC design balances all three before scaling volume.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913DCA-9928-4B67-B080-B8A97F82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44767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406E31-0C69-4373-B1CC-28AEE707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6482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6F7B18-13EA-483B-84D5-46F360F3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017 / 142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E24840-8A77-4F75-8841-C0730DC2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8AAB33-5A07-4B00-89D9-DA6DD09D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8822518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A05F26-4F90-4788-8853-24E11978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Common early-stage mistakes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82E222-4FB4-4B9C-B82C-B68C3898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C2328A-2A45-47F2-8AD1-F1C04A9E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AF683-0BD4-4BE3-B48F-C438CC42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D9230E-9D3C-47EB-89F6-DB8D6A22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4E6D9D-689C-4FDE-957D-B29B0D7C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721D1D-38C1-4220-8798-5BE392F24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1EF97-56A3-4415-AAB7-DE5116872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Tool-first implementation without mission, scope, or log-source priorities.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70A2A6-2EA5-4048-BAD9-15034775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26AB44-61A0-4741-B828-454B2669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50E843-0113-412C-A8A9-1938C7DB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No severity matrix or decision owner for high-impact containment.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42424C-040B-4452-B821-C2490200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C4501-DA03-4C72-8211-0C71A511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09FF32-5742-4A5C-8F8D-88E16CA6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670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Hiring analysts without runbooks, evidence standards, or escalation paths.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3C4BAD-D17E-4205-9D6D-5F448699B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C5162B-17D8-42C9-9986-F57CDC89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45A1E6-4791-4C50-B4D7-4256CD51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260BD3-B22D-4E0A-A58D-55D292E1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50D18E-7B41-49FB-A5B6-E38D6DFE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D6CF6A-49C6-43ED-870A-FB9339F0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504840-C6DC-4531-9370-B39D3D87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00A5DF-BD8F-4A96-8F44-88D0D6FD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BD86A9-FC45-4874-AEF7-19516090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018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D6F612-2DFA-4B49-870D-83119205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6CE9FE-3D66-4D76-8985-A10235C9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201558138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924233-CE45-42F1-8BDE-C4FC9D71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Common scale-stage mistakes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3559ED-DFDB-49CC-B440-171C71C8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BA13F-EB42-4E3F-9CA6-FF16EB66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DEA30F-1769-4B35-BFDD-35F5DA10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A3CAD5-84A9-40F8-9D15-06F07339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EDA964-1EEB-402F-97B0-01943D6F2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05BB3B-69BE-4942-B27C-40E9BE08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8BE8E3-8F78-4AD5-AC07-EBDB4CBA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Alert volume grows but tuning, coverage management, and handoff quality do not.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30E5E4-47FC-4011-B8B0-374B113C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1CB30A-F98F-49FC-8F9C-24785298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272B6-2885-4C00-A7DB-CEF3E8CB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Reporting becomes activity counts instead of risk and decision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24D79A-E023-488E-8815-58D2ECCB8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40C8A2-EF53-4E49-A5E1-98DACA03D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D5C599-2516-4CFA-BD53-63BDCD26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38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Lessons learned stop in PIR notes and never become remediation actions.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124A20-F5E5-406A-B931-0FF89AE6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09702B-2BDA-4010-9609-5AEDFE28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769B40-BB14-4E84-82F1-A8D5377D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3A92C8-48EC-4511-802C-28C5433D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17C947-253C-4C05-B634-BDB7F474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5F4394-F61E-439F-BEF8-1352EA70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62FD03-B29D-4BE7-AB63-9A443EC0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04414A-9DE9-425A-A0FC-9ECC5E4D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194453-4A4C-4CC7-94A2-B6BD0170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019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9154A3-97F7-44DD-ADDC-33CE56FB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A8603F-67DD-45C2-9C41-7E236FF1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29989927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8AA38A-6D59-4103-B563-16169460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SOC maturity comparison matrix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39F9D9-D52F-45EC-AFD6-0FE0321A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D0E704-6980-41A3-94DB-9C0CA1E2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291BDA-A9DD-4DB6-B68C-26BDAAEA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F8F91A-CBE6-4356-835D-3C59AF971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F9A95-6FE1-4563-A10D-3EAACED5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35E25D-59B8-40E5-9D5F-A50B653A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Stage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83C28A-D432-4776-A954-B989425E6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C7502A-194A-4E17-B055-3C6F4C24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Operating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9A0193-9351-486A-B45B-230509C3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150519-1F5A-419D-B0C1-DE7A81FB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Primary risk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24F70F-AE80-4382-9AE5-FF47C362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30220C-4E2B-4D31-9C81-4EFD5E23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Next 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35C75D-E9C5-4636-B72A-90DEDD984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99A5C3-E2E4-47F7-996D-AE628937E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Foundation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292A8D-2F3B-4D31-BFA5-59E38E0D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624423-167E-4B65-8EF1-7DDFE4CD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Basic logs, triage, severity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0A2520-E8A0-41A4-A52B-1AC5F874F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1676B0-448E-475B-8C51-DCD2245F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Blind spots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1916D4-C13C-4E52-A97C-3BD59999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998DB8-2DF1-4978-9200-D305BE8B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Prioritize telemetry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E5E371-2CCF-433C-8D26-67B35B7C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B0AE7B-E936-4500-890E-B0A26DD9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Operational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A326F5-DFA7-405B-8824-F7595167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2F45C2-D787-4FD4-8BFE-42117479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Playbooks, handoff, metrics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22D91D-6CD7-4E5D-8DA1-CEA51E18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CC8C30-FECF-4D9C-8789-E0C671B1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Quality drift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C3A3A3-DEBE-477D-928E-769B19F8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DD9586-9FE1-4CFA-9007-E2C53CBF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Tune workflow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DDAD94-002D-4FE7-A347-C2770177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87E29A-122B-4761-A9EC-AD1DCCE8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Managed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548D17-4D7D-4BEC-AA73-C4EA01D1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4C2F37-7195-4141-B78C-9FA4E7E5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Coverage, governance, exercises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EF0ADF-7184-40F0-81BC-AE7DD945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F81C33-AC55-4520-B26B-BDDB3AEA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Scaling friction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2FDBA5-CFAA-4F4D-A7CF-7CFCB9A4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C7AB52-F7F4-475D-ABF0-0B2C03021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Automate carefully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9DC2C10-0488-44BB-9697-FE16C85D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582D3E5-CC25-4C11-B536-2DBBE24A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387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Mature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EB6A92-B731-4EE3-8143-8EE517CD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7244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6332FC-AFDE-424C-B02F-EFE89EED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387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Threat-led, measured improvement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0593DC8-31E4-48A3-9912-3CDE519B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7244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25E773-7096-4EAF-8868-E880745A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8387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Complacency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709AA5B-B995-4B7F-9731-C97E7EC4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7244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69DAC53-2BF0-448D-A42F-CD68926F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8387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Review strategy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061721-0CD0-422A-A00E-CE90A94D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9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020 / 142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C933353-4C23-42D2-828F-DC971FC0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79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549AC1A-F70B-4138-8923-7A922FC4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579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79942879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98EE99-09E8-4A13-9189-B4A530D4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operating model comparison table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41BE3-6AAC-470E-A5DC-6695A9EF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35CA63-58C7-466E-AB52-E0F99E33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2B809-2F8A-47E1-9BE4-4CC71935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613223-7608-4EC3-95FB-CF451A85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C56B7F-990A-43DE-925A-60374960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C66D91-894E-4579-8079-106BCB4D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5B17C-3889-4286-A02C-DDF754CF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3D2EB6-3738-4084-97FA-44A47B7A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Strength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172C14-92FF-485C-BA59-0C79B536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C890D3-8F82-4C49-9C05-E52AE4E4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7CF7D1-5B3F-4A9E-92FB-0D79B4ED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AC00DC-3F24-46BD-9266-3A98ADFE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Use when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1676C6-F427-4088-A313-4C5C5DFF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04F182-1739-4D06-A4AC-0EA4E6457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In-house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028DCA-56B3-4374-AF93-5A281DF8F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65D6D9-0333-463B-874C-91C692F2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Control and 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7A3475-5755-45EB-B7C4-5AD02EC7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1CDBE2-29A8-46C8-BEC0-5CB6757D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Staffing cost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1A5DAA-8741-4A4D-98B6-F7A1E323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9AC1B9-11E9-4A9D-91B4-B69EE463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Regulated or complex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1502DF-E677-43F8-AEBB-483A53C1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0F2273-6FAC-4969-BCBC-6FF80AA1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MSSP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15DF3D-2832-4B97-B43D-32FB3837A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AF795A-1BBC-48B0-802A-83D42CB1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Coverage and speed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1A5E19-E7F2-4C27-971C-6DD416D59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52C73E-1F98-4DC2-9057-30E3F010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Limited internal authority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728B79-65F9-48EF-9876-980A6FA2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5285E3-C2D0-43B5-B969-B82CFCFD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Small team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EA1722-9281-4D5A-B648-F4A660A5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79494D-A44E-469B-9CEE-9B40D7C5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Hybrid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8920EE-ECFA-4796-850E-D18E9CD9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EE131B-9F92-47AD-A535-E0FFE55B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Balanced coverage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FB71C7-A388-4BA9-89E1-D9E830FB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1F0AC9A-F95C-44A0-9E72-5DBFAA37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Needs clear RACI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018957-2FDE-45F0-8534-4630D2AD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56DE35-FF06-4493-8FE7-BEF7E6F8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Most practical start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BC5C53-8022-4157-821B-70172244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911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021 / 142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14CC640-C1C4-4FC7-AE80-237020D4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9911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9318363-D882-4AEF-A94D-531D3118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49911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824886061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1357C40-6408-4EF5-BFFE-4A44BE9A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Workshop: define SOC scope and target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CDE9A-1519-419F-B01D-4CA3AAC6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F491EA-4605-4DC8-B5B7-56BB671E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347BC8-16E4-436D-B3B5-33706DA1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89F03C-8666-4A57-897C-5578E2BC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71B411-93ED-4E79-BEC4-BEFE2C46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383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D92429-563D-425A-A293-7CFD14E1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478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7285"/>
                </a:solidFill>
              </a:defRPr>
            </a:pPr>
            <a:r>
              <a:rPr sz="1200" b="1">
                <a:solidFill>
                  <a:srgbClr val="0B7285"/>
                </a:solidFill>
              </a:rPr>
              <a:t>WORKSHOP OUTPUT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AE052-AE29-48AE-B6A0-9AFDF795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764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107848-B670-4AFA-A048-7804910B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D153DB-712E-4D4C-B398-AA34375F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11BD2D-D3C0-4577-9634-08CB6CF0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575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4B5261-BBCC-4A72-8201-E667C1672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D10BD6-0B28-48EB-B9F2-CAD6D03C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E59BE8-C6CA-461E-A356-731E51BB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AD9308-0DF3-4EB4-A20F-59F3007D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D3B3ED-67A0-4CBC-B756-9197ED94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196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F604A3-AA72-482B-9488-59AE291A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815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6727B7-F6D3-4D6A-B939-3CFB71FA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16383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F75472-64FD-42F7-8A8F-3FFC22E8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09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8E0F7D-F12E-41E8-9720-218E4559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16383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0803E4-6464-4C38-990A-53C279CD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1809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CEC812-E2A2-48E9-9135-7AAF3B40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2576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7286A2-13C6-4347-BAD7-AE5491757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438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157D9D-2298-4A78-BB4A-950FF1F7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2576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442285-B7F4-4EBD-87AD-401A34C5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438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DF068A-9DE1-4146-B80A-1929E778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6877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DC4C5A-9D59-40AC-A46F-333713B8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0485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E46575-FDBA-480B-AB19-3114A6575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6877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D4B32E-513D-445D-8100-6114974A2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0485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D59F4C-485A-45ED-9F08-D651BE0F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022 / 142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06CB15-EAF7-4822-8605-7E070DD5A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F40C83-5602-4E26-9B13-9C950820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718343799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AE883C-5BD0-40D3-AA76-A3BD6F25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13825D-1103-49E4-ADC3-C25FAD021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C98218"/>
                </a:solidFill>
              </a:defRPr>
            </a:pPr>
            <a:r>
              <a:rPr sz="2550" b="1">
                <a:solidFill>
                  <a:srgbClr val="C98218"/>
                </a:solidFill>
              </a:rPr>
              <a:t>023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4EB138-BE2C-43F4-9661-6EFC5747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SEE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88F48C-8412-42B3-B3DC-C549AE72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67000-2D20-443A-A333-3AD57FD3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Design the telemetry path that proves what happened.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4283B9-FA87-4E1D-8512-52068F69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813F3C-9BD0-45E0-AB35-FEFF3717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C199A3-6B99-4DD2-8E6C-5FD9A4CD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D73EB1-C4C4-4F92-8EE9-316304C1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What a practical SOC blueprint looks like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5E3537-BEA0-4B12-9F9C-239CEC97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E2EDD5-3C69-4DEB-80E1-691BA29F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DFAC3A-53DD-437D-BF69-E8A833AC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7145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0B673D-E4C8-4976-943D-9A387B49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71450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7141BD-5259-4CD8-8750-70B2532E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19075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8218"/>
                </a:solidFill>
              </a:defRPr>
            </a:pPr>
            <a:r>
              <a:rPr sz="1650" b="1">
                <a:solidFill>
                  <a:srgbClr val="C98218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965826-19EE-4039-9219-141DBA6A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686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08491C-1ED6-4629-B5CE-C9549DB5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24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A776F5-0FEE-438A-B4D7-E5E07656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8605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shows systems, telemetry, tools, ownership, workflows, and escalation boundaries.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D5683F-D945-4A06-A2F1-C4FE775A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448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2E3620-4332-4C63-AF42-6039769A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486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1471C5-0216-4432-B8AE-F030496C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4805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identifies what is monitored now, what is blind, and who owns each gap.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45044D-53EA-4A2B-8623-1B2010A64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0386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A46284-C927-4DFF-BFA4-A563E0FE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767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CB6625-9D91-4532-B7C5-78351C3E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0386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is simple enough for executives and specific enough for engineers.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8850F2-04CC-4B79-8F5A-1E34F450D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72440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8A7406-CC88-4BED-B189-EA9FF621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9339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42975E-9718-4B5C-9709-F30DB1A9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3395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363B62-D3F0-4061-95FB-C2517DCEB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1341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023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68F674-D9F6-4D35-B665-AF48FA76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6134100"/>
            <a:ext cx="49149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036E1E-5FA7-49FA-A491-23BE3D1D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61341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62728342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283AC5-F450-41EE-9546-02CB9DE4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High-level SOC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651F9-EF7C-4453-AF8B-43C8D606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28CD9-1ED6-4D84-B0E7-45E02434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940A56-06AC-4876-A3DD-F8695812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EFDE59-3412-432F-BD56-48276A96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7CAC15-B902-4AED-9EA3-BAE45ADE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92951A-E86F-4EC3-B4A2-0DCFFA2B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A311B5-EFC4-447E-8E39-FA2ABC81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2DF731-A5A2-4239-A1DE-4A6BDFDE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86D643-5D9B-4F7F-8415-A3A503A2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01F29D-1B1C-4CB5-9D0C-73134A02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F39EAC-35E0-4E8C-AC0C-01848565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37FEDF-7066-4D11-B3D7-F06FBCCE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BAE93B-39D3-4516-AB3D-E5853ABE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C97BE8-2FB8-4182-A4DC-430ADB64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E50654-3A94-4999-9811-0C942205F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5F08D1-EBB2-4691-BB4F-B3F13FA84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0B8663-9709-4A58-8A23-700AAD5C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D28D40-99FB-4DA4-867B-ABBFF26C0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5E6AE2-AAFC-4F96-BBEA-666DED77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FC23F8-A8FA-49F4-AEC2-3364DED9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E8E553-79C6-4E90-B103-6EF7DAAC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A5BC9D-86BF-4FB8-AFC9-61E9F2BF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Telemetry sources feed collection, normalization, analytics, enrichment, case management, and response.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AADA88-CB32-4750-B12F-6697DD8D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6E0EF8-B2CE-43F2-8E96-1B1E1B96D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16B022-C6B3-4D9E-BC91-0D1D50F6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The architecture must represent identities, endpoints, networks, email, cloud, applications, and data stores.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168996-DC73-4545-9A4E-7C8A7F0E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911633-CC94-43E2-87E2-6F9395FD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Control outputs include tickets, containment actions, reports, and governance decisions.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37B84A-632F-4D63-9AF7-D3F7C64A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748F66-8F1C-4EBF-B9AA-0C8DEC74F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F49112-27F7-4EE8-9379-BF1DB196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024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84F4B6-EE66-496C-B30A-9A75EED2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3CBD4F-E5FF-4E1A-9958-51972B3F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1556427582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BF4294-216F-45AE-809D-149FF83D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Telemetry pipeline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5CC178-9879-427B-BE72-50489E6A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95FB74-4A4A-4D86-AA50-B3CFD14C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735045-E132-490D-8B75-A6D3109E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0807A-6673-4711-895F-C1497034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60C81-8E21-4419-9E38-1071AA27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414C12-45F8-44E6-A63F-1D6E1A7D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DA5EC6-DD40-4DC2-AE32-4B41B420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9FD809-C682-4255-B5DE-BBE512982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EB377D-3CE3-47B6-9206-7E765B3A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790ED8-E9D5-4B70-AAE7-579752CB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62329B-0078-4CC8-8057-8EF9721C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D68EA9-B072-4C12-926C-665251A1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4506B7-7054-42E0-BE4D-729A230D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7144B7-B667-443A-943D-314CF156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7597A1-1BBA-4241-ACA3-83DE7C2E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B34E45-71DE-44FA-A102-EDDAE23B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29C3A3-1D1D-4742-9083-BA4C4A85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14B983-AF0A-4629-9A8D-97F8ECEDE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A68283-F070-48DF-9EA8-750AA72E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BF54A1-102F-45EF-A2E5-AC2DE168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1FD4AC-39FB-42EB-8F2B-AAF89CF5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0FF557-8F12-49CF-9BAE-421F5AB95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Collect only what has an investigation, compliance, or detection use case.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941FB3-D4C3-4F7F-B6A8-AA7B5217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478A7B-7E21-471D-8333-335CDC61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6EBB95-EB57-460E-80D6-2ACCB8AB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Normalize time, identity, asset, and severity fields so evidence can be correlated.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A8F0B3-B0D0-4DD3-9645-11E6A9E0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EDDEF2-9506-4982-B7A3-79B2DE671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Monitor pipeline health because missing telemetry is a detection failure.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A8C149-1532-4909-8F4E-35586688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A2AA94-CA68-4B96-98B4-3BCB8A92D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7C2F7D-3CDD-4446-B7A3-3DDCBB32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025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CA8312-BADC-4511-B4C0-CBCD3F8E2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D10AAD-109F-4EA4-9856-C62ACF91D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58839902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7E989F2-F7E1-4770-BF74-3B6B896F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Endpoint telemetry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1A614-8D57-4B3A-8509-A96F11FC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2381A9-7827-4324-B75C-C12C4329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1E322A-38C2-4664-8126-3446F16F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808FB7-ED9A-420D-9B0A-FB43CFFC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7184A-22F0-4268-ABDD-D458A99D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C9CE76-2E20-45B3-AF33-AF6347CE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193524-DBD3-4CEC-A525-E1ADB11A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89D1AD-4A4E-475F-B9BA-48269F59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8E5897-5DEC-4EB5-8B79-F7D7D2D4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B3A1A4-D4A9-4C40-9868-919D2565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Prioritize process execution, parent-child process chains, file writes, persistence, and isolation state.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339039-E65D-4DE2-B290-CE1C7FCB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BC4AB-D800-4EE8-A2E3-4F2E5FBC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84BC51-65A1-4892-B623-EAFAEB01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Endpoint context is central for malware, ransomware, credential dumping, and lateral movement.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5ED86A-C69F-4C70-BA77-2290D02E1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91D2B8-8A50-453B-9207-E0EE081F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606311-F7B1-445E-AFB8-F1A6D5BE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Define who can isolate, collect, reimage, and release endpoints back to service.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5CCA4F-E38C-41D0-8D07-E01F06EC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88578A-0FA7-412E-97F7-448B0F82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5E884D-1208-44E0-9A5B-44821508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1AB788-28D1-4BE0-AD12-D1D1F660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BC7AE2-2872-4344-8996-2C21998B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B0341E-F2F2-4543-BFFB-9DD1D953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6E0D1D-C21C-4659-861C-8F0B567D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4F525B-1BA4-4A19-AC1C-1DDE39C8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AF2B79-6345-4AF8-A7C9-DC0725C3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026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B7BA1D-09B0-4818-A7F3-4CB83145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98B411-4C3E-4750-8528-8295F9B8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542202814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93FA8D-46DE-450B-B498-2DFB9EAF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Identity and authentication telemetry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BED1AE-01D7-459A-B9FF-8BFA606E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C32F2-7533-4DCC-B87D-D9918222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F3703-A93B-4F9A-AB81-AEAEDDAD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83148F-26B2-4109-B6D4-3D646EEA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2F2E99-55D3-41A2-AEE0-406BDCE6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EB4527-2EC1-41BF-B153-5C55BB8E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3A111D-BC25-42BA-B87B-7A97D707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14A779-F38E-4B00-9259-279EAD25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E0A8B3-E3CE-4E84-8489-19F879C2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320A0A-A2CD-432D-A09C-454D0FB9A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Collect successful and failed login, MFA events, privilege changes, token activity, and risky sign-ins.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205BF6-2C30-4D17-8657-B95BE343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0A5CEA-6171-4D66-8BEB-663D04E0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C4841A-86AE-4378-B706-91B49E5F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Identity telemetry powers brute force, impossible travel, account takeover, and admin abuse detections.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528E1A-5BDC-4A2C-96C9-ABFDAEF6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A46636-FA3F-4C92-91E4-8B63D24A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D496E5-D4C9-4720-A4F5-0ACE9BBF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Tie identity evidence to HR, IAM, and business-owner escalation.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B68DF3-2587-4193-BF69-97858147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F3CAB7-011A-4C1D-81D2-2EF45910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D328EF-F85C-4139-A702-1935EBC7D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A22EF9-37BE-4913-97CB-75D46E73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ADBB43-0F51-4A7A-AC7A-0F3E9D15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B5E086-31ED-4A54-BABF-DA449620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2930AA-FBA7-4DF9-93F0-C194D7B0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20DA51-9A2B-4F92-AEBF-7611A721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79CC03-671B-45F1-818C-DC472D26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027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E31B17-D928-46EA-9039-9387F7E7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C14DBC-C1EC-4827-8769-790E430A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68615919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611F0C-14CF-4DE5-BEBA-7E7D7CF4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Network telemetry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F8966A-879F-4A11-AE09-2462B838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6AD724-E8D7-4420-B03C-975D0D83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9D8228-7311-4DEA-9AF4-C3D9DECA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87753-DA12-4447-9B9B-EC484158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711B5E-78AE-4E6B-A45A-B39071FB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94F7B7-E20B-41DB-A4EA-D1763417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8EC7F-6673-4411-A161-61E5D433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3DEBFA-BA33-4A78-84ED-187A8BAA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986E52-A8CA-48A5-A87B-30BDCE5D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ADAEDE-045A-422F-8A81-3D114C1A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Network visibility supports C2, DNS tunneling, exfiltration, scanning, and lateral movement.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A424AF-50F6-4F9B-A012-1211518E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02ECB8-5F0B-4374-9677-DE710960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144DC4-FC1F-40DF-8005-60859B5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Firewall, DNS, proxy, VPN, flow, and IDS logs each answer different questions.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4C59FA-4758-4058-86BC-4E426E1B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3F2550-E328-483B-96F3-F60F0946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DE0F9F-344C-45C6-A676-67AB0AC7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Do not treat packet capture as a substitute for asset and identity context.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762ED6-DB38-4F8A-A453-B562D48E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3CD9EE-10D3-4583-9F0E-6CC96869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A88977-6D6C-43EF-85C2-9D0EC2A2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6AA9C5-A7F2-45E9-8FF9-11B1D69C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961C9B-DD6E-4B01-A512-7ABF413F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5C0DDD-3B62-4510-9E44-F0B436A49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056E37-2867-4042-8B0F-0E308BC3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7112A9-7378-4208-971F-AB3C9FCA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7B470E-1C7B-4738-A7CF-BD520ECC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028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C44759-A2C2-4CAE-96E1-FFAEE581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A6DDAD-9F88-43BE-BD43-C9819A7B4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360366651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234912-5691-44B7-B662-3D8F1687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Email and collaboration telemetry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34BF32-DB97-4724-B469-0EA74375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34EC20-7076-42BB-92F7-270EA759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6886D6-5BF3-4D17-9641-99BA4244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6CB524-2DE2-48B2-85E8-00EAFB32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07B9BB-225B-40BF-AC6C-3A5D2280C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634E15-A589-4EB9-AE02-B59CFC52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A43FE1-D564-4024-B6ED-5505E7E3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68245C-0F75-4D7B-815B-FBE02E8A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4DB764-1FB6-4DE1-895F-BDBB8C73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76548F-06A1-4D5E-94D7-3597918F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Email is the front door for phishing, BEC, malware delivery, and social engineering.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ABAC40-14D6-4D2F-AF60-63A39219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B70EAC-D06B-467C-A185-E2B2603C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E8B373-1C9A-4667-B1C5-035F6FE6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Preserve message headers, URL clicks, attachment hashes, mailbox rules, and forwarding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30E707-B3A8-4FBE-9260-956E476E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52F850-DD29-4E99-8043-990E07D91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BB94A3-F584-4507-9989-A2F59FA6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Collaboration logs matter when investigation artifacts or personal data are shared internally.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013AC8-BF39-4CA4-A51C-FE8C981FA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7B9C6B-70FF-49C4-992F-64687253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D479E4-98A6-4512-B66B-B73E9D42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B415BA-A54B-4F12-9870-4EB43985D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BBA004-D572-43FA-A1E1-9785A599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77DB06-271D-44BD-85B1-1346DC04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CC204A-E818-4BDD-AC6A-D72CA957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C8A318-A69C-4EB9-9F64-5A5B59B8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92633F-8931-4A81-8506-A3F1BC8D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029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97FC7B-04F7-431C-8D66-27958A5F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216351-C73A-4E97-9687-6EFFE48C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902225424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FD4A88-CAB5-4803-9A08-F3B2ECB4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Cloud and SaaS telemetry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F9C1B3-6C6F-449B-A0E1-0C04223E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82AEE5-A60E-4201-A5D5-0C374E24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3E70B3-0795-4808-BDD9-08C36D27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1CD3DA-7844-4C9E-B2DB-102903BF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C69E2B-E3B8-4D50-8DE5-BFA5F24E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638B41-9B3F-4D4A-8B07-9D18F16A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4FEB72-594E-40B2-B21E-53D3D1E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5A47E3-C762-4A71-98F7-EEC54CD0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D3F3D7-A475-48D2-AF56-60DDFF46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08EAA9-28B0-42CB-8D73-10D1CF46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Cloud incidents often start as identity, API, storage exposure, or configuration events.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9858D8-114A-4C32-AC13-A87D9E44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807C87-7CC7-476D-92A4-3177D5DB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EC6489-003E-4CCE-9BDC-0CCF76B9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Prioritize audit trails, administrative actions, storage permissions, IAM changes, and workload logs.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783C75-4355-4E64-9BA4-2DFAF57B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10F745-4629-4378-BB58-84F20B53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7B6267-FF3E-4CBC-8397-9A968B77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Assign shared ownership across SOC, cloud platform, application, and data owners.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9FA7C7-0212-4883-B1C9-40A0C3D8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BFE5B1-523F-425B-9611-1066B441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F22ACF-37BB-42E2-A73B-DC7A2D73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33730D-0D60-4B4D-BF6C-C30767B4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9BAB93-E0AF-4E63-8F77-A38FCF5C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FBE3A5-2E8E-4742-8A9B-3BA5BADF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862B6F-729B-4D6B-A18F-B1C5C7BD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53E6FE-CACC-4847-9F8C-F15DB5B5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99217B-0915-4D1F-BAA1-FDD9499C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030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E864F8-6952-4CE3-BE11-423EF55D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9D5437-4B06-43A5-B803-FF42DDB1D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1812010648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0BBD16-1304-495C-8F5D-870C9C6C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Application and database telemetry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4EE67B-8574-4CD9-997C-AFF35CA2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16AFC8-D400-4AEC-A14F-F0AF449A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C2868-CB8F-40DE-B90C-44E4FD8A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BB5A30-76EF-4250-A05D-E5058B7A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D1DF04-0130-4108-9D3E-DC4DE2CD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E330C-0BE9-4B8C-A55E-48B9E3EB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62C750-1A9F-4221-8C22-8B148A1A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FA2BC-2E69-47D2-AAD8-778298E4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AC1BF-0377-4288-B406-6F1AD965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0E8AC1-389D-4989-A213-1CAC3BD8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Application logs prove user action, transaction context, data access, and abuse patterns.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B91573-818A-4E57-9385-E4767329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9FF333-F944-4795-BD71-A3539BC5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94AF64-01D0-4594-A7A4-38B3E927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Database access logs support insider, exfiltration, and regulated-data investigations.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9C78A9-D668-447F-AFAB-01AD5E99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147831-F766-464F-BE52-47677FA3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E4CC5F-F08E-4E3D-A875-BDC0039B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Instrument the systems that hold critical data before low-value infrastructure noise.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2E2B34-43AC-4074-8C4B-1D5541AA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57FE08-8370-477C-9311-EA68D35D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B69211-4ADE-4199-8260-66C069DF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5751F3-6446-4A6E-9257-D8AE05AA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5216BC-DB75-4E14-BFA6-8CA0DE17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26A60B-7DB8-414E-9168-BAD98C03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E16344-025B-47A7-AE4A-9F399DDD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25FC0B-0228-4694-9F3D-93BB4A69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482A42-0CBE-47B1-BAEA-C2B0A535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031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83C890-6ECD-47BB-AA5B-BB20BE37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2502A3-D9D4-4477-B4D3-CF95EDCF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75265979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A841038-8E0F-4531-A019-10D6232C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Alerting and enrichment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A905E3-B08F-4913-8E67-584BAF10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A5DEA8-0064-411E-B6D1-E3B5104A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06CEC-921C-482B-8F12-4CC0EE32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FE0B40-91CE-40BC-8BE5-D3F697F9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76DEF5-6686-4D91-8D8B-DC31894C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4CBBE-4D50-4C6D-BF57-BF0A0CC1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C7B87C-1B73-4F5B-AFA1-12D765A9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3FAE9C-0ACE-4DD6-BEAD-4D4AFE4C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6CA13E-3E5E-4DBD-8EBB-79979535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E486F-EF88-42E4-A46D-EFBA317F5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AF1EA4-50C3-40B0-A8E9-A2E75A53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1B597E-AECE-465B-9658-14A53F41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894530-3A97-47D6-B0FD-FA63889A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FE7A4E-4DAB-416F-AB86-B493D296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37000C-6A3C-43ED-87AE-F30D3B6A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3585CA-2CE2-42F8-A0D4-71286C3C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2AD01A-13DB-43AB-81A4-96802EE1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C2BCEF-2763-4CAA-BC20-9E27A084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A941E2-CE4B-410E-AADF-91B82E9C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20D7C2-5F4A-4E61-8E7D-15DCA589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B539A7-2994-4571-968F-EC251EA2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6688F9-B77E-48EC-885D-92402288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Alert quality improves when enrichment adds asset criticality, identity role, vulnerability, and threat intel.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18ADF7-15F5-4A44-A6D1-205BA0B3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CF52CD-69D2-4D40-8CF0-1FA550AB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0EF475-0D26-41D6-BB7A-8425D88C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Enrichment should shorten triage, not hide unclear detection logic.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B82D1C-C641-43E2-86A5-995C25D13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AFB416-523A-4941-821C-765F704C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Every alert should route to a playbook, owner, and closure reason.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4910F7-2131-42B1-A9DA-6F91BB933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ACEE4A-C6AB-40EF-B9C0-6E0B7536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34C0D7-237A-4A4D-B967-6F97ECCB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032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BF542-45C2-4C7F-A870-5753C9E1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D5BAB9-2A48-4606-B78E-A2AB540A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1068586415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AD472D0-D45C-4064-A29D-0A41AF0F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Case management and response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B4AAC5-CD6E-4ECA-AEA0-84DFBC6B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DC4D26-7D9A-4262-AC8B-E84CF50F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C92BDB-669B-4F2C-86D9-1E20F86E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7959C4-5E86-4414-ABDF-AAD92D9D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BB0F51-29A9-4F0D-9306-575AEF9C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8B2615-ED1B-4A2C-8809-FFE5D93B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A00388-4D69-4107-83EF-B944E316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A7A79A-C81A-4331-8973-EFB74808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97B0A-B8A1-47EB-80D3-107CAB6B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6390CB-0F23-4577-B50D-D9359D76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43B8C2-6D84-42B5-A13F-A2D2EC45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86EE4-9A34-41B1-A605-46F590B3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FAB474-763D-4367-BB09-5662002A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7F10AF-4D20-4EF3-BB38-F4F5ABBF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BCDF69-DBBE-4154-8F6B-4D0747D9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711B62-C809-4645-B070-D8A45EB2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2C0339-709B-4B77-8B4D-DD1E3C91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6FB19F-FC25-4564-9DCD-4378383E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BE102A-41D8-415E-B094-8377CFD8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AC711-0595-4188-8B48-7A2DCD70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62F5FA-C362-43BE-B7FD-1B6F80E9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3C0C2D-4AE5-45E8-9BC0-C588D7B8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The case record is the operational source of truth for decisions and evidence.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2B717B-83A8-4425-9EEA-EF2A1B91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B5D0D-5129-45BF-AC07-00A05DF3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71BA17-D096-4262-B0CA-3360A1199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Separate facts, assumptions, actions, approvals, and open questions.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A7805B-E447-41C4-9CC4-4A782D9B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04A616-DC1F-43BE-A26E-C5606BC7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Design handoff so another shift can continue without re-investigating the same evidence.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1B7803-EFF3-44E2-94E6-8474CC36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847CCF-5A58-4AC1-B9D3-ECAD04D3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FD9A3F-B1D2-45C1-BC9B-5AAE6B88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033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6A0BD9-4B70-49F3-9E66-6A971FAC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BC925D-E04A-48CC-BB87-309CF3AF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274553175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A9C154-C3F9-4D65-9FA9-DB53165F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Log-source prioritization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647920-5EEB-4519-A888-92DD55E8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D95CE8-DCC9-4794-8BB0-F6FE22AD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5E31BB-5614-49F8-AD97-42D2AFD0C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A951CE-7409-403D-88C6-22922AE1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FCDD16-731A-40C5-9F7E-754FC205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7FF223-4163-4403-AE06-9752A301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FCD1C6-C7FA-4BB6-9726-FE1BD989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E80C23-C4B8-430C-97BF-93FF2480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6C0CD0-2E01-4D30-97DC-C32935BB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40A692-65E5-4005-9CEA-869CDDFE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928175-EA47-4A40-B9FB-C15F6066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D6C182-0263-4702-A154-E54863A7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B88755-1C87-427D-8CD8-69EF9A84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9C5CF8-8517-4D10-A72C-8F932547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7AA6EE-0744-4DF3-80BF-66E242C7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1BC37E-9315-45A4-B074-5182EF5B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A8D195-AA6F-4D6E-AB3F-0099A695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C2367F-7CC5-4BC6-9CC7-D300E1551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858AF4-1F08-4CC7-A42B-D07D74FC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59247C-436C-4D34-A84E-C749D9D7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D2B5D3-1181-4E99-9A5D-7FC68468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0BC512-732B-484F-B17A-A42646E4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Start with identity, endpoint, firewall, email, cloud control plane, DNS, and proxy.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66054A-E322-4910-A005-DB3BEF35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70E811-2812-4B53-B681-5ED16456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B4FD23-C012-4334-8C2E-C52DA08E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Rank sources by threat coverage, asset criticality, investigation value, and retention need.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80A7CF-A1F5-4DFA-84EA-C183385D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FF1876-E54E-46FB-894E-E3E3BAF5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Delay low-value logs until storage, parsing, ownership, and use case are clear.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D2534D-3734-4E11-A28D-C1CB7130E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BFA305-5CE2-4FCE-B14D-2C7930FA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282A80-B941-42E5-93A0-10B6CBBF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034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520FAC-1D2E-47C1-82BE-2F4AE5E6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420F03-F1A7-401A-9363-B51D7BC2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1740805263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831427D-BB97-4559-B0F1-1A939C78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Trust boundaries and data sensitivity zones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34CE16-94EF-4C28-A37B-B3D7C777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B594D6-86D0-46E1-BDD0-4656D0A5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DD2D4-06B6-46FB-90C8-AACC0232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FF5F13-1B6E-4AE9-8006-9E2794ED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0C0C39-D3B7-46C0-889C-AC54C13D3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DA3C2C-A832-4E1E-A423-E1447CC3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3A042C-B159-4CDF-9E43-D10305EB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1625BB-7DD9-4515-8919-173C8DC1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FBB14A-BDBF-473E-8EF0-98BFFDAE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384A2B-2CFE-4BE0-8C8F-7FA53232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Mark where personal data, regulated records, privileged admin paths, and third-party access live.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851920-F1CD-4865-929D-8F6676D9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C6A73F-5175-4C9B-922E-F9FD779A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1BF007-131B-4B3D-B1EE-D3F65095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Trust boundaries tell the SOC when evidence needs legal hold or privacy review.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9B8A7C-47F6-4C06-9D17-25774E98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EAED0F-550C-4A07-9EA5-E6AEAC07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C0E441-BAC6-4C1C-9369-96290986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They also prevent response actions from breaking critical business services.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3D4DB6-CE92-4454-AB78-7A819614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9EE294-7A07-4CE9-853E-03499B46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747915-1F71-4107-AF2D-54AEBCC4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8DD301-E51E-4AD1-962D-34BD99DE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0F7C6D-21F6-4FB9-8D59-BD61D88B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56F832-F70F-4E9F-990F-8B2E5770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1ABEAA-5E2C-4918-A19D-205BA25E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AFCA66-8F80-47D6-9E67-CD620073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E02AE8-3AD1-4E9A-ADDF-0A8833E9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035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2B1932-392E-4A35-B292-2A98C0847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3B1F9A-CD4E-45FB-9DA8-8065BB26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13584878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1D22B7-A056-4B8F-B787-7B996537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architecture pattern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3B2949-7C04-4D77-B02F-87782CC6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43BD0F-F44E-4639-87C7-C9A8F306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6989EE-E63A-4668-9543-C6922BAF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3AAB10-0893-434B-B96B-B0B8AE71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442E7C-CD77-4605-B4D2-B9C69FD7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A56D2F-8C64-4E29-A470-A12EB99A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14713-0925-4657-8624-69478E5F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921CB2-1AA7-4F36-975B-E43A773F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FCC33D-E349-4BE2-89DC-64F28F24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Pattern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4111D9-AA0D-486C-9B53-95C2585B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DA4A8D-A1F3-4F7E-8BE9-3AA526E5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Best fit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8E24DB-A248-4ECC-9952-0B070FB2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A7AFD4-DB5B-4C36-9127-8E536AFD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Watchout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942702-A2A8-4AEC-BB47-AF342910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3A929C-5CDC-4986-92C5-42B6D679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Minimum control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FCB76A-3879-4927-8487-DA7286C47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4CE556-0D76-4EDD-AB0D-B71F921F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Central SIEM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D6271F-7D9B-4694-AA3C-80657606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CF2763-E084-42A4-98A7-D798553A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Mixed environment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1C1D80-935A-43DB-8AC2-17BB09C3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28E5F2-A65F-4B96-B6E2-DE38224F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Ingestion cost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9CCC21-6FD9-47A8-8A92-CA08B916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4EDE90-0F24-4A80-A099-69D5CD1E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Source health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645F3D-C3C6-43C8-B955-3DFA9AE95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F0B1C7-F710-4943-A167-87280627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Cloud-native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A8DF64-9999-4517-9448-86278E77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75E165-729A-4A46-A180-720A1F9F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Cloud-heavy org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1AA0F6-E0F7-4FE5-B89D-D488130F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A0A2FF-BED3-4A69-BEF6-D98FA512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Provider blind spots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5452C5-12FB-4895-BBAC-00C37568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43B70F-509E-4B2C-9201-5119846B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API audit logs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05A285-E58F-46F6-ABB2-4C6B7353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B58CDD-299D-4CCE-A5B8-8BC3CBD6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Hybrid MSSP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51A77D-1BAB-4DD2-9B9E-7B348D7B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803871-585C-4CD2-9CD8-E542646C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Small teams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951FE3-007D-4CF1-B749-70B90B77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D874B7-8DED-4240-919E-B1D1F645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Context handoff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58410B-8590-4199-8148-62954483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A56FA6-73E7-4D56-BE59-8A9EC1BF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Escalation contract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4DB1639-A2CD-475A-8845-01D3F3FC3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036 / 142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AB152BC-2ADA-45D4-9E7F-5871D325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4864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949DB7-7F7A-4B51-80FB-C8EB1B3A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4864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813058478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B61A2E2-5335-4D70-9D5B-01CDD1DD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telemetry coverage and blind spots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CA51C2-82A5-4A25-9FE1-5861878B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E94D5E-1DA5-4C48-8241-52FCB488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F2CAB6-7A1A-4C20-8FF7-7368489C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A3D720-E0CB-4DF6-8090-CB7442FB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F0A8DE-2000-4F32-B5A4-F31A78B8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E1A152-DC52-41FA-9436-837F56AC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C41B3B-2E15-43E6-89B1-EB64719E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D2FBB9-C6F3-43B2-A8C9-2CD005B9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BA6A3F-8EDF-47AB-B5B6-C4FBEC7F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F62BFA-BC00-4038-A598-EEB0ADC8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CD9A74-029D-4ABD-8D92-401D91B4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Must capture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787DEB-2ABA-4370-87EF-68B75237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C252A3-B0DE-4515-8D3E-97C5F950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Common blind spot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6C39B3-8735-45EF-8CAF-BCF4026B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632574-B9BA-4B52-944D-BB733D00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Owner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64DC25-8AB3-4F0B-B779-BE71626E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74B712-9B72-49D2-AC4C-E1C1E095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Identity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74EBCC-B4B0-4D76-8BB1-F37E93EA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86DFB6-629F-4C28-AE7A-8EAC10DF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Auth, MFA, admin change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8C032D-602E-466A-ABBC-FD53BB6A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EE4D55-0E4D-4346-A87A-1692F40E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Token/session abuse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F280DF-C442-4CE6-BDCD-B739AE2F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4DBEA2-FBB1-49A6-8F1F-FB32B023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IAM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3B9BFF-30FE-42CC-B9AE-5586DBE8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EEC6C9-B79C-45E4-A6D8-D8FE3029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Endpoint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8E5ECD-A23A-4AAF-826A-16361BC9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28DC34-6169-413E-9C45-76836CFF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Process, file, isolation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91D65D-7A86-4E67-8ABB-97AA9CEA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EFE902-1964-453E-89A6-3573222A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Unmanaged hosts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B4DD86-9138-43C9-B765-4F1E6329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41714-3E0A-4DAC-B74E-42ECAC5C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Endpoint team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4B235A1-520E-4D11-A741-CBD6FB36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30160B8-2AE2-4846-BF95-AAAFEC97B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Network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51C6F3-D77A-4B46-B542-64CE876F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ED132B-F166-4334-B48E-8C2BDB4C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DNS, proxy, flow, VPN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FB7544A-0E34-4093-9EF4-1543C87F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72F4F3-128C-4E92-99B5-87BCDB19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East-west traffic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78B814-185C-4A61-A496-48048DF4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93B4B2D-56B8-4344-810D-73BD35A7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Network team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8C44AF-712C-43B3-9E39-F44958C2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F835DA4-E432-4593-A226-69880452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Cloud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B0D2EB-0883-4CD1-A232-C867AD00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182E9FE-B953-4DB5-8E27-E6E22472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Control plane, storage, API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39E67F9-F882-4DC9-9409-B7AD5BDF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FC665A4-2D30-41F6-8FD3-6CAA92EB4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SaaS admin logs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181B5FA-7E6B-4EFD-BE6B-8C8E28A94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07DC662-A586-4473-BA02-8F635686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Cloud owner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8623FC8-ED1C-4DE8-A15E-599E86A94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037 / 142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E1373C4-81A1-4D93-B383-B008AF4D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61DFE19-7435-4742-8E68-9D5D5B6E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62865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1850510781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65EEE7-8B36-44B3-AD0A-4040C209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Worksheet: draft target-state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C99EF0-26BA-4C6C-B459-190F0C4B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01DB57-83CB-4FF8-9386-71A2D5EBE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589D14-930D-47F5-A084-2AA3E818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407F8A-31C0-40CA-90A2-9DCA8E82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D88B64-4917-4F07-A344-6C5F24EA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0835C-19A7-4061-B428-620F12B8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352A99-24F9-4288-9F80-83C72652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DAFCF6-898F-4529-A50D-573368A8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C990C7-1095-461D-90F1-ED8E9EAA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8218"/>
                </a:solidFill>
              </a:defRPr>
            </a:pPr>
            <a:r>
              <a:rPr sz="1200" b="1">
                <a:solidFill>
                  <a:srgbClr val="C98218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E8F81-CB60-44BA-A0B3-F72C2573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89D445-BA64-4119-A668-AA2B490CA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01ED1-876D-4B6A-8C9D-4BD57B01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E65DD5-82C8-4AC6-8B52-EE346CA8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13228D-5F11-445E-9FEE-1AE76DCC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A2E37F-A1E0-4BE6-B66B-9F55E5D6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38F2FB-2883-4F1F-B55D-16A4F3AD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DE3612-0F66-4F3C-9124-14681A9D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1AF20F-F729-4FF0-9D95-07572796C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C1B431-C06C-4229-9652-33EB099C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493A93-8A18-4C12-A569-B765FC60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BAF002-8BF0-460A-B000-59ABA291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4AE9CA-EECC-40A1-ABE2-C0631A5E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1D3DBC-D2FC-4E19-9C2C-21501DF4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B63EAC-70C3-4376-843A-22AEF33A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357332-6882-4234-B157-DC7EAD46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F8DD0D-B835-44D8-A8DB-82F64D2B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FFDA1D-432A-438E-95B1-983A9BF2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29AAD0-1DAC-4BFA-B314-51456C49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B23F86-CB20-4604-9B40-DCB11FD2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70DDF7-05D8-4107-AD51-4F44D333A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2173A6-4659-440E-970F-91B6B9A3A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27D7B5-89A3-4C5E-A64E-60790FB8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038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9A0256-F103-4086-A446-F2B58754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237F15-DD76-4E64-AB96-50633505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1303457062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F8C4FC-7D58-4731-B838-BCD9ADEE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304ED8-3403-474B-BF7E-2B07C09A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D7C66"/>
                </a:solidFill>
              </a:defRPr>
            </a:pPr>
            <a:r>
              <a:rPr sz="2550" b="1">
                <a:solidFill>
                  <a:srgbClr val="0D7C66"/>
                </a:solidFill>
              </a:rPr>
              <a:t>039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943209-7D79-4C0B-BA42-9E1DC4C4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STAFF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093F1F-6299-4377-9B75-A4E926630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0D065C-E3FF-4146-A4A3-45CACEAC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Assign owners, coverage, shift rules, and escalation rights.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226937-4C3B-49CD-A5CD-A68C7964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D3315A-70F3-41DC-9DB7-EBA73403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814511-A3C8-4FF6-A1C7-2A75494D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2C4458E-F57D-4C27-B802-D4554BBB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SOC organization structure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C879C0-CE41-46E1-BF7D-C5E431D3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090208-2F44-4D22-B84E-64B8C9E7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D1482D-B49A-4EC0-8E30-1B7ADA51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46F861-2CE3-4C35-A0FB-F85D1F4FC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17F77C-DD0E-4C88-9D0E-89B7D74F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7C66"/>
                </a:solidFill>
              </a:defRPr>
            </a:pPr>
            <a:r>
              <a:rPr sz="1650" b="1">
                <a:solidFill>
                  <a:srgbClr val="0D7C66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B01B1-BDA5-4496-8BCE-70B1E21A9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F9BA1D-EF60-45A1-BB94-FE57B746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73F3A5-FA6E-473D-8D52-4E473B69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Separate monitoring, engineering, IR, management, and executive decision ownership.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A2008D-5D10-441F-8430-07859F35F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933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84A371-FAF2-4B6F-AF67-82DB0907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51664D-ECEA-43EF-AD62-00A778D2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33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Small teams can combine roles, but decision rights still need names.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A0B628-A0EC-4201-A486-98C69EDD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5242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3A777F-38CE-4083-80B1-A96B4872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623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A2EFC2-2873-4390-8D6B-59AFE18B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52425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Document who owns triage, containment approval, detection quality, and reporting.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545B76-EDD0-4B94-9BDD-1A131C10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38150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466E0A-3DF5-41B1-9F46-683869BB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910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AEDA58-E567-4D16-A6D5-320B5849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9105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EE71C3-ADF5-4DAC-A6BE-EB2BE128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9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039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4FC981-C81E-430F-B2F5-9D1C01A7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791200"/>
            <a:ext cx="41529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7C8B98-37FF-46CD-9F40-79D7F9F3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57912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1824717469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786951B-FA67-4C82-845D-B4B44593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Role map: CISO to analyst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497FE3-2B29-48CE-A3F9-C7034EA2C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423B98-84E1-4A18-9BA3-4E7965B1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6C852-669D-486D-B965-4112524E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5F933-65FC-462D-BA4A-2B365B04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5C4311-B5FD-4670-806D-51E5203B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6AA816-785B-4911-A5DC-B4B62AC5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1ABD9-2E34-4647-B16F-0180A246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527FFB-ECA6-4BF2-BCD8-55B7C43C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6953250"/>
          </a:xfrm>
          <a:prstGeom xmlns:a="http://schemas.openxmlformats.org/drawingml/2006/main" prst="roundRect">
            <a:avLst>
              <a:gd name="adj" fmla="val 19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FD268C-237E-4C5F-B8E2-F78E6A62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7C66"/>
                </a:solidFill>
              </a:defRPr>
            </a:pPr>
            <a:r>
              <a:rPr sz="1650" b="1">
                <a:solidFill>
                  <a:srgbClr val="0D7C66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FC54F4-5F14-4B0A-916D-52E7D0A7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D3A422-DE32-473E-BC1D-04C0EA4C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8DD3B4-767F-473E-8743-2D97B28A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5DC689-C5BF-4DBC-B7CF-73EC866E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3260D7-41B9-4B07-B642-382D83D0C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4BC6E8-A3B9-47F3-9AEF-819696B3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1AD536-6496-451F-BC03-4092FF19C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9F79DB-A280-4702-BAB8-B6A03ADE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181095-E22F-4A7D-98D7-4CF7A485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13AD12-06D5-4241-B64B-B1A667DC0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035AC5-5133-474E-B7F3-E946C90FA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FC94A1-EDEB-4895-B028-B6802ED62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7A19A9-51C9-47C4-B717-FD58389D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EBA1ED-C48E-4997-8B0C-EF60E015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109A84-F966-4592-9C51-4936922F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FEC083-DAB9-4845-B356-E0EC7CD2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8EE9A9-ADA6-4724-BC9B-7A1682B7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CISO sets risk appetite, escalation expectations, funding, and executive commitments.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A4EEC7-DBD4-4E96-A0F5-0AF7B44D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6C1263-12BE-4405-8B9D-6E46E157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SOC Manager turns strategy into staffing, process, quality control, and cadence.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07FFDE-0973-47BC-9C22-B7FFA9FD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51457C-8D49-48F6-B0A5-84C62019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Analysts, engineers, and IR roles produce evidence and action in the incident lifecycle.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97D603-112D-4E73-9638-16D6A675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040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662CDB-3F94-42AC-B97A-87C2DDA5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14C1ABC-57C5-4C61-B1B0-7251A213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534901628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1B33C7-A191-4DF6-BF4A-67F410B9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Tier 1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4F3071-6D55-4BF7-B685-BF3EC59A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541D4C-C067-4E73-897C-83A5B25C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C56B60-E08F-4D0E-B586-9B13EF8F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2DFCA7-6250-4ED0-A069-77729828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9A8459-4CB5-460B-86EC-2137E2E2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3943B1-C41F-4334-A0B4-9DAFCF58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DA53E2-BDAB-4373-928B-AAAB97B8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11D0EF-5F37-4A79-8C09-02A572EB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FCD235-6170-42C4-B03D-77BADCEF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1D494C-8D07-47A6-95C9-48CB6606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Monitor queues, validate alert context, classify obvious false positives, and escalate confirmed risk.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4E15A0-4871-4C2B-8555-14888B46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364D26-C86C-45C9-B2E2-6E6A8B5D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1B2848-BFC6-4761-B1E0-8154AC7A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Capture initial facts with timestamps, source systems, affected assets, and confidence.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ED5B13-5CAB-4674-B6FC-0E33E88F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873CEE-A09E-4F6B-A7BA-4A0BAD62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55D285-7D9E-4A5D-AFEF-AB0453AF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Avoid high-impact containment unless the playbook and authority model allow 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6AC0BA-7064-47F4-BC56-CB10734B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711A31-085E-403E-AFEC-ABDBB553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A98850-C053-425E-AB7C-CCB8FA75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8EC22B-250F-493F-BE6E-F5C8A23A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95F956-E9C3-43DF-8695-0A83AA96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570070-C90F-4CCA-A3B3-EBBA7E41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8A7D3A-151D-4751-96C0-769286FD7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AF78C5-B203-4B6B-97DF-5413D9F37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41E439-0DDD-468A-8482-F36BA058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041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2B4993-47AC-4E1C-BF1D-B93C6B06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805E70-0E88-4905-B350-5A29DF59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518999259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8688E0F-AA7B-4738-B58D-FE33E9D5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Tier 2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8ADE85-C184-4812-88C2-F27E90DC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020C3E-F08A-4E84-A3D5-6CFC23AB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625F6D-7BC7-4046-8108-0C246BDF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CB8F53-4FD4-49C8-ACC9-3ADEF3E5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D9CC8C-FC0C-4F19-B135-49A6BA1D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C3FA1A-95FF-48E3-9C41-5105DAC0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B6027-192A-46A9-8ED0-70F9D719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7E47C3-F770-47A7-A1EF-423B7638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EAAC60-7C94-4C8B-BA1F-30013B285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3AC646-6213-4BED-96CD-DF7526E0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Perform deeper investigation across identity, endpoint, network, cloud, and application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DF19B8-55EF-4844-8489-05093D3E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9DD87F-FEB2-44AE-B383-08C33DF5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DE9F16-9053-4DE4-9A19-C7D40DAE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Scope impact, recommend containment, and determine whether IR should lead.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A59919-494B-4069-AFAD-209A70362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CBED83-A84F-41BE-A747-23C19284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5F131F-428B-4927-B1B6-1F2A11E3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Improve runbooks and tuning based on repeat investigation patterns.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89CBD8-D4C6-4443-9ECD-0515EEA2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CF0CC9-057D-41DF-835A-62455FB2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3C3635-06C1-451B-9241-D85C807D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1C7767-3D10-4727-929B-C8653576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C43C14-A7C2-48ED-B22F-514547A5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B143BB-9F1D-4FA1-B880-432A6D74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5E4FA7-44A4-43D4-87CA-EE7B29E6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07A9CB-9769-466F-B267-7901A3C3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00BA8F-9219-4556-AEF6-05E03273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042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8C5A06-D080-40FA-A3EC-5DDF9B45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C400C9-75C4-42E4-BE49-BCE8948C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1889499106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83DAC4-CD9F-4B8B-9AAA-1B81823D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Tier 3 / IR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1F5096-857B-4027-94F1-AEB1C34E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ED581-1D93-4C0F-BF3E-412C4122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F01A2C-A8D9-41FF-A85A-735ECA66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D5E042-8883-4F0A-824B-405E8637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63CD15-472E-4C8A-92BC-CD0E4D74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5F8520-5EC9-4695-B9A6-C335AD48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5C6D1-3D85-4012-A069-32DC6F1A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E1511-41DC-4C99-8910-00400704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B99813-C35F-4458-8495-4D9D74ED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E85A8A-1A31-42BE-9A9B-6D579C45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Lead complex incidents, containment strategy, eradication, recovery validation, and PIR.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2AED60-B322-4A1B-AB3D-05CAD4B0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85C721-E12A-49AB-A750-5126E68D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192647-6140-448B-8D69-36178811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Maintain chain of custody and technical evidence quality when legal or regulator impact is possible.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2E219-3F09-42AA-8B49-E5520382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22C7B0-8BF8-4A88-8D57-17FD2EB5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025E41-2AE9-4B87-8972-55C41F00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Coordinate crisis command when severity exceeds normal queue handling.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D96887-BB8C-454C-AC40-E8363210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E7158F-0FC0-468C-B23E-9D85F013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B3FB24-3F86-467C-8C27-0CFE7044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66B413-064F-4716-A6EA-9FE6CCD8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52E62A-F646-4787-A943-C39CF4FD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A77955-CE79-4558-A555-8D06A74F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9C8FC2-3466-40AB-89F1-FF4AC077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4D65F0-2541-4AC3-BA6B-04DF21CE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CF972F-1DD2-4A54-8E13-2231FF94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043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0A44C0-30F3-4A8A-BC79-A80DEC80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AE20B4-AAE2-48F7-AA9C-22A12295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951357869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AC0AD1-EFC2-4D8B-B01D-134E2E4D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Security engineering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194C00-5279-4E8A-9BE8-3C3F813F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F176F2-BE6E-42A5-AD1F-245D470D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3DB0AD-E2B5-4842-A565-88B7AA4A4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7D372-7F45-44DB-9718-2049A5A2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067E30-A084-45F0-A4D5-591D0DCE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CB5326-F39A-4851-8934-793E595C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397BD-9C48-4AB0-8BF2-2950EDA3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90B994-5893-44D9-BE5C-219815E7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5150CE-6FB9-4ABD-8AD8-5C8E0BFF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C1893B-3EE9-40B1-8A32-0FEC3C70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Own telemetry onboarding, parser quality, detection deployment, tuning, and automation guardrails.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18CC8D-4BDB-498C-B575-3E7409B6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1F7438-C734-49AA-B39D-F3AC0825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6CCEB-E46F-4DEB-9BF3-8801C350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Translate repeated SOC friction into engineering backlog.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463636-A1EB-4CFC-A38F-AA7F9092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E39E7E-3F90-4008-83AC-6AD7354B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AA3650-BD76-49EC-A9B7-840920B50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Validate that controls work in production, not only on paper.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9DB049-7029-40BC-9987-E9D11D80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182A4F-8A28-4AA6-8B34-1F468E9A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9E3FC2-6BA6-4E8B-A3BA-CD2E5ECF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127D3E-4AA6-4AE2-8CFE-AE482EED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9FECA0-7997-4129-84B0-E4D28BC5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CE8B96-942F-45EF-9169-695CB20D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3E52B2-7CD9-4936-A42D-8B455103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2B9E10-4090-46B2-9C64-4742AA81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7DE0CE-27DC-49BF-94E9-720C86B7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044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5E7ABE-8F66-45B2-B318-25B3AFE36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43C427-E402-4B68-96FC-2654D58B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1856041036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F264CA-9AE0-4063-B4E5-5B197705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SOC Manager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78A662-6850-4812-99FE-70A145E0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B48DA4-D90B-4FDE-803A-F5070150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29468E-7349-414B-91C9-63ACC6C4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3ADFF-35B9-4813-9EB0-C00DDA2E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967297-47D3-4499-BFC4-1825DC7B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CB6936-5A6F-4E53-BDAC-28F36EB4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449622-0BD0-4005-9321-3B600191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6F529E-3227-48BA-9477-7F862FD9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9EAD89-3CB3-42AF-96E6-A423C7E4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3D2911-E68F-4933-B664-5CC24865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Own workflow quality, staffing, escalation discipline, metrics, and service expectations.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099645-8828-4BAE-9B50-D25D28BB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0884EA-E13D-40C1-B67B-B48947FD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09D44D-86D9-499B-A742-6D099717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Keep handoffs, reviews, dashboards, and monthly governance grounded in evidence.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34126C-5369-438A-A821-032957B0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6CA409-3539-4893-A055-052CAC78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C4DCFD-F796-4F95-8D88-88E134A2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Escalate repeated gaps when they need funding, ownership, or risk acceptance.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A25D22-EDEA-44EF-B24D-52E6B3C7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B8A7B4-937D-430A-8982-2E3B463A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F2CFA1-2B50-458F-BB86-E7FF5DCE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7FFEEA-9AC3-4C67-A3A8-FC84EBF3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0A118D-5A9B-4881-B34B-6C801EAF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DE9B4B-E4D1-4691-9E2F-98D5F04B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50ACDD-91F8-497B-B3B3-2EF6C362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62A701-F680-452D-A9F9-88DC15D1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AC92BC-A053-4A6F-BD85-4709C4A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045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D7C342-BFD7-46D7-B0AD-905BF3ED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013776-CABB-49A3-B67B-B9141054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1556014868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CFCF29-AD2A-498D-86C4-D757D8E5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CISO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70D905-882A-41F9-B5FF-0426ABA8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DFE72A-CE9D-4EAA-A806-9E7CBB13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243FAE-6A82-4FA3-9222-B0AED4C9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C482E5-48F5-44AD-9483-171EAFB3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F935B2-5226-4E91-841F-0E6B5E04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D1A61D-0EE5-4B3C-BC8A-669145BA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BAE733-07F4-4564-8C42-9F36F551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B7FC33-B007-4D10-BAC0-6DAF15E0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473B11-9432-4834-88DC-341F8425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10696-3948-473B-B9AC-1F889848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Own risk decisions, external posture, board visibility, and investment priorities.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7E27D6-C242-4CD3-85CA-71706D99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4F9AF7-F0DB-48FE-9B7C-82C3F7F5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05C1A7-F78E-4E32-821D-A2E3B1B4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Approve or delegate authority for containment, shutdown, notification, and public statements.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2ACC47-9A3E-454B-A048-8A6699EB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416D3A-0259-49C0-9F10-984ABD2E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D5BFDD-D1A8-4BC6-B496-5F83B1E8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SOC reporting to make business risk visible and actionable.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DAA24E-CD85-4901-A675-1CC066EA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4D125A-A389-4EE6-A61A-A1ECC03BF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4EF1C8-3AA8-4FF1-9A23-A009E737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6AD142-C843-44C4-B62E-BE1F6DD2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C35BA0-EAB7-48BC-A2E7-981F5205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C025AF-1F56-4E5B-8BD6-D70FCF505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97D85C-75E5-4200-AD69-82A4D5FC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3B9440-8902-4B2F-96BA-9C17F518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F019E0-B99E-44BA-A0C2-A0589DAF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046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D95802-0483-4675-A895-57BFB0EF1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4B1152-45C3-4466-9AF3-8C7CD904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269589827"/>
      </p:ext>
    </p:extLst>
  </p:cSld>
</p:sld>
</file>

<file path=ppt/slides/slide4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DBB678C-572C-4824-AD99-34CB4D4A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Skill matrix across roles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0EBA92-74B0-4C03-B2AE-B2F3E577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CBBD05-6038-4F7F-92B9-605C53E5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0CD593-635E-4471-AFE7-5CDDCDC1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7550DC-A427-43D2-9BB4-89300D9C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38828B-E9FA-46C3-9FCB-72E5F92B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81DDAE-F4F1-4B22-9D0A-FA39DDF65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53F0CD-3DC7-46DF-A52C-DB8E719B4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2853A9-4185-469E-A175-3E183409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6953250"/>
          </a:xfrm>
          <a:prstGeom xmlns:a="http://schemas.openxmlformats.org/drawingml/2006/main" prst="roundRect">
            <a:avLst>
              <a:gd name="adj" fmla="val 19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6664D-6723-4493-B132-FCECA0F2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7C66"/>
                </a:solidFill>
              </a:defRPr>
            </a:pPr>
            <a:r>
              <a:rPr sz="1650" b="1">
                <a:solidFill>
                  <a:srgbClr val="0D7C66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4AD7A7-0768-41C3-A4C4-A4B06932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F2C080-712A-4D82-8492-2DEFB3AE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D1E298-C05D-4F1C-88DC-FE8BCCE3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5318C4-5703-4F33-BC6F-0733C62B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1A024E-E0BF-4A6E-AF82-3A274FB2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944E20-A9B2-415C-8211-6CDAA59D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15659A-D2A5-4ABB-8D89-C14AE030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811A31-D66C-4D46-B736-B6D80050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DEFB07-3E6B-4F09-B0CF-42E67D3D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6F113A-0899-430B-BA55-C1F0091BF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B303BF-62D2-4350-883A-E03986A6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D99A5B-675D-4A9F-AAE8-73F900C9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FE8143-0724-4F67-BC2C-C06110BA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69944F-5931-404A-B57F-17FC24FA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2B6AA4-4258-4137-8BBC-36FFFB3D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F2E843-BC84-4904-AED0-85D71CB4E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E4007D-6F35-4797-92DD-DD4EC8C3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Analysts need triage, log reading, evidence notes, and escalation judgment.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5A28D2-2CE7-4533-915B-A52EEF4E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5F44AA-2F55-4485-9937-EB9E6DA42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Engineers need telemetry, rule logic, testing, data quality, and automation awareness.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DEB9B3-9659-4859-B421-92E9A0299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6285F9-3A86-48AD-B6FC-79556900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Managers and executives need governance, risk communication, decision authority, and investment tradeoffs.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3CB0EB-C03B-4487-ABE4-C9A8C293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047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0C79CC-9B29-405A-9B80-7703670E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62DBD3-A1E3-4D7F-8274-A99EC231F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897855985"/>
      </p:ext>
    </p:extLst>
  </p:cSld>
</p:sld>
</file>

<file path=ppt/slides/slide4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40889AF-1335-4B39-B68F-B7D988F7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Staffing model basics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D1C8A-7F84-4763-9509-F7E9696D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A1A15A-5654-489D-AD13-69044BD8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28C84C-526E-43C5-81D5-8C3DF5D2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940417-5DA0-435A-AF7F-8BB708B0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37E447-EB28-4889-A50E-5EDFB374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C921DE-038A-4C85-A902-8EFC46B3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CE1997-3915-4B26-9A8C-EC802AFC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EE6B52-FB8B-496E-B49F-016B6BAE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72E0F3-E434-4A10-BC9B-A7E9AADFD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460E3F-78AE-4996-9EA4-3C009772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A88406-DAEE-43E3-9997-22F54883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0EB858-48E1-4108-AA3B-D011596D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17F2E4-B7A8-4CCA-B5B5-734B3B34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B27FF6-F211-40FB-AE7A-F10DB711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1C9E3F-FBC6-4CE8-97BC-BDB28537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EF75AB-6177-41C1-AA37-6F0731EB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61318B-0AD9-468D-9308-ADD3D7FF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8CD492-E05B-4F59-AD96-F865E6F5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163AB5-1B27-4474-ACD4-D4AE4E41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95E7CB-55E0-454E-806D-1B2A7A38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BB6364-1DB9-4FAA-B3E1-8FE61526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B9369C-5FC1-4A24-9845-6A33D4E1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Calculate coverage by seat-hours, not by job titles.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C8807E-4EF2-4AA8-B84A-AF273AA40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A6C447-371A-4CFE-BDBF-948BD12A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343116-D7AC-4A67-9ACD-F15FA393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One 24x7 seat needs about 5.25 FTE before overlap and supervision.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29EA72-43DC-4006-BB0B-C2A2D343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E973D2-1D49-4A32-8C8A-7E34C7E5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Include time for training, tuning, reporting, leave, and improvement work.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5B6933-76E7-47D8-B03E-04464CE5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0E99A6-7235-4FBD-9AAB-70705AF3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7541DD-680D-4BD9-AD46-FE83F157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048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B4293E-8018-4777-BE40-BEC22F6C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C950D5-AB0A-413A-9FE2-F12F980B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1188248261"/>
      </p:ext>
    </p:extLst>
  </p:cSld>
</p:sld>
</file>

<file path=ppt/slides/slide4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27F882-D5C0-453A-8AE6-A947F2B9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8x5 vs extended-hours vs 24x7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3B6CDD-6729-470B-BDEB-B50102BA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B1E000-EA4D-4A52-9985-873E12DC1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4ED15-41B6-49BE-BAC7-3BC80CEE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C1969E-0E2A-48B9-9306-FD12DC62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766053-25FE-4134-99C3-DB867175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192B5E-92B5-4590-A022-8A7789F6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28F085-B97F-4E06-A67B-1ABFC3E9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A30EBE-307B-4BFF-88F3-020054C7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38A9A9-DC22-4A47-93EA-16860727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76D2D8-7D6E-4948-AA70-5631717A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8x5 works when after-hours risk is accepted or covered externally.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B7E52B-41C0-417F-87FD-0E51FF33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53F17A-DC21-4C9B-99BF-34A40181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AA1CB6-B959-4773-B5CF-BB8479146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14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Extended-hours covers business-critical periods without full 24x7 cost.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865C0C-D507-4937-A885-E4817C1B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E7CA23-78D4-4401-BE6B-73D7A965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D2DE5A-F2E1-4BD0-A336-6C92E23A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24x7 requires mature handoff, quality control, supervision, and backfill planning.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A3EA4D-F73B-4741-BB1B-BA0EA2B4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B63003-8A3C-4EE3-A8A5-A8D4ECD7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50B65E-E7CD-404C-98E1-13A233E3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78C96B-0908-4F43-A315-2AFF8AF9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0F3924-ABFA-453E-991F-79680046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051151-74DB-4E3B-B281-FE1AE0C19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2FA6F7-38AA-4680-801A-C98E98E2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487767-998D-49E1-B334-4B8EA0F3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65A733-EC72-47F6-80E2-6C71BDBD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049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EF52DC-7959-4102-9B6F-D709FDFB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840FC4-A74D-4A9E-8411-C07648ED5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1701429035"/>
      </p:ext>
    </p:extLst>
  </p:cSld>
</p:sld>
</file>

<file path=ppt/slides/slide5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019171-EBAC-4FFB-B24E-D478A548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Shift design patterns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7ADE28-E7CE-46CE-9974-F12DEA49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33FFEF-E0FB-4626-9288-6F297013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DBF589-4138-4E2A-AFCB-078E28E0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C1DBE2-B24C-4B63-9AA6-B108AE87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39E11D-C9F6-40AA-813B-D649667B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F9CF35-1741-4E0C-8AC6-07E28B55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B8C993-3FED-4852-A8DF-4A3F4ECA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9D26CB-F960-410E-8EEF-C033E41C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2478C-20F1-4AA3-9290-EA9663E19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2958EA-2E68-4FF6-846F-AECFEA3D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A52FC4-0322-4505-82E9-49741E2A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14B774-ED00-4615-BCEF-6B97FD65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F2FA1E-F9BE-455D-8715-EF53946F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6425F-DD2E-41B3-816B-F6A14A51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03A9A4-011E-4F27-993D-3A7AE4A0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E76AAB-C9B0-4E7E-8FD2-7AC037DA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11AE18-979F-48CB-ACA0-BFACCCD32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C24403-130B-48D9-AB38-06C9F6E3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D99005-659E-4BDF-8DBF-D44FB91FA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B0C6E4-6C49-46C8-8F68-F86E02BB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37C74B-014A-40B4-9A7C-AAAA0347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0E156A-F680-4D62-865D-32B559F8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Design shifts around alert volume, business hours, service criticality, and fatigue management.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0D2FFF-68D3-4D09-9C59-446755E7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0A46B2-632F-40A7-88FE-C706E7F7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A19716-A9B8-4528-B2D3-F178FB27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Each shift needs named lead, escalation path, and handoff artifact.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80280B-98DA-4552-9C1E-60025D92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F6EAC2-2EB0-4BAF-A12B-D4C4BD69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Do not run 24x7 without enough people to cover leave and training.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FCCBCC-068A-429B-94E8-C0B62A48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3F5C8C-4840-46D9-A581-BD04E51C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B905EE-9A65-489A-AD37-F36D17D6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050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1619B3-81E4-4FE9-BE71-ED07814E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F5A148-4F33-4948-958B-0EFF9869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284746086"/>
      </p:ext>
    </p:extLst>
  </p:cSld>
</p:sld>
</file>

<file path=ppt/slides/slide5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5A47CE-CC34-45EE-B1E7-1EBCB0D7E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Shift handoff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6D2A25-2F6C-48F5-8515-BB675EF1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EC432A-A74F-46B5-ABFC-8AE42DFB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6766B2-EACB-403C-8342-82B72E29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68618E-826F-4945-95F0-F35702E8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BFDDD4-D4A6-4BAF-B6C9-B5BD3C1D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E0A2E5-E6FA-4EDB-AB75-35B1273F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980494-B9E3-4897-AA5F-F0DB9A6C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08728D-04CB-4073-91E2-E954FE40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90D00B-723E-4A20-B274-5B0D9414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E97383-FF32-4D8D-8203-8C5867EE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5DAF2A-7C81-48DA-8954-919F991A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172997-1B9E-405C-A383-850555E9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D8CAAB-7F02-4545-BD6C-D12DD4E2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B6A188-097E-46CE-9923-4B199C4C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88B0AF-E59E-438F-B469-308D5C155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0BBA02-A68E-4E90-9C7C-B7D00BB2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A79ECC-4B49-409D-82A7-D47C1FE6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1923B3-3E5A-4F95-894C-E4BC38C6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090EA2-69F1-4673-A04C-40AAB27D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3F0857-5CE1-413E-99FE-9ED67E36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64CB8D-454D-4242-801C-947EF703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938E6F-9E65-43D3-B033-B377DBA8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Handoff should transfer active incidents, pending decisions, fragile services, and open evidence requests.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956293-2C15-4855-B5D7-77E413A9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D2B227-1F78-4311-8C2C-E2C215CC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7BAD9C-01F0-4312-B1C4-110D8467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A good handoff separates completed work from assumptions and next actions.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9E8F35-4AE5-403E-91FD-C1F3EEF8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E15BF3-6A79-426B-A3B3-D0A1733A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The incoming shift should know what to watch and when to escalate.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BBAA23-A32E-47BE-9BD5-617DF9A9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1E4F5A-D364-4ED9-95DF-C5930F93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770E0F-8469-4295-A6CC-8491E06C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051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4CC00B-DAF7-4572-917A-0EB3D1F1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4A8B887-7326-430D-A802-263B501D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453329372"/>
      </p:ext>
    </p:extLst>
  </p:cSld>
</p:sld>
</file>

<file path=ppt/slides/slide5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CD3BF6F-DD9E-4E08-ADE1-A036C01A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staffing benchmark examples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C32E2A-46E9-4EED-B33D-EF897078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C9F237-A404-4C55-BC9F-F5827EDB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D367A6-506A-4F53-AF1E-762F3F68F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C3702D-992E-4914-9FB7-B205AAC2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C70615-0141-42C0-8F93-690A1C8A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594D0F-AA47-491A-B5DE-4AD4AF35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475EC-B5FC-43C1-B2D1-56E86E78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0994E5-BEF7-4E27-8063-8B79A3A2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738353-9AC9-456D-BD80-FA91E0189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Coverage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61CF02-DDF5-444F-8A89-EDEF04FA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02AEEE-4EDD-43C0-9F98-1D19BCF8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Typical team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C2212A-5006-48DA-9AF7-3A193ED9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6F0F30-8554-4319-9196-0D5149AF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Best fit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68DE80-A63D-4BA1-A7A5-C2628ADE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46106-BFDC-436F-8515-B33D93F4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Risk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D1B8D4-BE81-4D30-A8C3-946685A7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5AF282-B79C-43A1-8A5C-C93D0030E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8x5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DC9510-6898-4D56-9089-63F55424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5B9728-50F8-4C1A-8AAC-6E3BA6D5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2-3 FTE + on-call/MSSP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A25409-FD5C-44A8-9B1E-D1632931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D6E5CC-96F8-4D62-87FF-A05391DC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Low-risk / small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9D5127-4E03-4F7B-899D-7270364C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B614D2-385C-48A3-8F8C-3D7046099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After-hours delay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B344F3-C939-4238-B1FD-5A8644F4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6281CB-6A1F-452E-B381-EB2472CA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16x5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47DCB4-DB06-4B9D-9218-0BC7BC313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C6EE97-90AB-42B7-A8BF-B0218AF1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5-6 FTE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52A540-F5F4-4EAA-85F8-364DFDBDB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38ADDC-C0C4-42A9-A3A7-2CB9FD74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Moderate risk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205829-3BE4-499E-AA54-E1045CAF6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819DCC-8BB1-4560-B2D4-094E66B1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Weekend exposure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1A0181-57F1-4686-B9CC-4FA22407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A5A427-1B57-41FE-A56E-3858A3E7C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24x7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4DF6EB-464E-4D53-8204-F077CDE4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AE98418-0272-4BFF-AB91-E3B86A04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10-15+ FTE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7B9F14-8226-4F82-B2FB-EDADE88E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A172352-2B03-464D-9ACD-727DA569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High-risk / regulated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9669223-9ECF-4175-907A-96CF1F6B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4B87F48-CE00-495D-B147-0EEE36D9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Cost and fatigue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61F12B5-7FD2-408F-9D2A-6DA2C03C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052 / 142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6ABD421-A6F0-4498-B44E-DCD5AF8A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4864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80038B-73C9-4165-BC79-FC9340DD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54864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1233522052"/>
      </p:ext>
    </p:extLst>
  </p:cSld>
</p:sld>
</file>

<file path=ppt/slides/slide5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A064DDA-97D6-4A3F-839C-26CC8E53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role-to-responsibility matrix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0F64C6-9FE3-44B8-9382-706CB9F4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86BA13-A78B-49D1-83B6-FEC192B5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30383E-09B1-490B-9AFA-D104EB9D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9ADA95-E030-4ECB-81B4-5842EA32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CD89D5-5038-4C67-938C-C96E047A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D77F6-58B8-4955-A50B-5CD1BA8A6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E8739C-07F1-4600-88DE-52C53986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1D5F76-E018-4299-A30D-BBB7CE612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7854E3-92AC-408B-A06C-D5E04749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214FC2-6827-46D3-9F64-1A6CD697E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BEB2C2-2567-4625-9E2F-9C51B9B9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Owns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E26153-2607-41B9-8434-7F6E013C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7AD0B0-B2FA-448A-9B7F-8F08AC117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Produces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432742-3F20-4307-B8CB-66DBB39A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7183DF-2CE7-42EB-B8B4-BA3E0D1C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Escalates 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A2DB6D-F974-4B97-88BC-80FC4A28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A15A99-33DD-4ADB-ACC9-8A61F93D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Analyst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BA8BE3-C83B-41F7-A31C-4D1B5BFD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898163-9BD2-411F-9628-597F89D9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Triage facts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C1BDAF-6D94-44ED-A89F-B33F57D77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1E3251-8688-46DA-AB59-397B6B8D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Ticket/evidence pointers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C7AA0F-E1B3-437E-B82D-2F23706B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7CC852-F1BA-486B-92DB-420A3D44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Tier 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6C3D18-F149-4ADE-ABC2-D4C80C56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EF4D46-63B5-4644-AE16-0EC85754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Engineer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E65254-FB78-44F9-BC7C-B929ADC36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6DDA97-DBBA-4C0A-8CFA-D03A9E9A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Telemetry/detection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D9B70E-4776-4A60-9FCE-9038432F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C77534-F651-45AD-A401-4FDF40BB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Rule/test/source health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6E48A8-1A14-4085-841F-3DBFE6D1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40C8C3-F7F3-4B5E-92D4-E7FF8F47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 Manager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177833-48FC-4907-BD0D-6F68495D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252454-5D1A-4168-B6F7-A485E039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517BD6-F82F-432A-A649-2930D260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3047A2-4A12-4E43-BBE7-1F163FF9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Complex response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E7B290-ECEC-4395-9CA5-492062CE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8D5023F-B6D1-495A-A5BF-2AE37DC1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Evidence and recovery plan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E41EF3-4488-4AC4-BB60-AE59EF14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99ADB4-C929-4203-9323-95939C1F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CISO/Legal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C4085B-89B0-4861-ABD1-02EA0266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C86493-D5F9-4B73-B492-8DDEAB62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CISO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538708E-6717-4C65-8FCB-B33A9E43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8CBEA84-F0DD-4947-9386-15F34DB8A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Risk decision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607B348-D7C2-456A-9B7B-1BB9FF32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80EFD58-C325-4EAC-96DB-7EFFAB84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 posture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45663BB-0557-4260-B9BE-0D23A7C1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334281F-7A86-4A57-A3AC-25214678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Board/Regulator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96FC74-F9D2-4BC7-BF88-7AE0F3E0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053 / 142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05FDCA0-1DA3-4911-8130-5D9ECFA1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5B50197-5B27-4998-9F0E-19992463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62865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4410277"/>
      </p:ext>
    </p:extLst>
  </p:cSld>
</p:sld>
</file>

<file path=ppt/slides/slide5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B273272-6DDC-439A-A582-9511452F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Workshop: design staffing and shift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05148E-53CD-48D4-9963-65076E0F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C04A2A-959A-4990-94F7-7B48BF96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F6390-3596-4A36-AE29-E5F4BC1D1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A1192E-42A9-48D0-A06D-A1924A87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4D5157-6CB6-4C93-918E-7223A6D1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854077-6432-45EC-8A98-27AAB6A3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A01888-2FFD-4582-A833-FE23C7C9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90F0F6-9E37-41DA-BF42-8D6A7C43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38FE8B-46DB-43FF-A8E7-1898D93A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D7C66"/>
                </a:solidFill>
              </a:defRPr>
            </a:pPr>
            <a:r>
              <a:rPr sz="1200" b="1">
                <a:solidFill>
                  <a:srgbClr val="0D7C66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AEEABC-C8F6-4674-855F-F91EDDED4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73B139-1A78-4466-BF50-5515E31C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5E3517-402B-458A-A825-B41D0844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647747-8EE0-4D16-B58D-7E893536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BF2BDC-23B2-4583-B95F-D313BC58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F0A4EA-842E-48C9-9F0C-311A891F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174D66-A4D5-4CF9-AB1B-24974614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F2582B-ED6E-4D3C-AFBE-757821A1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9F8305-CC2B-4768-8556-64CAB09D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55F803-CA4F-43FC-80B2-C425CB63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0A813-1D3F-4426-B334-99EFFF15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DE88EA-149A-4053-A5D5-E118813D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721B05-5A90-437C-99D2-87285BB3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CE3D57-AE59-4F37-AEF9-2A585044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3376DB-D9F1-4FCB-A2CB-AD50F175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813C9A-3C1A-4F91-BFCF-9F9142FE4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ABE6E8-288F-416B-96D7-54C4E1F5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F39117-7859-4D13-9AD3-5A8140E2F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3EB8E0-0C4E-4396-A0D0-4C32F92F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832522-0635-4050-B741-9DEFFAA4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E245A4-6F93-419A-96C4-B2F9B3AE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4B5C67-1F3F-42ED-8500-DA9144CD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6F7694-78FB-4465-AB38-8433EF4C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054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B08A0E-BEC0-4756-BA4F-D87811CB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F30F15B-152D-4F48-9BB0-3BF6B5391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1556348201"/>
      </p:ext>
    </p:extLst>
  </p:cSld>
</p:sld>
</file>

<file path=ppt/slides/slide5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0FA47F-5412-42F1-90D2-7A7947DF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D66A9-B7FA-49A6-B716-469EFE0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7285"/>
                </a:solidFill>
              </a:defRPr>
            </a:pPr>
            <a:r>
              <a:rPr sz="2550" b="1">
                <a:solidFill>
                  <a:srgbClr val="0B7285"/>
                </a:solidFill>
              </a:rPr>
              <a:t>055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4206E2-E1FE-4CE3-8E2B-2F44F1DB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FUND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FE85B4-D753-4FC9-A14B-C1DA69FA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6868B1-2A5F-45E0-98A5-FF1F587E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Prioritize tools and budget by operating value, not tool hype.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2452CB-C1B1-47D7-A2D1-184112300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626955-3195-42EB-8CE7-BDFF7F31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18AB9C-F529-4448-A9B7-8A0BA8AED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500353-6CA3-4339-AEDC-66CDC6A58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Core SOC tool categories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662ECA-F25A-492F-A7A1-21773AB2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19769E-B6D0-4888-853F-3CFEB3A6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B1A7C3-8185-456B-9012-B07341BB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4B14C6-5EA0-4E21-BB40-0603EFB4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E05B61-4EC6-4D53-A0E8-64A1538C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8DD5DD-0759-4B34-A465-1DC63CB4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3F88A7-E860-4654-B1C9-D10225D2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70D493-7150-418D-8335-809A63E1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SIEM centralizes searchable evidence and detection correlation.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E21923-E162-4AC8-B775-F9C6EC63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7622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14AB09-DCB3-45EF-85E3-BED3C5678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4326CA-B1A2-470D-8CD8-41828ED18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76225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EDR/XDR provides endpoint investigation and response control.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1F4371-B856-431D-BB37-0D69D4B1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3528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4A76D4-F1DF-4B82-90AC-84575221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909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B0C12B-D12B-4CD9-AF19-E7991700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528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Case management, TI, SOAR, vulnerability, IAM, DLP, and data tools complete the operating picture.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F2B0D8-E13A-4F0C-882A-3D21DF6B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21005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E2CD4B-BC57-4C59-9C19-0F14FF7D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1960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357BF5-91FE-4234-9889-F4C212B3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1960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66D69E-85BE-4B36-99A1-2FB180E0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61975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055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2453A8-292F-4BA8-8ADF-E11A3E48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619750"/>
            <a:ext cx="43624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ED8016-6E0B-4A7F-9004-1F4339FEB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561975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598906374"/>
      </p:ext>
    </p:extLst>
  </p:cSld>
</p:sld>
</file>

<file path=ppt/slides/slide5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A311AC1-F027-4C2B-8838-41D71F51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SIEM: job and selection criteria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1E7D08-69E0-43DB-8A43-8CFD0469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A52E8-E723-4F68-9C81-C84659BD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5FAE87-1A0B-4CF6-92C3-CBE124B0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8B5D06-8A2D-4FD8-A219-31DD69AE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4D7679-F2AD-4E59-B5F8-530CA209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5C2D3A-D5E6-467D-A2C0-ED400557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C775BC-DBD5-4B3D-A5F3-4ADA5B33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8810AB-B03B-4CBE-8BE3-72808844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56273D-7247-44FA-B7C3-F180509A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3652FE-B034-4C2A-B7A2-D6EF09FB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 SIEM's job is searchable evidence, correlation, dashboards, and investigation continuity.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916C0C-C8AF-44C8-83D0-39CAF8D8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ED1A04-8292-45B5-B04F-E460629F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63A214-9074-4987-A16E-ACB59581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Select by log source fit, query usability, retention cost, parser quality, and team skill.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36303D-7267-4A6F-A246-3071B94B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FEB80F-B5AE-4E4A-96E6-5F184D52A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D58E35-4259-4630-B93D-68DE2A47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 SIEM is not useful if critical logs are missing or unreadable.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25C54A-775D-4497-91DE-7A4E4FBA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DE682D-BDD3-4D82-B7B1-41388C65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5E8198-2E97-4E8E-B106-A4D747AE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A574D4-C1D7-433F-B691-99D7160A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6A5A08-0918-4CFB-8876-11FF6A73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D62D2A-B7D8-47D6-8FD1-DC1F219A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4E7D09-AD0E-40DF-ACF2-D80068379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16D4B4-4B51-4311-9B8E-26C0FD31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537A82-BD03-40D4-92C5-6F9DF7F8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056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92C56B-0050-4117-B05A-B9416A63A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7D4192-6C56-4808-B049-5E596560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196886153"/>
      </p:ext>
    </p:extLst>
  </p:cSld>
</p:sld>
</file>

<file path=ppt/slides/slide5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46BFF43-7530-404E-A35A-B711B04F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EDR/XDR: job and selection criteria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D9FF97-A378-4AEE-9F19-A0E96ED8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324CE4-8C7A-4E37-A6D5-D1F7F3B5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2AD308-44DD-407F-8684-F6BB2EE7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6508C8-33C0-465C-BBAA-E19A54B6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48EC32-F7E7-4140-9A62-4EE8496C8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4C3F04-29B5-4D3F-A995-8AE5E73C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E8BC8C-ED28-48F0-99C4-10F1AA53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A339A2-B183-431D-834B-60B0F69B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6E0550-C862-40BA-AA84-FF856F02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6F58FA-0A28-497D-A6BD-15D0E180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Endpoint tooling must support process context, isolation, collection, and response audit trail.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302FC5-84BF-4427-9522-7E541F0C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6D05DB-A4AC-4E81-9A8A-7A321CD47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F1B6B3-A94F-414C-B582-DDDC4181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Select by coverage, response safety, telemetry fidelity, and analyst workflow fit.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7AC35-91C7-42F5-8C3A-2DB3D051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B10E62-3477-4C1D-9A6C-727B128A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A46C42-863E-4D91-B2B7-5EA09EC1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Define who can execute high-impact response actions before go-live.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525088-7212-43FC-ABB7-8A506E51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8F320C-F6E4-4B0B-94BD-ED5EE60F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BAEA70-EF52-43C1-8D7B-4003B251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097930-8A82-46AC-8FE0-FE0ECF49E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1E9B04-F57F-47CE-9CD7-AB473FA9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C4C099-7717-4E99-9CF1-C3A3FDB9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01AAE5-98A2-4430-8A26-BEF9DB47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8CB200-4FC8-4B4A-A6DD-C28DF811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AE5D45-AE95-4D57-8E00-25CDF731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057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CF8577-238B-4665-BD10-3C99C574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97E05D-77F6-4790-9516-4ABA3C033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441123739"/>
      </p:ext>
    </p:extLst>
  </p:cSld>
</p:sld>
</file>

<file path=ppt/slides/slide5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CF4B6AF-EA81-46D2-931B-7D70822B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SOAR/automation: when it helps and when it hurts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01B5FC-DFB2-4F34-879A-D8996F52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345503-20BA-4F94-8A11-DA6A86F8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41A7FB-DC96-4A15-9152-233DD1C9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4D13E1-08FC-4B3B-9DFA-F38D1988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6CDE3E-5E26-4121-BF12-8756B126D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506904-34B9-4E61-9B55-7D16DAA9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87AC68-1EF3-4E99-B54E-417B3C58F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1C37C6-DD04-4F94-92BD-D33C31054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DB0C4E-EDEF-4214-BD98-EF70895D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CB9F0B-A875-4A80-B6FA-D4FB3772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Automation helps repeat enrichment, routing, evidence collection, and low-risk containment.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D6043E-3162-48FC-A2E0-71A12BA7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52A04-6C31-4CC7-9D3A-B8FA6D7B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8101D3-B875-4C4D-8F1E-3C16C348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Automation hurts when decision criteria, ownership, or rollback are unclear.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172050-6CDF-4CB7-A8E4-D1EFF34D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E3CFA4-E6FF-4155-B4E4-B23CB241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892857-A1DF-4458-9B63-EEEC0060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Start with assisted workflows before autonomous actions.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AE94EC-F454-4714-85B1-F0063064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C6F64A-FC28-4E2A-A438-E0DD83EA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F54559-647E-461E-8674-DF99BE66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A9B5FD-CD63-45BA-AD66-D4E98E30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6AAD95-D4BD-4B67-8DF7-84AD27DC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763BA5-55A2-43D9-9135-F385C7D3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B814EE-F69F-44E0-92B7-638CE5F2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8FF05E-42C2-42B6-ABC2-413AC296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8FAB5F-23C1-48AF-9484-38DA8A8C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058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436C62-AB87-4B9C-8672-B3EC55F0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3051EE-0205-454E-9169-B448458D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277094148"/>
      </p:ext>
    </p:extLst>
  </p:cSld>
</p:sld>
</file>

<file path=ppt/slides/slide5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17BF6B-5696-46AB-BD77-9C489A51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Threat intelligence platform and feeds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628F2E-C183-4955-8F94-0E32ECCF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1B98FC-A36B-4323-92BC-39E010498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AFE2E9-6199-4498-8354-C6E7E3E8B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FF1BDF-A57A-47C7-92AA-50BE2DD4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C3161-82D4-4510-B7F6-277FD481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F943F0-286C-40CF-AE3E-9BA388178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C81122-EA76-4E47-A8A0-9476A159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EC3754-13F1-4751-9142-FD1B75316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133046-B355-4FC8-B635-DAA36C17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BF29F-DFE7-4BCC-B58E-4C0E0FCB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Threat intelligence should answer prioritized questions, not flood the SOC with indicators.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15B86A-EB68-4D67-AB13-1245A95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155F9F-3744-483C-910C-CB97B046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E0E111-D525-4092-BE96-C8F8CE58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feeds to enrich detections, hunts, watchlists, and external coordination.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4AE466-88B7-46C5-B2F0-ED009C4A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61F5C9-5B45-41F1-84E2-48E4F515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D6D609-F1C4-4C67-879E-D729065C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Track source confidence, relevance, expiration, and action taken.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A8118A-2F13-4C5B-9150-16E8FD3E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8AA7F1-C446-4010-93FD-A71E192B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843983-2A7F-4B5F-94BA-694F8F1E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FB0A06-E5C8-466A-BF38-0B717D41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BA3C00-41AB-4A59-89FB-83895F272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8770C7-F48A-42A4-A404-3CDAF57E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ED782C-10FB-4FC5-90D5-F652D7F9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23DB9C-4CEB-4B14-8A0C-1F54A0C2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841D18-AC65-4688-A5B2-AE1B7F17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059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57405-B61F-47B0-BB61-227BD729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7E2A8F-36F5-48D0-9D74-51617E860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618559817"/>
      </p:ext>
    </p:extLst>
  </p:cSld>
</p:sld>
</file>

<file path=ppt/slides/slide6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03CD4D-B5BF-48E4-9CB1-20C1FD9C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Case management and knowledge base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4DB0C4-F778-4290-8B0B-98BB66ED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6CA8C-47A4-4779-80DC-7BA993F4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EEA2E6-13C2-44DF-8C32-FBB797A4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D3C9DD-B2B4-4BA1-9EA7-CC63EF69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87E05C-DDB6-497D-8F2B-0EE0812D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7A1942-D417-4E63-B929-EB6F2EE3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2CF09-9041-4BFD-B2CC-AC7B21C4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44590-1C66-4633-8B11-0D996F5C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47059B-7A9A-44A4-A03F-8C258646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59C7D1-5B6D-4A51-BACD-FC475BAA7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 case system preserves timeline, evidence, ownership, approvals, and closure rationale.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E8B7BD-686D-4F24-BC53-5D3A986B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35EE7F-5983-4587-8C66-66ADB089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38DCBD-7702-49BB-8D75-67D69247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 knowledge base keeps repeatable steps outside individual analyst memory.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BDCC75-7373-4B8E-8CBD-55202639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6595A0-80FD-4B53-A333-585CB8C5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B150B9-DF36-4892-9D52-6EEB21B3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Both are required for shift handoff, audit, PIR, and training.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5D40B2-AA65-442F-862D-8A5C4F28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0EEE35-5074-44C4-991B-1A33E24E1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074AA3-904E-41D6-82C5-2D8C1952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8E006E-90EB-4F84-9C88-37841E81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F091C7-CE51-42B9-AB95-61DE9FE1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118AF4-F90F-46D8-951F-F3F1141D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F1393D-F9AB-4E60-ADCB-2CB98AA4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406E6B-E200-4364-9575-CED08F9C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0B834E-1B79-4E58-9017-BD857190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060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CF09D0-6431-4577-B2CC-C1FAEB349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F48127-6AC9-43EB-B068-1713F9B1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402250822"/>
      </p:ext>
    </p:extLst>
  </p:cSld>
</p:sld>
</file>

<file path=ppt/slides/slide6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BC9330-151E-4359-936F-38EE5DAC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DLP, IAM, vulnerability, and supporting control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EC3E74-3B48-418E-ABFC-80E62FC2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84B370-8564-4D21-91E7-35A6ABE8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0E4164-018C-486C-AB52-4D6D146C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234E9C-E37E-4F2A-98CA-EB1108AFF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3075B4-FA8C-460B-94D8-F2A234CF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ADBAB3-F65E-4A41-A40D-B46D49ED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742158-8680-47F9-ADFD-F8CBA6D2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6E9BD5-1240-4EE9-8E52-43391E06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B038ED-850C-4842-8153-75CED2C0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C9B526-DFDA-4A76-8353-DB8F03FD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Supporting control data turns alerts into risk context.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8BA33F-4CA7-46CB-A1B1-A35CABEC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48AE27-BAD5-464E-90C5-36949174C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6876ED-50B2-46A1-A0C3-8B2B48E4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14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Vulnerability, IAM, DLP, asset, and data-classification systems help prioritize response.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FD23CE-B8BC-4D04-9F64-ADF2BD10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403BA2-77ED-45F1-A766-A847341C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457E1E-4102-41D0-85D0-CF3AC0E7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SOC ownership should include evidence use, not ownership of every control platform.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C2BA5C-2464-484E-B35B-8B8EA147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376171-0B61-424C-AAD8-9E68DB5A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E018B7-DEED-4BAC-8C0D-717CF517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F6E746-E5B5-4F35-B703-3D1A91B4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BDC837-4880-4E06-8D31-61E3809C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1005B9-1318-4BDF-B4FF-8DDBA3DF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2A88B8-96D3-4DC3-89B8-DB842913E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08E7D7-3B9E-469A-BF96-445BB063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7A802F-8A0F-48E6-8628-D9A256B2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061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27D7CD-4FB2-4F1E-9DC0-B9D3DD46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C33DAF-7EF4-4C6F-8798-B3B33A80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2020033174"/>
      </p:ext>
    </p:extLst>
  </p:cSld>
</p:sld>
</file>

<file path=ppt/slides/slide6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1D4AD5-BEA0-45B8-8210-6B21BB4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Tool integration sequence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D8BA15-7893-4503-AD1B-4C0E90FD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A07AE-3AC0-44F0-A492-66A3C23E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D916DA-462C-48EE-BD63-764E1F2F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DD5E0-E535-44EB-81B5-AE8EE798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8377B2-18AB-4560-A75F-F66814C7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10DE99-36AE-4BA4-9508-32042979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693322-DFD7-47D0-BDEE-FCE01DA8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B4B4D8-CC44-4A2B-A392-0BBD3504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C2D06F-43C8-4080-A306-C336F0B0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14B764-5236-4B42-A76F-A943B504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452D5D-7CD8-48AA-BCAA-881C14E9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765E34-2C2E-452B-B7A5-C4D391AC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ECC591-A506-4209-9A31-79C12B6C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B761BF-4FF3-4483-B24C-1FECE02B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D71402-FA4E-4564-85A5-5238D516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F621D3-6C30-4FAD-BB4A-64205ADB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B77696-3108-4EC1-A22B-9063D2E5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218D0E-C4F8-4D10-9E9E-C31C6092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044CEF-2C13-41CC-BFFE-5BFA2307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1F8DA6-6F82-4E05-8B64-895B9421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017DDA-DA28-40AC-937B-F0AD5B28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EE84AE-278A-41CC-AF82-448DCF4CC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Connect identity, endpoint, network, email, and cloud before advanced automation.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B68F0A-F59E-4532-9544-612F51922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9EF621-6C63-4489-8B27-8EE78ACC2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50C6CA-A22B-47AE-99E2-5F1DC144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Add case management early so evidence and decisions do not live in chat.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EAC6EC-FFBA-45AD-B87B-0B517269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02547F-F056-48E7-9E25-EEB8B842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Introduce orchestration after playbooks and authority boundaries are stable.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463B62-9128-45EE-959D-672EC5C3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5C0749-A91D-4EF4-992F-32ED7616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130692-F3E3-49CA-90B3-3A1DDB9F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062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7B615A-5173-46DE-B1A6-44ACA8E9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979D2F-EC92-4C46-B021-2E4A5A7B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451288826"/>
      </p:ext>
    </p:extLst>
  </p:cSld>
</p:sld>
</file>

<file path=ppt/slides/slide6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187C45B-0DE0-4042-A1DD-E767E5DC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Build-vs-buy and complexity tradeoffs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F0E98E-1EED-42CD-BE52-9D80CD80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D68365-92EE-4657-94E5-FBA77A6F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33EBF3-4EFF-408C-82F0-D17EB7617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5785C-E345-452A-A451-F915F423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8DA463-0CBB-4B11-AAAC-DD32BC65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FBEBA4-8C6D-43BD-AB89-72BA4F89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F196D9-CE06-45D1-9B91-B705EE6E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AED9D9-0E49-4F86-AFFB-C2E0E092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ACBE0E-6F69-4256-9624-60DB26E3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33E647-473B-4CB6-A1BF-AEBA9C45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Build when team skill, ownership, and maintenance capacity are real.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49F2B-65F7-4981-A732-EFAEA12E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7CE422-4325-4BF7-A7D8-9F8DEBB8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411822-105F-49F7-B270-9E383263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Buy when time-to-value, support, and integration risk matter more than customization.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8452B5-AD32-4212-BB3A-0A17A830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3CD5FD-BB48-4F56-BE69-88E2B1E0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003817-C90C-4EF5-9600-01A36409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Hybrid approaches still need internal process ownership.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21F526-DDAA-4EEE-81BD-D3865500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FD6BA6-E81B-4B1F-9CD9-B2EBFCED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2B4268-DF1C-4E7C-A686-442736FC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0E7C1C-6D3F-4F1C-8062-C6A22D68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7F87A0-9578-448E-AE5C-78072D7F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C72C9C-6096-4AC5-A4A7-9ED21309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768140-71BC-4FCC-A4E7-0B997DC1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7F2B3A-E0D6-4E27-99A4-3D88EA94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207FED-EC31-4045-A955-CDC099F3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063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437FA3-CFA1-48C8-8D9F-1BC3F3D3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2B2A9A-4B7D-482F-A436-5C622304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262636866"/>
      </p:ext>
    </p:extLst>
  </p:cSld>
</p:sld>
</file>

<file path=ppt/slides/slide6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C0A9D0-FEA5-4955-A72A-54F76293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02A"/>
                </a:solidFill>
              </a:defRPr>
            </a:pPr>
            <a:r>
              <a:rPr sz="3225" b="1">
                <a:solidFill>
                  <a:srgbClr val="17202A"/>
                </a:solidFill>
              </a:rPr>
              <a:t>Budget categories: people, platform, content, operations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232F70-09AB-4481-8A7B-8E1B0818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A79E96-2717-4D2B-8B2A-17A1D756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811585-F64C-40E9-AF89-01AF871C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049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820C8F-4DAA-4390-8339-A670E865F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10490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0AB464-30CA-467A-83E8-39F30E1D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95425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2DF28F-5415-405A-9881-853D99BFA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B25778-018E-41FA-82A5-BDE18BC27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1925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CD6B4-3FA9-4434-9CE8-29CBDD66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19325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E5E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05CD5D-AD92-4DF4-AB05-B21FEF6F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9528D3-460E-46C1-8871-385BE3573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Trend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8E9780-C92F-490D-B870-EB3CBD42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2219325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E421DB-AE88-48EF-9275-6CDAD3275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CC003F-3F1A-4226-B9A8-2A962A25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6860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D23B80-A2E2-426D-8BCC-5B6D301A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24538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A90E3C-D7CC-44CF-9E09-3C0385308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0007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Backlog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7736CC-AC0D-456B-82E3-F70C0402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2865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872F20-1EF9-4457-8A12-2C037F32E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5824538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1CFFE6-9304-4B39-A40C-479E05C6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0007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16F555-5E54-43CE-9A9A-E19E7B2A1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2865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A01E89-FC79-43AB-B3EE-C00222931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28850"/>
            <a:ext cx="897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Decision board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5CEAB2-ED33-4538-9852-7BBE9156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2600325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F1A272-63D9-4D8B-A7DA-415A1EF0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8553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People costs usually dominate a sustainable SOC budget.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1D3039-9CB7-475D-AE45-7A904284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3743325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E6EBEC-E502-4594-B523-59B1E20F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24300"/>
            <a:ext cx="8553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Platform costs include licensing, storage, compute, support, and retention.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D4CB23-DBC0-4656-BAFB-43E9C35C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4886325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420CAA-9F0A-47F5-9277-7DEED8D4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067300"/>
            <a:ext cx="85534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Content and operations include detections, training, exercises, reporting, and improvement.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3B4C60-4B0E-49EA-8697-E5C63920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064 / 142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310498-E4BC-4F5F-A88C-E60342D8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C76B42-569F-4D63-AACB-939BFFD1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578637837"/>
      </p:ext>
    </p:extLst>
  </p:cSld>
</p:sld>
</file>

<file path=ppt/slides/slide6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6E0CAF-86F2-449E-8D84-9A9D4E96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Phased budget model by maturity stage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4B493C-C7B8-4249-A4E8-9E16A0FA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4B537A-4E2E-41B0-B509-F85122893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7CC49B-E27A-47EC-9933-E1DEB213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385E0B-121B-41E3-A37B-231251EE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E6BB06-03C5-44D6-B9E3-87CCE368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E12822-84BB-49D9-92B3-B92BAF32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09ED94-0B6D-43A6-A223-37675F57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246A6D-4809-465A-A84A-A2EE182A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E5E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203575-26C5-4E62-BFE3-3F4CB069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955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237EB0-DDB6-42AB-B00C-97D29BC9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813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Trend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67AD53-0791-4BCE-9F59-2D87F0A0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2324100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AD6798-9E31-45FA-803E-7D47880D2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955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5670F9-BD3F-42EC-A2EB-2A41512C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7813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AD3FA2-31E4-4858-AB54-97C9CC1A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76925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60CF60-CD27-40BF-9330-409D52BE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0579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Backlog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F4CC0C-4B7A-4AFB-8F89-260B55F82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3436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4DA663-1508-41CB-8348-2D326C28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5876925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F9CB04-BF49-4A9D-985B-D03F3072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0579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3F5C5B-3314-4A20-B5F2-D447CA77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3436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139F36-4BFF-41E5-8A80-9AB0852F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24100"/>
            <a:ext cx="897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Decision board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285D6B-852D-4ACE-893F-3D96C4A5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2705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AD3C31-BF9E-4BCA-9AFE-23388A12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76550"/>
            <a:ext cx="85534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Foundation funds minimum people, critical telemetry, SIEM/EDR, and core SOPs.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F1C3E8-9C2B-4236-BD2E-EC4302189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3848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DAD398-3612-4155-829C-B096E7C0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019550"/>
            <a:ext cx="8553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Operational funds shifts, tuning, playbooks, metrics, and service ownership.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B83711-8FB9-406E-9575-C69E1779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4991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17C447-F1BC-4690-9D58-33BF70A9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162550"/>
            <a:ext cx="8553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Mature funds automation, threat hunting, advanced analytics, and governance cadence.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04C93C-413A-496B-8730-432865415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065 / 142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EA73DC-552C-4026-8BB2-508469BF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25F9EA-DB71-446B-AD11-64A9C71E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281515650"/>
      </p:ext>
    </p:extLst>
  </p:cSld>
</p:sld>
</file>

<file path=ppt/slides/slide6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02ECF8-7B9F-4115-9A45-FB058454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tool evaluation scorecard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04A07-7423-4747-9643-44AEDEDE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BADA43-F847-4278-BE20-663660A7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6AC5EA-1D54-49AA-9E1A-8180D732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3183E0-A176-4CE5-8378-D31C101A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EF37DD-198B-48CB-AE20-618EC6BB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A23057-D54D-4CB1-B9EF-F2166544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F014F7-DCC0-4029-A983-904F7337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6734F6-1CE8-43D9-95A5-7ECE681F2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43851A-E55E-4DEE-BF3F-758473AE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Criterion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B1E28-2277-449C-88C7-42E17CB9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726955-0C24-4EFD-9EE9-27FB9E9C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979F74-58C1-4CF1-A31C-92024F35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C283AB-9B88-47D9-A65B-FCA8E3F3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Weight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A00B55-C7BD-412A-AFE9-633FD529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06032D-A97D-4D86-9987-84B8F358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7B0BC1-5153-4AA3-9896-13838565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7CFC51-65A9-4795-AAA9-A8802725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Telemetry fit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628E90-B8C1-4F70-9C01-9BC57B24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00A7F5-11D9-4A0B-9FC1-EB092F6F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Can it ingest priority sources?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8E1A84-8FC2-46D1-B9AD-0BD3C47A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153354-C077-4BE2-909D-F92648AC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High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A0B6A7-D0B3-4FE7-9E31-D35BEFEB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9F19D2-02D6-48A5-B804-618765DA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Parser test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896F1B-4B41-4698-AF1D-45D19FAB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895A34-76DB-4A36-B6B7-5826B4AEE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Workflow fit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A4BF1C-99E4-4B1C-8738-46DBF4D5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9411E3-1CF5-47EE-A96F-26816A19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Can analysts work cases cleanly?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5FB24C-EE4B-4C3E-AC91-E431F1CC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F4BBF4-D3F2-4400-BD3B-43D846FB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High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3DEBA7-1C75-4181-8BEF-220F81FD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F09EFF-72AB-4171-845D-FDC2B70F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Triage demo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4B1422-4F5D-4C24-BBA4-AAB19AFE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EFB64E-0F87-4EAD-9728-E1B2112C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Cost model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A13661-BE42-42D5-BA11-80925D80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5FEF67-DF91-46F5-B587-AD811594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Can retention scale?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DFD378-BFF5-4AE4-991F-14B64EC4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A1078E-A6E6-4868-9A71-ED94F3C4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High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C8E37BC-588A-453A-8050-7C4BDABC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4A6F2A-F700-4A7A-98A7-A798ED46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Volume estimate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7090571-C227-4966-8388-7084C3A7C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5C7E7C-3FD4-4525-B105-B0BE26947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Supportability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A8CAD3B-453C-4557-A7AD-5C70F364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E8F5AA-D2A1-4414-91CB-9A4FA7B0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Can team operate it?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D0CB23D-7009-40DE-9B46-1DCDB87E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27BB4AD-BF9E-4BFF-AD54-BD4E19F5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Medium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1468CAD-A5FB-4595-BA51-340DA09A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7D66F88-4266-4DC1-B18D-C6274924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Skill map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9C999F2-636A-47ED-BB4E-2CC06615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066 / 142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7154632-38D7-46E1-B7E0-D9BDD666C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073DD2E-2995-4B88-8870-54904677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62865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672725709"/>
      </p:ext>
    </p:extLst>
  </p:cSld>
</p:sld>
</file>

<file path=ppt/slides/slide6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8CB14FF-9A5E-4AE9-8E1F-3DB60165D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budget allocation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4A33F8-ACD8-48A6-ACF9-0CF72854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7954AD-9B0D-4731-B685-A1460831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AE45AB-9268-4C72-A595-C7C5E7CE3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DADE8-A6AD-4B99-BEB5-CD2AE1CB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ECB2C2-E076-4525-B5EF-3E1EF9FA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0E658-6B0F-4476-9F97-6B8EFBC4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709953-F941-4110-A8CC-B611E9E8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1938C7-AB9D-4F1F-B86E-F92F9F62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A31C5C-5D23-4833-BB0F-EA2D1376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Bucket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813332-D3D8-43C0-86F3-8373A04E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40DC4C-4ECD-42CB-9F83-49255FB6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Foundation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FB54B8-9CC8-4026-BD27-C117E1B8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DAD606-44F2-439A-9ADF-0F20F95A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Operational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22AA6E-B811-46DA-97B1-CDDAAEA3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DA4B6D-2CC6-454F-8372-09B2CB000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Mature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8AA6A7-0FCE-4534-9B9D-36227870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A4E638-40CC-463B-9B97-5089105A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People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F27DE0-DD12-4788-937B-05608855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0567FF-E43C-4835-8403-94D96CB8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Lead + T1/T2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3EB42A-A4DE-450D-B696-93408B86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E98781-5BEB-45FE-B593-7AF9FFE3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Shift + engineer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B1E65B-EC25-4D54-B493-692CE9451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1A87AD-FDD0-45FC-82AF-7D04B0C3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24x7 + specialists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DEB23-148A-4E4E-A5CE-AEF3AB0A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7D4175-5576-4CE4-8F0E-8891B9D1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Platform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9E95B5-2666-49C9-862A-DFD3F1AD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EE4DD4-BE14-4D26-ADC2-8F14254A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SIEM/EDR base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B5C868-0C46-4336-89F7-3C072CEB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D48A97-37CD-4525-975E-009B89D4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Retention + case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8DAD0D-B02E-427E-B949-6E7DA433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A1CEAB-A1D2-4724-B025-031A778B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Automation + TI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11AC63F-2C2F-4B49-9944-9F3F25B6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A650BE-56F5-4156-BCC3-48344CDC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886A22-346F-4B85-ADDF-6D5CC4A8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4B13056-F3CC-4C65-B22A-B2D11FF8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Top detections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7930D32-C9CD-4639-AAF7-FEA5FD8B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3A4B7B-EC0B-426B-9FE0-456AB0540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Playbook library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5EFE33-7736-4C3B-8C82-C5A91CEB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CEF528-6898-474A-B116-3A8C9294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Threat-led coverage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34B766-B364-42FE-9435-5BF2839D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48F2245-C836-4898-B265-339E12E5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Training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9594A0-5D18-47E9-A745-2B214756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E719ADC-D459-4F19-80CB-220C2FA6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Onboarding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4707889-C772-4117-B3C6-4CEEBA17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3FE57B-E5CC-4C9F-83E0-A866CB18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Role labs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8B3A51-2ED6-422F-8422-E1545D288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0ECC0A5-6620-4D28-9EB9-5F087824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Purple-team cadence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A9085E-1771-4EDB-87D6-0A21C0C4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067 / 142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B1942E0-FF6A-497A-89B4-3A42B22D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E5E147C-3591-4B39-BA93-ADAADCB9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62865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327830511"/>
      </p:ext>
    </p:extLst>
  </p:cSld>
</p:sld>
</file>

<file path=ppt/slides/slide6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8183247-BB35-43A8-92A1-684E1714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Worksheet: prioritize tools and budget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2B112-DD1E-4FD0-B52B-66863E11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E979B2-EFE5-4C22-AA3C-2D81149E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C966E4-0D5D-4554-BC71-80F6D113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80E2E7-1121-4FD4-9E24-FB23D684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08E6ED-3675-470B-B600-730A63915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69E966-2A61-4E2C-A9EE-25817913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95F1B1-EAD1-4BEB-B9E9-2F3B7E5B9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72CC7F-8B46-496E-9219-B464153A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3A5A44-8F6A-46A6-8C25-819B2770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7285"/>
                </a:solidFill>
              </a:defRPr>
            </a:pPr>
            <a:r>
              <a:rPr sz="1200" b="1">
                <a:solidFill>
                  <a:srgbClr val="0B7285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16ED2B-2386-4C68-8CB6-374E5D3D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846661-CFBC-4B09-858B-C25EA9A5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BD3BC4-4BBA-49DE-A0B1-9677D8C8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061923-123B-4E3C-8CB6-096A5C46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451CAC-3637-48FE-823C-45496DF23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AC0B82-FA78-4DFB-A7C8-FF56EBC4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567695-6964-40A2-86E0-28D477B4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123983-5666-427F-80F9-C1ED88A1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E0E038-2BDF-4B8A-9E01-3E069F9A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410E42-74C3-4812-9080-8CD21919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BF2C46-BB11-4964-8C02-2524FA26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96750-4EDF-4CE0-9A42-78BAF6CC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5CF992-71F2-469D-BB7A-8D7AE2AD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214F39-7C4B-45A1-AD5F-DF1CF752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AC46F7-46CE-4D2C-BF6A-648374FC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9939A2-5BDF-49BC-AF2D-84724934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5A6A0C-9D5C-47C4-9729-32DF7331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95D471-7C94-4D02-9DCD-743A5A73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EF96C8-0FBA-4376-9893-C4248338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D298F7-5947-4544-8323-84A705220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40DD04-00B6-4BE6-9292-397C6B5CE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8E86DB-646F-40DC-A1B4-8F3FCB96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28BE5C-40B4-42B9-B9FF-321CED9B9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068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1240DB-2B20-4185-904A-A4B0A17B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915778B-BF5F-44DF-A1C7-11D60DE2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915445545"/>
      </p:ext>
    </p:extLst>
  </p:cSld>
</p:sld>
</file>

<file path=ppt/slides/slide6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713E12-216E-41E2-9E10-98A49408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76989D-29F0-429E-8A49-2D81BB76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C98218"/>
                </a:solidFill>
              </a:defRPr>
            </a:pPr>
            <a:r>
              <a:rPr sz="2550" b="1">
                <a:solidFill>
                  <a:srgbClr val="C98218"/>
                </a:solidFill>
              </a:rPr>
              <a:t>069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CA2F1C-1BAB-46AF-A745-B332F754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RUN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0298C4-7DCE-4143-AE4D-DCFC1586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672858-E6FD-4691-AA4C-0B10F91D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Convert alerts into disciplined workflow and governance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25276-43F8-46D3-B6B6-4F8DA271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F43546-3698-461F-B25B-41228F38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561E5B-84C8-4FAA-A942-28CD89CCB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AE051F-EEEC-4ACD-B529-9FF12773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SOC operating model in production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C1C1E1-772D-4A92-80E3-5C8B8DA9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61CB76-E0ED-4C0B-971B-06C548E30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589A01-AE91-495C-9208-793611A4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23F6D5-443F-4B1A-BC80-3F188BE08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1A2F99-618E-4C08-91BA-CABC80D4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8218"/>
                </a:solidFill>
              </a:defRPr>
            </a:pPr>
            <a:r>
              <a:rPr sz="1650" b="1">
                <a:solidFill>
                  <a:srgbClr val="C98218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23C3E0-5947-4748-8166-B80625C8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827D89-E35B-4834-AB5E-743C06D4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C25E1A-7268-4B7C-9F83-E79A01C4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Production SOC work is queue discipline, investigation quality, escalation, reporting, and improvement.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5C5769-C5B5-4C74-ACEE-B5CB869C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933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57F5B8-A3C9-42ED-8C04-AF2F08B9A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A332D9-74F5-4586-9478-FC417F09D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33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 operating model must define what happens daily, weekly, monthly, and quarterly.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76C34E-BC78-4D75-9107-0E33CEA1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695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737EE3-8E5D-4325-9962-8DC892F1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0BE5C3-394B-4B9A-A99F-7B4360A9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Metrics should reveal both risk reduction and operational friction.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3AA24C-D5BB-4E75-BF24-3613FA7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38150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966B6D-CBEE-4944-889E-81AECE4F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910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9A8C61-A91B-46F3-8827-AD911CF68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9105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DAC198-90E8-4E34-9C43-9A52C1DB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9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069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DC658A-5164-46E4-A8B4-C5FDF417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791200"/>
            <a:ext cx="69723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1F08F3-365E-46D1-92F6-F2D5C450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579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819634082"/>
      </p:ext>
    </p:extLst>
  </p:cSld>
</p:sld>
</file>

<file path=ppt/slides/slide7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1FEE8B-8808-47C7-B1E0-0DE08295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Service catalog and what the SOC owns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8F06E3-B09D-4AF1-9ED0-15420FE7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8D3DB6-A83F-4A4B-BE6B-068D27870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49B5F3-03A8-4611-84DB-C282AF9D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B002E9-9F0C-45F3-97DE-0894F75E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E4F3E9-CF2C-4302-8E0E-307141353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9DD873-50DA-4C40-9480-5F7C2F5F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BA0582-354D-4555-9E31-BD35CD0D5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C7E1D4-19D5-4D9A-987A-A2F6E23A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7058025"/>
          </a:xfrm>
          <a:prstGeom xmlns:a="http://schemas.openxmlformats.org/drawingml/2006/main" prst="roundRect">
            <a:avLst>
              <a:gd name="adj" fmla="val 188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DFE2E9-C10F-4199-AB0B-8E7F4F12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8218"/>
                </a:solidFill>
              </a:defRPr>
            </a:pPr>
            <a:r>
              <a:rPr sz="1650" b="1">
                <a:solidFill>
                  <a:srgbClr val="C98218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A39BE-D35C-4777-9750-56BC584A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D64116-8121-4CF6-A6F0-25F3F939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6533F5-21F7-4FF4-B32F-D4836D2B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BEB0F-E048-46B8-A808-9D50ECC8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E6D1E6-5F79-45C4-871F-1C56FEF1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70BDAF-1C0C-468D-BE73-A40AD379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1DA26A-8F9C-48AF-BE78-55A473EB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344D4B-035E-4D27-AB90-DB40F355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B19757-8112-44C2-88A2-55940655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F5C7CA-E562-44E7-AF99-3A716C78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A0FBD9-2F63-48E0-AE85-32CDD515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B34E07-CF46-4BC2-BE30-B764B9C3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9FECC9-670C-4E07-86CB-135E4C591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D67352-EDB5-436F-86CE-55E1A316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6A8C2E-9874-4602-878E-169C13D2E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39B463-D65D-4DDE-8FC9-3A2CCAC7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22FA31-6B72-4419-B85C-BF29F2EA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The service catalog defines what the SOC monitors, responds to, reports, and improves.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5461239-5311-43F2-9CB4-712130A7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322C12-CFF1-4C8B-B312-E0252EA13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It also defines what the SOC does not own and where handoff occurs.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366E98-5F2E-424B-8601-F25BD1A4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943E73-47DE-411D-93BE-90A458C3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Service clarity prevents expectation gaps during incidents.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4FA6E8-B373-41BE-A45C-24BB59D4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070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728244-0EB1-4C38-9293-038366D6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32998C-3DAA-4C99-92DC-2C21C993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2120006591"/>
      </p:ext>
    </p:extLst>
  </p:cSld>
</p:sld>
</file>

<file path=ppt/slides/slide7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A165F5-6757-43DB-BCE7-B3BCB141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Alert intake to triage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717DCC-28A8-4D6E-A42E-9ED07225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8C2637-3D9E-4C97-9206-9E98E6621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204F7-C557-49BD-84F4-15292D32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E19C1C-EC1A-4D4F-B36B-04598705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EC5E48-18FF-48D8-A5C0-F2283031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6B5CB4-095C-4CF9-80B6-F42A9648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504503-EDB7-4427-811F-02257467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13AB49-DBFF-4727-A713-90ABEFF2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D9E471-BDCF-4E9B-87C0-8814646B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BF959D-7BEB-4B90-93B1-7B5454D5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94FECA-745F-4DF7-9A89-BC4E8B05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D8EBF1-D0B5-4E8A-893D-21AA1170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8E1F22-D800-4172-9C90-2ADBB28C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2BB89A-6D26-488B-B7EE-A7CC74F2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5FF55D-4016-49A0-9DA0-A1960082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CCCFE2-E95A-4E2F-9353-6B6DA88D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B3E1EE-32BA-4675-A5F3-C37674000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972049-D03D-40CF-8E87-CBA2DD993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04CB33-4FDC-4CE1-95E3-193DC32A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41B635-2D1E-46C0-B036-256155D5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E75339-6E31-48FE-A60E-B8F55AB4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D2E731-ACE0-4213-8488-95AC89997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Every alert needs source, confidence, affected asset, identity, severity, and routing.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8452D1-E1FB-478F-8B53-8D73AB4F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E5F4BC-D4F8-45CE-B999-42AFE3C3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046095-03B8-4249-868A-2F2A79A2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Triage should decide false positive, informational, investigation, or incident escalation.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48AF0D-959F-49B9-8AAD-35529871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AF7F87-8694-4630-B785-A701D2B3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Closure reason quality is an input to tuning and detection engineering.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88FB0B-5CFB-453C-A489-A679D07BA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77FD76-CAA3-4B24-8730-425C564E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3ACA56-063C-4241-804F-B0050BB5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071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082A52-EB5D-4A58-851D-05719691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BAFAD1-AB37-465A-9203-A85139AD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811524082"/>
      </p:ext>
    </p:extLst>
  </p:cSld>
</p:sld>
</file>

<file path=ppt/slides/slide7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4E99D12-586D-44B2-84E0-6868F185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Escalation path and authority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29348-9EBD-4FDB-8731-C7F3E109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940B98-BA8D-4076-A225-09E9C738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DC1B3-BFD1-4B28-8333-C2F5622A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7E29C6-3719-4B2D-86C8-7125080E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655AC3-B0CC-449A-B9E1-5E651B64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C62991-7EB3-434E-9F31-13F08A5B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1BFE79-00BF-4244-AFF2-92236DA7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E9DA64-2391-41F0-B1B8-2BF373A0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07DB9D-4978-4A50-B8F4-755E7CDD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C876D-90FB-433C-9807-832E56E3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8CBF94-C694-4053-9414-C62C3B10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949659-2537-43E1-BEAB-D7F95C47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D9BF67-6390-49F7-87C3-4574E4EC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4DDDDF-74E9-445C-B1AC-A8E3423E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53E126-1A85-4913-B320-E58A85D6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6C002D-555C-4251-AFD4-19E99822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968559-3BCE-4F40-B860-66C7666B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B2973F-270E-4B41-9ED2-D125C76F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D6F07C-308A-4022-8752-DE2B4924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5CFBFC-32A8-426D-A1CA-4EB2877D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CE91A6-6388-4B0B-AF4E-388FF612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C831EB-ED2B-4356-9F6A-1A2120C4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Escalation is about decision rights, not just notification.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CC2D2A-F7FB-421A-941D-F2F74E0D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06B8DF-16B9-49F7-AD72-666643B0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68A52C-778A-4A0B-8BC1-208265D0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Containment, shutdown, legal notification, and public statement need explicit owners.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AD683C-E3D5-407B-B7C1-2F142402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FA0A50-731D-466B-95E4-AB0CD6F7F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Time-bound thresholds prevent incidents from sitting in uncertainty.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3AF72A-AD57-4862-A7F1-AB5D42C2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679FC9-86E3-486E-A53C-64A71C5D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55257A-2A70-46E5-9AF3-E60F041F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072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EDE7F9-31AE-42B6-9A71-5A451982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F472CE-92BF-4E96-8D03-C900C049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2129747413"/>
      </p:ext>
    </p:extLst>
  </p:cSld>
</p:sld>
</file>

<file path=ppt/slides/slide7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E6156F-5856-4764-8214-F89BD29F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Shift handoff operational pattern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A1918-2A8F-4BEE-B48D-8830BF7D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E72677-7A97-427F-95F7-DD391EA4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FE9B35-DE96-4EEF-B51C-0C9D8F518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80AA7E-9658-4632-BDFB-E0463347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F1055-E857-491D-A422-AD45F4A03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3B6B57-72C1-4B4A-B318-F3FEF9CC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A2FB75-C826-475C-B9C5-55307A51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DCF882-BD98-40A6-BEB2-1272EBE3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F27247-C8B8-4662-9AD2-7F2DA6AE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A2AA1A-1B93-416A-BEC5-3681EFC5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206981-8A14-413E-9F6F-C13B4C24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BA144E-2262-48DC-B72A-DA0A3783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AA4CC8-79BC-4BDF-85C1-3FA07567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DA8B7B-5518-496D-B17F-17C498DD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201AE1-7B2C-4242-BDBD-47565AAB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4C7330-DEDC-48DD-B1A1-5396CB32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A6524F-96B8-48F4-A04C-F402571F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B39FE-AD85-4379-B793-35391540F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0160AD-C794-44A9-8F25-C56CCF42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C4A7D7-61B5-45DA-8E74-462F7F03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5DE9FF-DB09-4CC1-9A82-D1EA23A0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739B42-239E-4120-A778-F4860A92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Handoff transfers active work, fragile services, unresolved decisions, and monitoring priorities.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A5E86D-C66E-44F3-A8F5-B90CF014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141FF0-4BCA-40F7-B679-6898A72E2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73B32E-18BE-4467-B978-82175973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Use a consistent artifact so each shift can audit what changed.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725232-D948-409C-9F11-AC2799A4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C6CDDF-DB50-4234-8CF9-3E42570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Escalate gaps when incoming teams cannot continue without rework.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35C390-0CC1-4385-8A9F-5AEF22FD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879C42-AB2F-42C9-9389-6C4A04DB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502C60-4B99-498A-B320-38B585BE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073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C33D1E2-9702-43A2-821F-82AE77B0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6D9DD7-DD8D-4138-8FA2-50A7D767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364915969"/>
      </p:ext>
    </p:extLst>
  </p:cSld>
</p:sld>
</file>

<file path=ppt/slides/slide7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7A8073-DDEC-4543-A549-11DAE40D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KPI model: MTTD, MTTR, quality, backlog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C3A75D-5072-42C8-A400-38EFB6F5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8BFFE6-01F5-48B0-8F6D-7B7CCF2E7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2CD5CB-E4B8-4359-8860-F1CE0D34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B2D6F5-F93D-4815-827F-5FCAA0EB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FE266-3257-411C-81F9-9C653978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21CB43-D22F-49AD-88BC-548499F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5153CE-4610-4BAB-8348-B94B3F1B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92BCE5-55A7-4754-A7A6-0486B227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E5E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C32885-9881-440F-8433-4219050C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955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811AE8-539D-44A0-90B9-468DAC55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813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Trend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E768D8-2645-47B1-A9ED-463C37E5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2324100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91EEFD-5344-46A2-BCEF-764C5144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955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D6E18D-4297-4771-B229-C3D95FCC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7813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B3B326-850A-446C-8626-C692A63A3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29313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CA12D7-680E-475C-859D-CEC938A1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0960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Backlog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FF0CCB-935D-4DD4-A999-774E4496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3817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D6C95B-272B-430F-B85C-088F7867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5929313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67390E-6733-493E-904C-FBAB1D199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0960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7810F7-A8EE-4677-9C16-64030E20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3817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5960D7-C550-4049-A849-9D629B5BC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24100"/>
            <a:ext cx="897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 board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34799E-3D98-44D4-A969-BC429E72E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2705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E3154A-9E13-4E89-831B-01EE747A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76550"/>
            <a:ext cx="8553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Time metrics matter, but quality metrics show whether the work is trusted.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B2DD9A-335B-4593-98ED-6690389E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3848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117190-1349-4264-8712-C5F27CD5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019550"/>
            <a:ext cx="8553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Track true-positive rate, escalation quality, evidence completeness, and backlog health.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D38028-4517-49B8-B0A0-7A3DFCD2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4991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178C23-7C8F-482C-8A69-E32CC278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162550"/>
            <a:ext cx="8553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Use metrics to decide changes, not to punish analysts.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33BB74-3A1B-4D95-AD72-77891060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074 / 142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14BB90-B491-4451-B939-0D5207EE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244EC3-E30B-4C44-B2C0-CA59AF8C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71902146"/>
      </p:ext>
    </p:extLst>
  </p:cSld>
</p:sld>
</file>

<file path=ppt/slides/slide7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BFD2B8-D6C9-43DD-9611-E4FD9103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Detection backlog management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73431C-D91D-4763-B27E-73216A0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3E75DF-6EEA-44B8-8184-AFD7B6E8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5B344-3132-4534-A91C-E0291D1D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7416BC-5234-490A-86DE-EADF391F7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9D6D58-A32E-406D-9CFD-334358DC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FC77A6-79F5-4DA7-A18E-EA81C5AF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729F10-4591-4255-AD52-007D8A0C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51AC2F-8E1A-4FEC-A7CA-9DB2974E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7058025"/>
          </a:xfrm>
          <a:prstGeom xmlns:a="http://schemas.openxmlformats.org/drawingml/2006/main" prst="roundRect">
            <a:avLst>
              <a:gd name="adj" fmla="val 188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F9DD06-E526-4C4D-8FA9-57075DD0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8218"/>
                </a:solidFill>
              </a:defRPr>
            </a:pPr>
            <a:r>
              <a:rPr sz="1650" b="1">
                <a:solidFill>
                  <a:srgbClr val="C98218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14D64C-D885-473F-A1A7-1FAB9575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E4D45A-6491-4A2B-84C4-4F6296551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121577-65C3-4399-866C-A216B85E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14D5AA-2072-4D2A-AF70-11AADDE1C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F1027A-03A1-408A-B621-DBDCDA79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4CFACD-5D4D-4973-A210-671A0346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07CE78-34DF-4B93-BED2-A4E9929E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63D57D-071D-443F-89C1-08663880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7F3966-8A4C-4FC9-85BD-AE9203BC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9B0B74-7AA1-4124-80A0-223E3B68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8A615B-A28A-43C5-80D6-65EDE54C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35517A-E752-428A-B815-297E685F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5CD585-1CC0-4340-BD89-3EEE27B8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1EE32A-3A64-4B98-9616-021EF985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C48B6D-2CAC-4302-9366-7685429A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CE7CBC-4FAC-45AE-957A-7BD957A1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09A00B-6DBC-45C3-AAFD-52AE8965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Backlog items need threat rationale, telemetry dependency, owner, priority, and validation plan.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EE101A-C536-4B73-8D1C-4216CFE5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8F8E10-80DA-48A6-9BE0-C6597762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Prioritize by business risk, threat likelihood, exploitability, and detection gap.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6ED4F5-92A4-4190-82BC-1C32AA74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5B553B-EE35-4DA3-B6C9-8BA554A0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Retire content that cannot be maintained or no longer maps to a real risk.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326B83-AE1C-4871-A91A-EA1EF566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075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F461C-6D9D-4EB9-9449-ED3A8BAC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6AE21C-D0EC-4184-AC9D-2FAC7101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92257076"/>
      </p:ext>
    </p:extLst>
  </p:cSld>
</p:sld>
</file>

<file path=ppt/slides/slide7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A96D2B2-3E2C-45A1-B542-031EB1BE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Telemetry onboarding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53EB50-A72E-47A9-800B-81A2691B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80F57B-C0DB-47F8-BA51-22B0A411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391FBD-E6A0-4645-B4E4-3A9FAD68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D9558C-0ED6-4B59-A64B-FD74CAD3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F0FFF3-CB08-4431-9F03-57502B3C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BF23CA-5B0D-403D-B113-2B313754C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787F58-7B2B-4848-9AC3-B6DF7918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B6DD61-A135-466A-AF84-1641D7FB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83DDC4-B6F6-4132-B0CA-9709F3DE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DF235B-9429-462D-9962-706569D1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2F4426-0DFE-4771-8487-1CA1992F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93F36C-6A05-4FE8-8CA6-213B0C85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393DEA-25D4-4BC2-AC42-4989B4F6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92838A-1CF9-4629-A263-8C764316C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700D5B-33B0-4A71-89D2-4599A2AE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545A92-F08C-4766-B6B2-8D842264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46227-79BA-4343-9603-8ABA21B7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BB8710-35D7-4B0A-BC8E-05E5CCAF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5B56AD-0BE9-42CF-A826-FD0408979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8E57AE-1F23-47A3-99BA-6B69E23C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A69324-C7B6-4217-9EC9-76815588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C52079-2E1A-4E98-A72A-8F7F214C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Onboarding is request, owner approval, parsing, validation, use case mapping, and health monitoring.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150C1E-8557-404A-B1CD-3A723D314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04BFF6-AF65-467A-9D6D-B2F2C2F6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C6DE8B-20F2-4D0C-9650-CAB13493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A source is not live until queries, detections, retention, and data quality are verified.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1A6CE0-CC1D-4654-9E45-2E9C0E0B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330782-2371-4A2B-B423-8505E62F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Assign owners for source health and schema changes.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2CF818-9EF1-47AC-BD7D-8D91AE59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4BC271-96A4-4374-9ACB-67FA06A2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B15546-419D-45CA-9597-FAAD2F27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076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FED07D-4EA1-4769-BD69-5C27CAA6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148BF1-5FC2-40DA-B958-98E7BD167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358868532"/>
      </p:ext>
    </p:extLst>
  </p:cSld>
</p:sld>
</file>

<file path=ppt/slides/slide7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D5BC88-466D-4F7B-AD84-E9E4F29C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Alert tuning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EAFE61-61EE-4E1D-B423-18FE70B3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834302-BE14-4225-853E-DDE670F2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D59FC-3574-4AD3-9D81-DFCD716A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172470-5F75-4931-9114-4CCFD00E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6C3C7-5A93-4C58-97EB-0AB5637F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ABC0A4-DB8E-4280-81E6-80DFF50B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D4947-9A96-40EF-844F-878F1C9D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FFF07E-4BF7-4FB0-A1FD-220FA337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148104-EFD1-4EFA-A538-3F91D0F38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DD7EB7-D53D-4A26-A82F-8E80E700D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53393F-DB2D-4C45-A075-92A07167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CC72DB-7E53-485B-A86E-7D2378AD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C84922-FD6F-424D-94A7-E2C767C5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A71AC4-0DEB-4C6C-9C83-76080259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649805-C487-4B7B-B359-560DA03D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55459D-99BE-4513-9400-D838F17A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50EADB-C17E-42BA-9D84-D3201115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6053FF-D019-4FDD-8CF9-D24A1742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601A72-19D7-4AFC-B528-A12FD7E7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D15338-D1BE-4539-81BC-4BF192AD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FE14C5-338B-4C5C-A7A0-30FD906F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9E44E3-0D94-4366-A5F2-111EAEEB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Tuning starts from observed false positives and missed true positives.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B9A1FE-9C60-4710-A201-E62B8E21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8D723E-0FCD-4642-BE23-FAFEA040F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570ACA-22CC-44E2-A9EF-AE150787A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Record before/after logic, expected impact, test cases, and rollback path.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5485C5-E677-4348-A537-B2513F60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1983AD-AD7B-42F9-B0FD-4DA60FD4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Measure quality after deployment instead of assuming the change worked.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8A6DD6-F40A-49F7-88B6-2DD36A6D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71DF22-3A15-4998-A3B3-9357FF49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DEE520-99FE-4990-BF7D-65F7DBFE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077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4D8E6E-A399-4269-B783-E0622751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D437C1-5B42-4E8D-9FE1-42EFCA8D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68782120"/>
      </p:ext>
    </p:extLst>
  </p:cSld>
</p:sld>
</file>

<file path=ppt/slides/slide7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E97FB99-014E-4BB7-B650-905C2DBC1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Governance cadence: daily, weekly, monthly, quarterly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94354A-03BF-4448-B8B9-A7B2A410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4EB1CB-F775-41CC-91FE-1C22E5A7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283F11-46D8-4627-9775-6A3D5683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688956-2E1A-4ECC-8349-F968ABA4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7BE404-F75D-4355-8448-295D4D37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76BAE0-0732-4817-B98F-980E4F76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2A2954-A928-45CE-B054-5BD8D5F8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5965F4-A69C-4F72-9A72-B54E7944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249551-CD71-4994-ABC9-A3D5AE27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5980C2-568F-4810-B073-580F78BC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Daily manages active operations and incidents.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717E09-47A0-4B60-B244-99F08E3B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A73D4-89EF-4B69-B8FA-DC8A6F51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672589-B8FE-470B-B4A9-8FBC699B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1465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Weekly reviews detection, telemetry, and remediation movement.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6F8907-1387-4F7B-9A38-5ACF81A3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042B6E-D563-4B15-AE09-9F22242B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5F38E4-2705-43EF-A563-6954A6CE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052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Monthly and quarterly governance turn operational evidence into funding and risk decisions.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A0C039-9E1E-4FAF-A475-853AB979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C37D00-4908-42D0-9AE6-157C9161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EAFB5A-3C37-4876-BE41-B34D38D7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81B024-2E85-4D7B-934B-6AAD682E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48146F-3DA1-4AE2-935A-86C22EB1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7D6D58-EB0E-41E0-9052-5DD089B8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F90DBB-014B-4BDE-B108-B8D278612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CB2A1E-2F22-43AA-BED8-978B64C7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1374DD-57B1-4A74-9875-8334A42B7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078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D0BDFF-D653-4147-8417-3F9D441F5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34990F-85AF-4218-9FD9-5D7F588D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827871994"/>
      </p:ext>
    </p:extLst>
  </p:cSld>
</p:sld>
</file>

<file path=ppt/slides/slide7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A37B721-D5C8-4777-9E5E-48F86E0E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Control ownership and accountability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EAB252-C581-4B6C-9C16-2AD81536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59B350-194D-4336-A73C-1AAC57DE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76355-D079-4FBB-95EB-ADBF7593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34D45-771A-4117-A682-D0235622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DEDB8F-E435-4F1B-AE9A-C7A9DB88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3ACC64-D827-4499-848A-6461C27A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730AE-175A-4BDA-A89D-6C5040BA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B92410-DDFC-4CEF-9CBC-88EBEDC9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992639-0CD4-4189-9BD8-64AF8B6D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7A1263-7022-44A1-9A4B-4061FE26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Every control needs business owner, technical owner, evidence owner, and escalation owner.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E4EAA5-73A5-4926-AAEE-6C514BD7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C8B019-DBB0-4B44-A1C0-2894394A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EF8878-3DA9-4A37-BC60-FCFC0712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 SOC can observe control failure but may not own the fix.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A62E4C-D995-479C-BEDE-D4247364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4D1628-0C92-49A7-A8CF-0CA6295FF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FC17DA-C21D-4E9D-86C1-FD027C01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Accountability is strongest when evidence and decision records point to named owners.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D72AF-AB5B-4015-B828-D3479195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868330-F580-411C-AE4F-51D98980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A41693-25E8-48D8-9ACC-417DA238A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D29138-058F-4CE5-A7CF-F5B4491B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23D784-AEC1-4E65-8DF5-C70B5F96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A713D0-75E0-4BB1-B655-C4D3D590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1CB2F5-A10B-4A72-8B1B-F7C52A3F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16803B-76ED-43E5-8188-6F4EC88C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6AD7CF-76C5-4115-9022-F8368A4DB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079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20D63C-89AB-4E40-B6D0-0FF8C460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BB28AC-46E8-49E8-806B-790D599C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811008261"/>
      </p:ext>
    </p:extLst>
  </p:cSld>
</p:sld>
</file>

<file path=ppt/slides/slide8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AEAF51-CE1D-4779-8179-307924FF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governance operating calendar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F45AB0-EA04-4CAE-A402-1DC28B30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026AA6-A9C6-4FD8-A8EB-6EEC98B5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44E36-B420-4249-889F-6F08CD0E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2D142E-C90F-42C7-9ED6-C482D4E4C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8FFF2E-780F-4916-B626-D88C04ED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A2DA9F-83F8-4FC2-961C-F710F448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933F25-7A5F-4348-932B-B11C35CD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162A3D-8B06-4992-8776-6A8DB990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99D34A-A457-4413-96B8-1CAF5503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Cadence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F2FFC3-6039-4E59-9584-DABFDC5D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5FFFD2-EFB7-4348-AB04-28A62A14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Meeting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4D26D4-381F-4BF3-952D-2CB8CD7D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90B4D9-6E54-49A5-83AD-352C6075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Core output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7C189C-98A2-4B25-8224-3F0762D4A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49AD96-F2AD-40E0-99B2-1C3020B9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Owner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F914A2-4846-4496-82A0-5F5A7AF3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BD57A3-798E-47A0-B6D4-F5DB72481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Daily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39E0A6-5D1D-4F16-8724-0C6DE96A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5DC46E-7EA3-4EDD-B532-30902B32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Shift/incident review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0AA093-E474-4CEF-B021-534D2614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77DC09-4C1D-49FA-B02A-C3D19E41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Queue and decision state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4D4198-5277-47FD-8293-A7320C22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94F640-5157-429E-AF69-3FD93A54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 Lead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F8AAB2-8BF7-45E9-8EE9-3F1ACA2F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079731-08AC-4343-81CF-F2B1450C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Weekly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7E7681-90A6-4D0D-B4DB-204ACD12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FC723A-6328-46CF-9E31-119EB4FA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Detection/telemetry review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4E67B5-7D2A-4E0A-ABA1-F5160586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663720-0C9B-4E0D-8CFD-6374E472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Backlog movement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71937F-9C6B-4E0B-9050-5D0F854D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98F0F2-4A56-490A-B4B8-7E536EB17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Engineers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421435-64C3-4FE1-9F33-35FC792BA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540D50-D603-40F2-86D4-C270397E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Monthly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B4BC5D-66CB-44E1-B79B-8B84D43D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2C5675-F455-4CF2-90B3-7F6BD209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Governance review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8AFE49E-628F-48B5-A232-0D700D48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678A5D-2BEB-4FC9-9CA3-ABC1A26F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Risks and actions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B6EE164-9407-4B3E-B7F8-A22D582E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F0EE45C-2117-41FC-ABCC-326753134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 Manager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421635F-65A5-4DE3-86D1-D15B9031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C5E9BA0-D6E4-4F67-BB0A-1B4754E9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Quarterly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830705A-C2B3-44C5-BB55-E49B8AA5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5D6DC86-FD9D-474A-ADA9-C20544FF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Executive/board pack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5FBE653-D440-463A-BDD6-A402461B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258FDD1-E59F-41E0-B184-5638E17D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Funding/risk decisions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D508766-A9EF-4E5D-B951-F34E7C97C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F6A721F-E9B6-4061-B532-ACF3B0F6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CISO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84FE44E-F8E5-45BB-9535-B60592FA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080 / 142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B7F4CB3-95D9-402C-A5AE-836EE667A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0DEFF15-4E07-4CAE-8A69-EDDB1A0F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62865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258289240"/>
      </p:ext>
    </p:extLst>
  </p:cSld>
</p:sld>
</file>

<file path=ppt/slides/slide8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1283D5-B7A2-4DCA-83D6-33E3D97A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service ownership / RACI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CC32E4-D573-4B41-98DB-4B818A9F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F5FA80-4196-484E-ABAD-DF47E2EA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F1E3FA-6367-4586-80B2-62A75DFA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7E402-2AD7-410B-A382-0AB05B367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1ECBDF-D89C-426F-9C2F-7653894A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4B0CAD-203A-4DD3-904B-378F2CBF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048834-053F-4B6D-B7D5-BBFF10D55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9BE695-1B10-4AB4-9D50-DF736BD7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481657-7C16-438A-BEC5-92EE63C3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Service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63962D-7620-45EB-A3C2-3BE28B5A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B14F06-911D-41AA-8A04-20239938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SOC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552527-D7C9-4D61-BE58-FC661B0F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6FF6B0-184C-475C-8943-5E057B26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Engineer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AAB922-8BCC-43BA-88FB-3DDF9817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C7E016-6EA7-4286-81E8-837EB9CF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Business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552D88-0194-4B65-8262-C1A5852D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F2C9F0-3FC5-47F7-836B-681C0626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CISO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A0DDE6-27DF-4DC6-80D0-23EF78F3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40CD6F-3385-4024-A1B9-3C76EC45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Monitoring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469F5B-78DE-425D-AC24-8628DA40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27E0D4-E1A8-4152-B631-D4ACDD1B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FE06AC-FE53-4EAB-BCBD-3418C595A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046257-B358-4BD4-AAED-036F4E6D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21F451-145E-4551-8BB8-229CC2D3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3C84A7-4B94-40BE-87E9-77CB98EC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213C96-4812-483F-93F9-34A97B5C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742BD0-04B4-44D6-9836-26DB399D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0D0BD5-14FB-4475-B75E-3EA51F71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A25C84-01C1-42A0-8538-4053DAE6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Detection content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642AEF-A369-46B8-A491-A91FB829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5DAD25-50FA-47B9-9F14-5B27B804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E1AE14-2D63-4058-A903-D0F9F0C6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0C0671D-7805-4421-9141-3B2B17C74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C781F2-3B15-4933-9EFA-BA084BDC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5A9206-CAC6-4C3E-A00F-47550610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880AD3D-22E9-413F-81C0-9E692CEE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E0A4112-ECA7-4A22-AD5D-0DF126F1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43EAACF-B0F9-400A-9F9D-A347007C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8FD9B92-9016-4FBD-8265-2138571C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Containment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620E174-CACC-4163-AC02-C731CDBE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F966E5-D625-452F-AF51-4777793B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B428F1A-9960-4E03-9DB9-0F163A96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850E25-3260-468C-8948-E2959015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302E43E-6BC7-4C75-BFD0-C97824296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91B8B9C-5CDF-4195-B1EA-5344A280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A/R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5AAFCB1-4B51-435E-A762-3CAA96FC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E562CC6-7A6B-459D-9498-0C56CFB7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F01D56-7CBF-4329-A3A0-6D9702E2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CAF9246-AFBF-4FCD-89D0-4609B75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External comms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F754216-CE0E-4E84-9953-BCE1023E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AE4FE8B-8007-457B-AD71-F003FB35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ED19D88-74A4-4BD4-8F3E-929C13BC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BEC727F-33EE-4B7A-AE73-EF2A8EDD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94549B4-CD74-4BB6-9138-90EB3178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C79D480-5C08-4069-97A6-2F70BCFC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9AEAFE9-C369-412F-B991-616A7988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F19D674-9F16-463D-BD9D-3F496486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D29DE1F-5ADA-4C28-95A4-D9D74E81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081 / 142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4E51660-4336-489A-89A3-77C4EC96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82E9387-F9BE-44E9-8C4A-DB148F1D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62865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376875829"/>
      </p:ext>
    </p:extLst>
  </p:cSld>
</p:sld>
</file>

<file path=ppt/slides/slide8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32FD716-1340-416B-9B3D-A1C688127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Workshop: map your operating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24841F-2062-46AC-8232-EC0A9F7C7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0D633D-4A2E-401D-8B4B-7E5A02E5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289C9-ED5A-4E5B-8672-81872B9B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0DF9C9-BB5A-42A7-928A-24027F4D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DE32F3-A339-4B2E-ADFC-0BB3114A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D12879-BDB6-41B1-8C86-07D05CF7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80EE3-29B7-46AF-A840-F7AE4C75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4B1EF3-6FCA-4FD4-92F0-2D3FC776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88E397-C89D-4B04-995E-71A4CA2C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8218"/>
                </a:solidFill>
              </a:defRPr>
            </a:pPr>
            <a:r>
              <a:rPr sz="1200" b="1">
                <a:solidFill>
                  <a:srgbClr val="C98218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A2C7A6-0A87-4A9D-A35C-0492672E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25B6BE-ABD1-422C-8EBB-FD758922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F95E1F-D551-4505-A1DD-ED0A6D84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92E248-E46E-4179-8FE7-EAC33101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5CA0EF-8FF7-455E-9AEA-C2B1ECE7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02B3F5-29F9-468D-98FC-42C6D1F4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277355-F033-4270-B7F6-3D08B505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8E50ED-6742-43F6-8929-ABE5D530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F5F09D-D2D2-47B5-98E9-E98D7040B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18A507-5694-4CAC-BF0A-BC62A8BF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7849A8-427D-455E-A608-EAE7C2C0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0CED8A-0F15-40BB-A274-053F5898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543862-5249-4BB1-AC7E-860FEE80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A09E6C-8D44-479E-BE7C-7A6F7374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035880-1042-4E9E-A064-878AD582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91369F-B0D4-46E4-9E91-66980ECD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1DA66D-A118-48C5-AFED-255CED96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2373EC-1B6C-41C3-94E4-02BFC954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37893C-89E8-4A71-83BE-A1333948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A622B7-D94C-484A-91A6-F19FFAE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E0E3F6-7994-4151-A61D-0F5E6DDE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87B020-12C2-42F7-9898-ECDC64C2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C34114-E7C1-4E55-B936-FB695B9F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082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51BA40-D534-43ED-A5EE-DEBA47D1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481A5D-5DFC-4536-96BA-D9859450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681955832"/>
      </p:ext>
    </p:extLst>
  </p:cSld>
</p:sld>
</file>

<file path=ppt/slides/slide8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3AA105-234F-42B8-B10C-0B05EBC7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661B3E-234A-456B-869D-BE9390A3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D7C66"/>
                </a:solidFill>
              </a:defRPr>
            </a:pPr>
            <a:r>
              <a:rPr sz="2550" b="1">
                <a:solidFill>
                  <a:srgbClr val="0D7C66"/>
                </a:solidFill>
              </a:rPr>
              <a:t>083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F769C2-CF95-4181-A2EA-50391E1C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DETECT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10430B-D5F5-4427-8C2D-4221EDE1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FC8401-79A2-439F-A741-A35B2D2D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Manage coverage as a lifecycle, not a rule list.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65DEE6-003A-461C-A742-E8F18409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060E6-1DD2-4F39-B3D3-9279EB0C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155A7B-92A4-4BA8-BB91-CC38766A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AD122D-CEE4-4B08-9B03-D8176006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Detection engineering mission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94BE72-D8D8-4688-A742-F8642846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3FF7E7-0095-4CFB-84C0-8DE2A2E4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F1026F-D1E2-4905-8F10-BC11EBE9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EE2146-73F8-46B4-A886-8ABD70AD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F52A6A-7AD8-42C9-8FE6-7AA316E1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7C66"/>
                </a:solidFill>
              </a:defRPr>
            </a:pPr>
            <a:r>
              <a:rPr sz="1650" b="1">
                <a:solidFill>
                  <a:srgbClr val="0D7C66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BA189A-B7A4-4F3D-8CBA-2CBB4139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D41FD4-87DB-448D-8714-845D93AA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299EA-331B-472C-A7FB-ECA12A35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Detection engineering converts risk hypotheses into tested, maintainable monitoring content.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CEFAB5-573F-49F4-8AC3-561F4552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933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42FDE6-49EC-4978-B740-74DEB6AC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730BAB-DF03-47F3-BC4D-A4F32AF8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33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ties telemetry, rule logic, validation, tuning, and playbooks together.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E38E1C-D96E-4967-9820-6EA46D59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5242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D3E059-4C00-4788-8A5C-686FFEF0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623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3C42C8-0928-4623-907A-D8B58BEA1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52425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Its output is reliable coverage, not just more rules.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8EECF6-1EFB-4CF1-A9D4-D4B9B51A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21005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CBC46E-BFE7-48CE-9D42-4AF554D5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1960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67F6F4-01CB-4999-8228-F36FDC6C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1960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23A372-F255-4516-8EC6-0E1E497E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61975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083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F2EEDD-F1DB-4AF9-8D20-9EA7AC74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619750"/>
            <a:ext cx="71056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0FF289-A925-43E1-921C-6D559CF6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561975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24285806"/>
      </p:ext>
    </p:extLst>
  </p:cSld>
</p:sld>
</file>

<file path=ppt/slides/slide8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E94C71-CD0B-4D0D-A59F-BDBB47A5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Use case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86CA69-2A04-4A38-ADE4-87C0E567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6B2B28-E16C-48E7-877E-E2380DC7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A2885E-7F2E-4F52-BE98-699B3A01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4D4F60-7BB0-4875-B66E-743C0B97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4A2A0A-706D-4924-9B11-AF3661DF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AA6FEC-E704-4ED5-8A9B-B753768C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6ED312-C6E3-4198-8AF2-34695DE3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9A4DDE-231E-463F-B251-117E2088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83DED1-89DB-422B-A453-7CF00805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C4FDB8-66F0-4625-9EF8-355DF5D0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631B2B-67A6-4006-B5C1-45CA31D5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A1B0D1-6A6E-4872-B097-0B9381E2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0EC139-5337-4A15-A483-D3365F4C8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D3449A-EA2A-4626-93E8-942F742F5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D90C2B-C47A-43FF-AFC4-20F37FEB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F08005-43BE-4C75-92E6-DA3BBD94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489C62-3835-4A42-86E3-0B761AF8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2D2988-A676-4990-BA2F-43062913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CDADFC-4CC8-4C66-8D15-E3A5CAB5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714ACE-78BC-499B-BE60-FB9F8F8B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177C6-2045-41C6-BCC6-EC1C4987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E245D5-AE40-4329-8572-EED03EE9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Start with threat or business risk, then define data, logic, test, owner, and response.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8E03B4-BB3B-4C59-BE35-F4B35E57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41955A-AEA8-4F98-B953-C649D595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2EFAE8-544E-4ECE-AB94-70E16813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Promote only after validation with representative events and false-positive review.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55FEB8-056C-407D-9F46-C451D8D6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6B0885-607A-43E5-8F93-E893BFB9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Review regularly for telemetry drift, attacker changes, and business changes.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41B8C3-4D9E-4432-86A9-B60AD164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BA1B53-72F2-43CF-A92D-02413A6F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9D3D97-5E80-4D8E-9C6D-8D70F23D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084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634C65-08E2-439E-8912-3CB6D1BA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BD42E5-2C98-44CD-BB5D-C2EC35B8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024759727"/>
      </p:ext>
    </p:extLst>
  </p:cSld>
</p:sld>
</file>

<file path=ppt/slides/slide8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70A830-E924-47A8-831B-FE3E77B7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Mapping to ATT&amp;CK and business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98176-4BC7-48B9-94C5-DA36BD56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C496FC-E5A8-4CF9-B552-A6109EE2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BA777A-A20D-4D8F-BE4A-7EB592DF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65625-73AC-4C42-A344-03197E624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05596-BE73-4824-8AB9-F225E3AC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AC82F9-7043-43FB-A10E-8F110460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E60BF6-F49F-4DFB-81DB-69801676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D61154-ECD4-4C8B-A193-BD9759F2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7BAC73-74E3-4537-BF82-9D515E09C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1DCD80-38A1-4DD0-9436-2D8037D3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ATT&amp;CK gives technique language; business risk gives prioritization.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BBA498-F7AC-4DA3-8BF3-AD81499A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9F22CB-4635-49CA-9037-3CAF1CBE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69A5A0-DDFB-4476-B2B1-0377BD37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14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 detection should state which behavior it observes and why the organization cares.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38D66E-7DA3-4279-BDD9-62D1E721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CAAFA6-9FDC-42B8-99BC-CC8F156B2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B4E5BB-9428-4B58-B3B3-2F3207AF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Coverage heatmaps are useful only when telemetry and response quality are also known.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34F50C-DDB5-4472-928B-B9F12523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E8073C-F372-467F-8E38-215ADF7A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365219-3D44-4EC1-955A-A49AA073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033819-14F8-4F22-8373-7BAC47A59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7BDE1D-1028-4E08-8FB2-71A2FF6A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ED4E89-246C-433B-B7D4-68954CC8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CF1046-D8A2-4D32-9112-02612FE3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82622C-40EF-400D-8897-CC676805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C7BA3C-AD0F-4013-BA04-1FC09E6C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085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59C8A3-2204-4981-8834-30D0B87B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538381-B51C-4C41-A27E-CBA60341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753643688"/>
      </p:ext>
    </p:extLst>
  </p:cSld>
</p:sld>
</file>

<file path=ppt/slides/slide8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4405E0-64B7-4768-9F07-C764A0DA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Telemetry dependency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EBBACE-68CA-46D5-BD88-DDB615C1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D78702-734A-4FB2-8031-CF95511A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4E1489-6674-4094-8551-F4BCDC91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2750D6-BF50-4F7A-8AA0-36A48AD4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8A159A-374B-4B88-A384-C4ED3F94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DB671-7D84-4590-92E5-47096675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AF5C17-FFB8-4AD0-815F-100614B79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9414B1-9E90-45BA-BDD0-93DE62BA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77D80C-4012-4FD3-86EF-531073AE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A6B59D-CF54-457E-BE66-CF9521D4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0244ED-D2A6-4FCC-958E-A98B0BFA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3AC026-A8DE-4609-B2E4-F4DFE378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6B2F06-DBF7-4D2C-B3F2-146CD24C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E99272-DD20-4FC5-8999-C45BD95A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432C55-41B0-4450-BFE6-461FC9D8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D45C60-1367-43A4-B987-66E82E4E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BA4524-F4E6-42DC-B3E6-289C0738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0B445A-99AD-484C-B6F7-2A32A8CD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F4FE67-0511-4251-A083-A7C75AB4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941356-6626-478F-B22A-38DCD597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2A8EC6-DF53-43DB-BECC-4BAF2511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41180C-E99F-44CC-AD08-5BBDC9D7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A detection is only as strong as the source, parser, retention, and context behind it.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363463-B9B5-4512-B690-B8F551C2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6A9705-92CE-4651-9A6E-80495015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B53E0E-A170-485A-AC17-4F03B63D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Document required fields and expected event volume before production.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4CFE98-E8BE-4543-9E3B-835BFB2C1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2942AF-3C90-45CD-9A10-4136D658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Missing telemetry should create an engineering backlog item, not silent failure.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DF581E-956C-4188-A3C3-78570A8B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C551D8-D1B2-40F8-8BC5-7E8FEE425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2CE507-8A79-4CE8-80B7-CC9E808E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086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96CB76-6566-419D-818B-925335E9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F8BC22-16AA-42E2-AB22-A5F874AE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962574297"/>
      </p:ext>
    </p:extLst>
  </p:cSld>
</p:sld>
</file>

<file path=ppt/slides/slide8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98DA957-5FFF-4FCC-84F7-8EFE0655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Sigma and YARA in the operating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219D71-DE0A-494F-AF31-604EA364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E24BB8-53C3-45E4-AA5B-557C56AE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A40C32-36D7-4A40-B26C-79CC0660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5C7BE2-C342-4712-8A6A-CD814353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2E7B01-978D-44E5-85A9-C629579A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45B677-7049-45A0-8D7F-CB1E4E48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D17412-4B98-4C16-85E3-B98C4AC6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0E37A8-C18B-4783-ABAD-04C5E6F06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3C5618-AB77-420C-BF8B-646942AD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A80FCF-50F2-4AAC-9057-11F731A0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9C9B1C-5FF7-407E-B1A5-0F786C13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71FB41-7EFA-4329-9BEE-CF1CE89B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8610D3-B729-49E4-A4C1-D56B5A0C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47388F-E366-42CD-B569-1214B3E4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0E367C-346B-4F92-B957-B884EC20C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957EBC-0581-46D6-BCD4-A0762D4AE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3B8CF7-389F-4289-A874-3CA54D2A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1BB3BD-0297-4CF1-A98B-929661E8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088F17-3180-4F50-8DFD-E0A2D933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F21FAB-8CAD-4B24-94BE-2BB93E80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9D370E-9A35-41B6-A67E-9463E20F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58CD73-564E-46E3-8487-652A933F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Sigma expresses log detections in a portable way; YARA expresses file or malware signatures.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AAF729-E42D-4995-B14B-BBC23E27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B93654-82C8-4379-9789-3A4853EF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F94DD4-763B-4377-90A9-37CA3EAE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Both need local validation before production use.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DEFD32-9640-4D96-AC33-7600DA9F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3637BA-6C92-4CF3-BBFD-2F924DC03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Rules should link to playbooks, severity, owner, and test cases.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B648C2-D48E-4121-8BC0-1D972C0A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F18CE5-0E0B-479D-B0D2-1498FE0B6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F8C618-338E-4CE6-BC32-181182AC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087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41ADBB-4B7E-4062-A214-C9E90D78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373B65-BDAD-426A-BFF2-98141E00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380913294"/>
      </p:ext>
    </p:extLst>
  </p:cSld>
</p:sld>
</file>

<file path=ppt/slides/slide8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AE5B457-6574-4F4D-979E-B9422A8CD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Detection content quality attributes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948CF7-FD4A-4305-9D5D-EF8DE7DA6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A7AE17-BEDC-4338-AFB2-55A3DBBC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0499AB-9898-458B-88F0-DD4AD37B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5F3632-4BBE-4F58-BBE0-8903B21C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17DDE2-2EB6-4158-8251-FA986356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6C165D-42F9-4BE5-972E-5567BDA1E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C434AC-C5D7-4C9B-9ED8-799DAFAFC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4F10D-6C1B-4F59-8BC2-1E24B95D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63B57C-8C51-43B9-926A-4AEF2895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FDF6A0-AC47-43D1-B918-0D80CB96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Good content is specific, explainable, testable, maintainable, and mapped to response.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A93326-1822-41FF-8D47-73101144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B5F02D-38FE-42C9-8F09-FE4913B9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C9988B-CF64-4242-8450-95D9952A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includes tuning guidance, evidence fields, and known false positives.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82E7BA-B839-4F8E-AC19-58366E01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A058FE-13A9-49DC-A46B-85388C4D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6B3A63-C0FB-4593-827B-27A8347C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avoids opaque logic that analysts cannot defend during incidents.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00E5BA-0B83-4AD9-8AF0-9C881E79C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03F093-333E-453B-BD86-201CB0D6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EEE91B-4DA6-4BF2-AFA2-23324E2D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18A465-BC67-4A69-94CD-DBF8B2A4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AC4808-BB65-4659-8D27-2065BDA4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422A25-CEFD-46F1-A30F-5D9023CD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F75D83-43E8-4DBD-A8A8-076C1ECE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3D0B18-1E19-4E65-BDBB-402E6E7B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392E53-612E-4FE3-8E55-1FF93E47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088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92B53B-A303-4583-8F02-28FE7865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A6A859-728B-4FA1-9BC4-29759146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892521149"/>
      </p:ext>
    </p:extLst>
  </p:cSld>
</p:sld>
</file>

<file path=ppt/slides/slide8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5F587E3-A236-4B78-8A43-32D4D107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False positive reduction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B30BC9-09A2-4207-BA55-259690F9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15B68-0092-432B-A47D-1C74F60A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93C56D-67F5-432A-9910-350C2EA4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0A729B-17ED-42DC-9501-40543BAE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1CE6F0-E703-4FE6-9168-5FC84111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363072-80D3-44B4-A481-2CD6E78D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7AF056-0994-4287-9834-EFA6AB1F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F48793-EF84-413D-B7C7-CA5A7237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7CABE7-CA48-4729-AA4D-54D402FC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F59954-2E33-4C37-9124-17F708DB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Classify why the alert fired and why it was not actionable.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F65919-715E-4D84-BB44-C32917CB4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6E1748-499A-4172-9B05-3894CC30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6F21AB-31E5-449C-95DE-7B1665189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14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Tune with allowlists, thresholds, context, suppression, or logic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35E21-6CF6-48B7-AB25-2A18D0531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95566C-4CFA-4AA9-B37F-8AD16011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9DA3E0-317B-4E5A-8755-3C6F8C2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Re-test against true-positive scenarios before closing the tuning item.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785A10-DA4F-4AA2-BA18-20536ED42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833C69-CB68-4FFD-86E9-A3C53485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39FDA0-8F42-41C8-9E20-7EFD37F4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0ACC88-CEAF-4A71-B586-13FD1B5B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EC5D9D-D8F8-427B-8FB7-41FB2293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24755A-A415-4AA3-92E9-B556F2F6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49E142-C837-4453-A8C8-5A29816B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A5B190-6FF8-4A1C-8214-2B382FA4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F22EC1-82D5-42C7-B1EE-EFB0A2CA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089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8DA79E-D433-4998-ACE4-58C5FD99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E3B979-A80A-40F0-8AFE-DD0F8F1C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763709079"/>
      </p:ext>
    </p:extLst>
  </p:cSld>
</p:sld>
</file>

<file path=ppt/slides/slide9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72F822-8D82-47F5-B5D4-710EA052A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Coverage matrix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27965-11F5-42FB-BC49-008CE8A97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E0C186-9E9D-421A-A4FF-519B36A3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16FE24-453F-45F4-979F-DF94C244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0DA05C-7497-47A2-AD12-3DA8E720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1D6291-FAA0-42E6-873C-5B87224E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8B7553-3164-40EA-9D71-A2454D47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ED768C-AEDB-456D-8D53-8E2CCD3F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E275DA-863C-4AA4-83D2-A2E6F9F3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6953250"/>
          </a:xfrm>
          <a:prstGeom xmlns:a="http://schemas.openxmlformats.org/drawingml/2006/main" prst="roundRect">
            <a:avLst>
              <a:gd name="adj" fmla="val 19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553B3E-AD72-4CCA-B4B6-FF61986D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7C66"/>
                </a:solidFill>
              </a:defRPr>
            </a:pPr>
            <a:r>
              <a:rPr sz="1650" b="1">
                <a:solidFill>
                  <a:srgbClr val="0D7C66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EB7144-C05B-40C0-B9A1-9063F988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B9A4DD-D626-4B54-82ED-9AE218CF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2DB00E-C153-44D5-8B2B-8C7AE432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AFDEF1-4D1C-4516-BB4F-804FB600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F9995-104B-4B21-80DE-EB52DC52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FF2C4B-F4D0-43F5-A000-52D416EE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6C2688-4910-4D2C-9CFD-A3EEF682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9EDB5F-D24C-45AE-80D7-35679CF2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1228F1-3DB4-4DDD-A721-47EF356B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545BF8-5C50-49C1-AE3B-C2F5CC76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7D84BC-954B-4535-A5C6-5CEBF97D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212D21-C9CC-4871-B1D1-0026EA55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58F908-8B21-4C22-AE4D-3994BEAE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DA7A97-AA80-49C3-A00C-8CA119DA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9387F7-18DD-4561-A27E-AE50F9EE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AE9B4C-38BA-4A56-A900-B44AACB5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8904BC-6455-4189-B413-75A7EF00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Coverage is a matrix of risk, technique, telemetry, detection, playbook, and owner.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E765B6-9E05-4C5F-AD44-27DDF0CE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950480-7959-43E4-BDF1-B5C45FCE7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It reveals where monitoring exists but response is weak.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29A6C4-8736-4D65-9AA8-C72167B0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CC1015-3501-4F1F-97A2-87C7CD31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It also reveals where response exists but telemetry is absent.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8473A7-93B8-430D-9D0A-26192D96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090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6842DE-07EF-4D40-A794-B34781CD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E75F1F-8E1D-4434-B5E2-9E20B55E2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833566303"/>
      </p:ext>
    </p:extLst>
  </p:cSld>
</p:sld>
</file>

<file path=ppt/slides/slide9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F705D4-2ACA-4156-880D-585E963D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Prioritizing detections by threat and asset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ED7744-0C3D-431D-818B-8E653246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6BC5AE-21B3-4B5A-AA9F-660354C41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89B1A0-2957-420B-AAAA-1B3A8186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67ED04-F8DE-4B70-855D-CF43604A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BB0E83-7721-4DE3-9086-1FB4B4EF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0ADEC8-1CF3-4EB5-B704-A158E2AB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78197C-620E-4286-BB72-D9044E55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FB9FA1-EFC5-408B-B2E7-5E4B4767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334C51-A68F-477E-9E26-2D53C224F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0C1CF8-75C8-462A-92FB-2E578E50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Start with high-impact assets, likely attack paths, and recent incident lessons.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5BEA12-A8F7-4F3D-885B-2B4D6B84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2B2CD9-B13C-4497-8147-95CDC766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65BB92-0288-4F92-A1CD-96D931B0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Rank content by risk reduction, data availability, build effort, and analyst load.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759233-272F-4D01-98FC-768303F9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41D661-065E-465B-933A-9DDFCFC9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A06BE8-E0C5-46A8-8714-764497CA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Avoid building low-signal detections because a framework cell looks empty.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EF0476-4EFF-4A46-AB9C-18ADBF3B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CE5009-8490-4821-9692-BE4EEBFA4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5A64F7-1006-49A4-87AC-001AC0EA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B011D0-2C10-42A8-936E-A1ADF07C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063EF-9DC2-4295-A149-23C2129B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B2ACD0-C989-4949-A53E-1A2D43CE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380C45-56D5-4D6F-9742-C4FC9F2A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6818BE-3ECF-4202-8B59-4E795449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3A8887-A67D-4EE9-A3A5-5B28D64A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091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8F9FBF-71DA-4316-A61E-0AFE7676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AD1FA8-97EC-4115-9D00-D2F902EF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349443360"/>
      </p:ext>
    </p:extLst>
  </p:cSld>
</p:sld>
</file>

<file path=ppt/slides/slide9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E96B91-1D44-4CFA-BC0E-E707C330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Detection testing and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579ECC-7DD5-4442-BC8B-4BA583BF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1CA1EF-82D6-4D6D-B4D0-95FC71AC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1E19E9-EF37-4B61-B5B9-DC2D83C1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D4684-6E07-42F1-8D58-0FE534E5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C6EA02-172F-49C3-B959-61800E09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015DF-783A-4798-A69A-58AFA1BC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9ADC26-F7B7-4258-A553-6C2DD1AC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569E73-C647-48F8-88E5-40953415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C417B9-AEFC-4C9F-B969-A94C4F57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1F9149-BD32-4194-A9B8-A825411B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Test with controlled simulations, historical data, and expected false-positive examples.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56A8D2-42E5-4E79-84F6-5DC8B145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A910F9-66DB-4E97-A5BE-AB8CBBE1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72C7E8-F79B-44F2-98A2-D23A65AC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Validate alert fields, severity, routing, playbook link, and evidence usefulness.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E9189A-7055-404C-8A59-629CAAE85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975E23-1535-4A21-A7A8-8B2E692E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34833B-D956-44EF-BB58-18939B92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Keep test evidence so auditors and managers can see coverage is real.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FB1B64-D2C4-4367-8F2D-3A8F7DDA6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A98D73-62B1-4DB8-9A7F-5D52A9A7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333C70-6977-46DF-9BA1-972323CD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0B2CEB-095A-4812-9D39-28488C6C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9E4B57-ACBF-497C-ADBF-6C4ECD2F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9E41A8-01A9-4F93-99BB-6317B21C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CCA1D8-D20F-4AA9-B905-24FBAED3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E2D76B-1B20-4DE8-887D-44102EBC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E093C9-C09D-421F-9ECB-EB5FBB65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092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F9211B-6163-44A6-A334-7ACB7D12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9F3471-B22F-4585-AD40-8190CF64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835888287"/>
      </p:ext>
    </p:extLst>
  </p:cSld>
</p:sld>
</file>

<file path=ppt/slides/slide9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CE0E6C-1E5A-4E2B-BAE2-22B9C0FC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Promotion workflow: idea to 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CCE823-1C95-4F12-918E-FF2517B0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B6E78A-9E5B-446E-BE5C-C734F749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29B011-23DF-4EE1-B849-6751AF7A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12D52-9C93-46E1-8993-1A02FF59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805880-7F5A-4D5D-839A-1541E369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37F42A-90BC-4DE6-9DF8-AD3BCF4D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994BF0-DFD2-458F-80F0-732D15E7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77C96A-D50F-4D5A-B576-7A158DDA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857F94-DB48-4398-A31A-1513F22F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8CE621-0F8E-45F0-9A2B-6A0E854B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5A5DB2-F62C-4221-AF09-39F16A0F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80E12E-B96C-411E-AF31-5265DF6B5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3B8A0C-D806-496D-ACFD-8C050728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EB2237-EABE-44D3-B017-B9583B45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624129-5456-4501-96EC-77341E3C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3ED45D-1F62-4433-8ADB-FDD48620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260643-EC9E-4E47-9C82-E3F2162C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197775-E2D7-4E86-A5ED-CF07F937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538952-43BA-4758-9B99-AED4CBCF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0A1D18-CF37-4CE8-8F1F-F25B737B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D1170C-E8D6-4B39-BA00-2736CD6D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71D88B-98F2-4B05-8E0F-F4887593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Idea, design, data validation, test, peer review, staged release, monitoring, and review.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3F1A1A-EE55-436E-AE7C-1261E584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F87B5E-1C52-48E6-B9F2-30F58979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BFD3AE-2E7E-488A-A65B-AD927960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Every production rule needs owner and rollback path.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44E5BC-5DCB-469F-9095-FCC6C19B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717191-A3DD-4F59-961E-A8A9AFAD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Major logic changes should be reviewed like code changes.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7E1CF2-6AE6-4B65-9D52-E7A4CC38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1F2F64-4809-4777-8DCC-2138FE33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7D6EC0-ACCA-43C9-9353-CE209074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093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82E696-B581-462C-A55E-D1209DF5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986872-8C74-4C5C-8654-97F2054E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472451284"/>
      </p:ext>
    </p:extLst>
  </p:cSld>
</p:sld>
</file>

<file path=ppt/slides/slide9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DCA7CC8-F906-4CC1-91A5-1C802A64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sample use case hierarchy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2CB527-F662-417D-BFFF-DFFA53873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4057C6-7D8C-4B45-AE0E-BC005DE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3A6B87-89D0-4EE1-877A-958A2DA9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76CEF8-65DC-4785-A2AC-DDCE144A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EE4964-9D6C-400E-88CB-60F47361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7FED6C-61A6-40C1-9CAC-E1358E77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5AA9B4-1FF4-4292-B92D-680A8B31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64154F-D833-4891-B299-EE440AE9E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B41931-A8E5-4243-A6EC-E7E2FFAD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Level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A6295E-570C-497B-BF18-FE3BCCCDA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BA1191-6185-4F75-8A5D-0689BB63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Example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F7CF3F-6AA0-456B-810D-0BA7F909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2502C-CAB1-4A44-88D5-EE5A8224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F0D1B3-1A6D-48FD-AA9A-BF4948FB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8D8CAF-B7B8-452F-9EEE-AAECBD59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Risk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0A8144-D1C6-4A19-B881-775918C6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08A418-9DEF-4A7A-AA26-F7AD6A4C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Account takeover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AB357F-EAF7-46B4-A3F7-EEA2EC75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A2B273-41CE-4E8F-9033-5E1AB85B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Why it matters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2BBEC3-FBED-4F71-B452-9C3E9AAD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0CA32B-3BB4-4EE0-B943-B24570C2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Technique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8E0116-59A8-4BCF-A58F-C32187B7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3DFAE6-E38D-4655-962A-983F52A5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Brute force / token theft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2F9B87-FF94-4FD1-8712-597EAEA6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C20FFB-58BD-4151-99DE-64DD68F0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What behavior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A179ED-1F18-4432-BE60-37539FC6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B7AD3B-34D1-4738-8678-ED63FEDE5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Detection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DEB049-10E3-4DAA-B33D-58FC960D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BDB5C9-DAB5-4528-B70A-295DB9EE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Unusual login sequence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B520B0-B3E9-4B9E-8651-50926F8D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A566EF-700F-4FBE-A69D-88350658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What fires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76E405-BBA7-4083-8E4A-48133109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8982C2-DE2C-477C-A30D-E20295CF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Playbook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2EEA618-C00D-4494-A62E-68447F1F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8F054F-3E49-462D-AAA1-B67DCB09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Account compromise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CADCBAF-04E4-453A-B6C4-E9F12D25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87DC9E3-91F7-4FCD-9EF1-70F64CF0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What to do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78367CD-2034-43CA-AE3C-4CD7F4EA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094 / 142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F8CE7D2-9261-4C12-B8DA-65251232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9FA5D3-F7B4-476F-B532-3D8A620C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62865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787432488"/>
      </p:ext>
    </p:extLst>
  </p:cSld>
</p:sld>
</file>

<file path=ppt/slides/slide9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9B189B-AA1F-4557-9BB6-CB5AE2EC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sample coverage matrix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9939EF-1E25-492E-87D3-8F56418C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3E3B7-E30D-4055-B25C-27F9C143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E572B6-6DDD-4613-A810-8E0E1D2D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DA7EE7-E5A2-49B1-A016-C66BCB50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422D3-3A6E-4773-9DAA-64732866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4F0D02-0E31-40CC-A5DD-AFFCEC3BC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B05B03-595E-47AE-A799-83A059CBA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531B1D-46FC-44A5-AE83-F33BA5C99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6712D6-C318-46FD-85D5-328731E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Threat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94DEA7-E44F-49E1-BAAA-DF8465AA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1FCEE9-647D-496F-BFE6-64BAE082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Telemetry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FF0459-B41B-4EF8-8C25-6DD1BC9E3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A5D21C-905B-484D-8726-010AA80D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Detection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CE11C-AE4A-4226-A641-D953BCB6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41FD7D-039D-4F37-8C0D-54C39600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Playbook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D4EE87-FA90-4026-9746-E0469EE9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5A8663-80D8-4709-B46D-E434DD2C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Gap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50AC89-275F-49E7-8C11-C61979B2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A76340-7E5A-4577-9B09-BCFA056E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Phishing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B6BC72-C37A-46C2-8D96-B4CA2D2C9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5CE222-EC58-474E-9309-A6AC0F17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Email, endpoint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8A325E-6E4A-43C1-977E-F158FBFE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1002E6-112E-479A-8D46-764EF5CD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Attachment + URL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9130F3-4396-40BF-B8D5-8C7C0064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3C06D7-67C1-4026-86D3-5DD8C53A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PB-01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CD32B3-A93A-4E08-9492-5157A590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5C2559-B5F9-4C02-B8D7-B98561FC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User report flow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6E6D00-B2C7-4517-B32D-BF7CC96A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601728-5B27-47A7-AE87-35211EAF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Ransomware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A280EF-9169-49BB-AD3A-734EB216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B0FA94-2E5C-462E-BE63-C09A46E3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Endpoint, file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34E083-0BE2-4B32-9651-4A327E73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B9D421-ADF5-45F7-BFC1-F4FB233F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Bulk rename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49AA71-24FA-4F6F-A4C5-B649BB34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3E98A8-E1DF-40F6-8F87-D3185ADF0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PB-02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28F4D4-02A7-4DB0-B851-B73E786C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BE8D0AC-823A-462F-8552-4DFA6435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Backup status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6A2E68C-8699-4D92-8104-A2C72510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132B2E-E972-4D59-BCC1-B35C42AB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Account takeover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ED72DD0-3368-489B-8C56-59B6358C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1497667-39B6-4472-B99F-81E1CED6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Identity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4AFCE4-D05D-4671-B0F5-6E19F361E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070F4D5-D3CE-40FE-9B1B-F1C9FC4B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Impossible travel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836A6AA-5FD9-42D1-AAEB-95AF03F5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BE8A275-B2A8-4495-A8AF-BE1EC0E2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PB-05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33D413E-EDD5-427E-A229-45C82774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C2A7EF4-82DF-4ED3-BB75-198B3D60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SaaS logs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27221AE-8C98-4F74-B9AE-0EB99A5E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B984714-1432-4E93-AB5D-CEABBD9D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Exfiltration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26F8614-AD93-43AC-8798-0823EDC1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F482780-90BC-492F-9D97-08387EBA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Proxy, DLP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C121284-D78F-45DB-8322-8C38CE4A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C093910-13C7-4231-855E-542647B7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Large upload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D814700-4FAB-40A6-A64B-3FEA48A6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FC6044D-C7E7-4EAC-9017-A5F417D65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PB-08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B049D71-EB51-4225-A155-8C18E7E7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C05EEC6-443D-484E-B22A-15C38E1CC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Data class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11755B6-F686-4F2D-8016-0AD906BC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095 / 142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34888DF-CC94-4726-8560-0EF75481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B24F650-FABB-4197-8CB6-75A70336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62865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2124309006"/>
      </p:ext>
    </p:extLst>
  </p:cSld>
</p:sld>
</file>

<file path=ppt/slides/slide9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90A429-A23A-4785-A211-D229777F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Worksheet: identify coverage gaps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B6948F-41B8-4CF3-AA17-4250EE97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F8C23A-3279-4EF5-8C98-B405854E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7C993B-CB03-4CBA-9519-DA573D07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094C2A-F3E9-418E-A04B-FBB0FEA4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017CEE-37CE-426A-B426-EF7D34B7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B32F7B-2CCB-4A52-BACF-300B1420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6120D1-318C-431D-BAB8-1B726691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65F354-AB0A-477A-9E04-41C51FB4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98962B-A093-45FA-BBEC-B3A51747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D7C66"/>
                </a:solidFill>
              </a:defRPr>
            </a:pPr>
            <a:r>
              <a:rPr sz="1200" b="1">
                <a:solidFill>
                  <a:srgbClr val="0D7C66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D6AA42-268F-488B-930D-393F76D0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BD1F96-2395-438D-BCDE-5286E113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3986BF-C3B1-493B-96BE-FD5FCA2B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03E449-9FAC-4A1C-B3F8-F76B66DD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B6BB76-7FA8-4807-9D89-40D3EDA8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B75A77-1874-41BF-A441-3E2226C5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D4B4CF-1EE3-4A89-B84B-01B52F03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760D93-1CF3-4D22-9488-93E0CCAC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BDC596-1D79-4766-98F1-345FA581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60314B-9089-4743-ACD1-50AF03D8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D2978F-8593-407B-B2E1-25CC729F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D13408-C5F3-48D7-973E-4B5C5C72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40FB90-85E0-4360-A42E-1F8AA0EFC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E57501-39B2-4AF5-944B-5E6E1D27B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96525E-9607-4F79-ADBA-1D28E6B4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5C83FE-0F32-417D-BB2E-3EC9147C2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064312-EF24-4B5C-9169-56DBEB49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800A8D-0B66-4904-BE44-0EF47843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85B69D-7D58-4ECF-A2DE-47A2F469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29D382-BA80-4DD3-9310-0BF783F8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89F1FF-6007-45A9-950A-CB841004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4EA686-E00B-494A-AB10-464951F3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995E97-B19C-47F7-9DC9-9919B5C7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096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BE0118-92C5-4B3F-BC31-BC2FFE60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3F6F5C-14C6-43AB-B68B-0FE7A70B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348488959"/>
      </p:ext>
    </p:extLst>
  </p:cSld>
</p:sld>
</file>

<file path=ppt/slides/slide9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EBAC66-E0A7-4201-8826-FB17C412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62017F-E2D1-4F3D-9F2F-5F81F50B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7285"/>
                </a:solidFill>
              </a:defRPr>
            </a:pPr>
            <a:r>
              <a:rPr sz="2550" b="1">
                <a:solidFill>
                  <a:srgbClr val="0B7285"/>
                </a:solidFill>
              </a:rPr>
              <a:t>097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AB728F-6177-40FE-A012-8C7DAFB1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RESPOND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45FC87-21E5-4B5B-81B8-9D885B0F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B1B20D-9CB6-48D8-B2F8-D63B6A3D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Make containment, evidence, and recovery decisions under pressure.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892C74-C821-4AAF-9C53-ECE69FCC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FEECB7-9792-43F7-A1E6-2CB48255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21991E-6EEC-412F-A55C-13E2173D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A37B3E-E408-48F7-B837-A82EA8BA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IR lifecycle overview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F91A18-5406-4FCA-A8D2-BA882A7A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4E1637-BDAB-47EB-A06E-FEB343C48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7CBC01-EBD4-4D6A-9650-879B83F3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368355-1E7F-4721-A277-13852F0D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ECDC3E-1EA3-4E88-9363-B5A58253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4FD25F-3339-41D5-B51E-86A4958D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BB81AA-5C4E-4F6A-BF31-22AA6441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C3D342-C74C-4D24-AB24-40390F4F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preparation, detection, analysis, containment, eradication, recovery, and lessons learned.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2E9C1C-6037-475C-812D-C1AB9DB1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933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FD7357-F2F8-425B-AD54-055B65106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F5DEE2-0AB3-4FCC-8B26-C41D40E2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33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Lifecycle language keeps technical work aligned with business and legal decisions.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410CF2-E75F-4AB7-A9D9-7A3FEA08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695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CEBE7C-F8B5-485E-BE23-DB46A0AF6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1044FA-BB29-4FAA-BAE7-9CD7424C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 lifecycle is iterative during complex incidents, not a single straight line.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9713AE-1220-473C-AB37-0F3AD57F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38150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588DF0-568B-4343-B61A-83AC7B6D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910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0433E0-1AF1-4FA1-AC79-3A319F25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9105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53D760-3821-4A6F-8970-56AC62AE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9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097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B9E9A7-902E-48D9-9AD6-F73D92BC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791200"/>
            <a:ext cx="72961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963F1E-32DC-4221-8B0B-73117B2E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579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395483643"/>
      </p:ext>
    </p:extLst>
  </p:cSld>
</p:sld>
</file>

<file path=ppt/slides/slide9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EECD7DB-0683-4BF7-9F04-2F3DDC80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Severity model and classification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E0399D-AAB6-42B4-A729-4E4D2D90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92531-B363-4C4E-AB85-2E590CF2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2749EE-3A4A-4580-B88F-62E5A81C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B186AA-81C5-407C-9906-ABF573D8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80D3CC-041D-43C6-BA55-B28324E7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83EE3D-692A-45F0-85EC-F9538C49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434340-5FBF-4A8F-9B76-63B00E68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F72BB-9365-4973-9D2B-0A71E201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8A53B9-38D8-442F-8961-9A64BB06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5F640F-9AFF-44E5-812F-E63F62DD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08A62B-31A1-4519-A19D-2137DEB6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74AFA4-974F-4D9E-8C4F-53F893FA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E19B05-B5CE-494F-AB1C-41823019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587745-5DE6-480C-8BF6-B9897F4F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437C3-E77C-42B7-9B47-2D17BC78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DC62BE-A8A4-4FFF-971A-8F19E7B5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82E44B-CAAA-4C71-AFA2-18E719A1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7C7259-66EE-4454-8D03-A4F58A6C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0E6E9E-5878-46B7-99A6-AB8845F0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C74E9C-0F76-4F93-AFC3-083C946B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DC72F8-31EB-4DDA-BA1E-FD95B394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EC0B25-445C-4156-B5C3-B29C3D68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Severity should reflect business impact, data impact, spread, privilege, and service disruption.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C83B69-1531-49A8-B487-5C5564C3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CE31A1-87E2-4626-A53E-DFA124C0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E92B25-5A7E-4668-A521-8EACA63E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Classification determines response urgency, authority, and communication cadence.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C6CC51-AF75-48F3-8CFB-1EDFC8132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F9B496-6E6A-408E-A2C8-B7E944DA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Reclassify when facts change; record why the severity changed.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B5A5E4-D3AB-41C1-958B-5E63B431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6D283E-7460-48C8-B672-2110E135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0BFB28-349A-4DC7-9276-883A74DB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098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690017-A824-4F59-897C-68B456BA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2A1354-CE3B-4A46-B11A-84B0F3D6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822583775"/>
      </p:ext>
    </p:extLst>
  </p:cSld>
</p:sld>
</file>

<file path=ppt/slides/slide9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9B6BBB2-5A57-493A-A0C9-82BC9A34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Decision authority in incidents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1DE346-0EDE-4979-9E3C-B3302579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8365AF-276A-4A2B-B29B-0B2B9013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3BB466-7B74-43E6-921A-C6C2E7F92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383A13-435E-4E47-84CC-89040A18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D0A045-A0BC-456F-86A0-65F559F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D6875C-4D03-4A8F-BEB9-F663447EC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2157A7-8EA2-4D94-8578-35112A5B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288264-8C0C-4ABD-84AD-6B658AAD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F9D3A3-D7C4-458D-A9A4-2B5E447F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EA3FAA-C833-4ACF-85E0-151993B7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High-impact actions require named approvers before the incident occurs.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36148-88B5-40C7-B66A-05CAB5D1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371D60-6833-42CC-A05B-880606D79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EBE844-E8B1-49CE-AD2B-1CF150F0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Authority includes isolation, account disablement, shutdown, restore, notification, and public statements.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EF45F1-4ECF-4277-983A-41E0712B9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A56FAD-9452-4D7D-BC86-84A18260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E66FA6-B2E6-4CF6-98FB-1E9B42CC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Document decisions with facts reviewed, approver, time, and next review point.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F0933F-81F9-40F8-B85F-1712B9E7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A2F2E6-E853-4D27-A5B1-FDC40A11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C866E9-BD7D-4432-9970-3DB0A5EB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28E002-66CA-42FD-8D6F-27C0DAA9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D0D3E1-6525-40DC-9B1B-B5381456B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B75A3E-9D1B-47B7-BD23-1E2834A9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55649F-AC83-48E5-87AD-9BED6BEE7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1B5D53-0A4F-4BC6-8770-DB746A7B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07B5CE-AADB-4B80-8208-0765930E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099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2ABDBA-C468-4426-BB1A-C29DE744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4BD4AE-8214-40DB-B086-4E8F98BA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636154299"/>
      </p:ext>
    </p:extLst>
  </p:cSld>
</p:sld>
</file>

<file path=ppt/slides/slide10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DC56C1-FE9E-4E08-B5BC-62836B42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Analyst-to-IR escalation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BD1F13-3E19-4E7B-AA75-DF9B63CF7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023A13-619F-493E-9AB9-41FB38E6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2E4DF6-9CE6-435A-8C2B-FD0D5AFF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C64795-B01E-4BBB-B67B-9D83DDFB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29972F-1892-4366-BFC3-B8DC701C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48E117-4C40-402D-9FA2-D1C7784F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14BFBF-4EB8-43CC-9854-B0B5D321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8FACC9-113C-4C1D-88FC-C71026ED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4CF2A8-8631-47EB-AB06-F2E9A854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C5D602-DEDD-4003-B3D9-7333C04B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4A7EDF-4ECF-4792-982C-54F60BDDE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0525AE-E660-4288-B8B4-07C06814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CCAAC9-F116-48D5-B02C-E4AE5BE9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F37AD4-942C-4F08-A5DA-FCBB9686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75A1A3-C66B-4491-BDC5-4B736466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70F05B-E804-4AAF-8A60-C4E09C64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594CD9-E583-4A34-BA8E-5E3B9017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2DA163-54A4-4699-BF3A-C9015B47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CA4F09-F8B6-4235-ABB2-8DD0A93A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7E865F-11ED-47FB-9AD9-071386D5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EB2F20-83BF-4053-8788-AD9DE187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A5A795-5A80-47B4-892B-1FCD9E27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Escalate when scope expands, containment is needed, evidence may be legal, or severity exceeds queue handling.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9F8632-9FC7-4708-9A04-8E4FD8F7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CD1A39-F8D5-4027-BBFF-7C49BE85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F2E83C-E870-48EC-A3DC-3D2B91A2A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The escalation packet must include timeline, assets, users, evidence pointers, and open questions.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E2F5A5-1F70-4418-8C45-28F8FDDE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2C77B2-7B88-432B-AA55-E43E6ADA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Poor escalation quality creates response delay and duplicated investigation.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DA8D04-DC0B-48FC-B31A-74E17127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C96F70-D145-4EF0-A0C2-AA05FCEF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FDCE57-3A19-4297-82DA-98F376AA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100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FB3410-636F-4E8D-8005-54881FC74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19031F-7053-494B-A376-204BE823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597373277"/>
      </p:ext>
    </p:extLst>
  </p:cSld>
</p:sld>
</file>

<file path=ppt/slides/slide10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F5C71A-EAF1-449A-A337-FAAEFD49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Runbooks vs playbooks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DDEDF0-670B-4488-BDB0-B5624F35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327A47-B160-42B6-AAE9-C72C610F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FF1803-5768-4233-98A0-E6C23B98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1430BD-101B-4155-BE74-7C018E0C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249773-4991-4A52-9AB5-5D9C329C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72522C-60ED-4960-AA8E-7DFDE0D6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40625E-420F-451F-B538-AA4F406D3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8D0653-F367-4510-A1D6-71A5C746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7058025"/>
          </a:xfrm>
          <a:prstGeom xmlns:a="http://schemas.openxmlformats.org/drawingml/2006/main" prst="roundRect">
            <a:avLst>
              <a:gd name="adj" fmla="val 188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284F8F-97C0-4901-BCE1-FD6B5F7A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DA1F8A-565D-4EEC-BF0A-DB5BE834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8769B7-F829-48A1-A75A-5D8A076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7B7A7B-BEFC-4F6A-9002-AAF05087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0A45E1-463E-4BB2-9136-44DD7DB1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DB5BDA-02C2-42A8-BD04-3D99A375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04D3E0-8EF5-4C4B-A1DA-E727A555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3533A3-F3C2-4BA6-938F-136FAB41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20E1C0-9499-4537-A1DA-F27A78DE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1433EA-2600-4300-A690-676A796A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4C826B-52C8-482B-84F8-98B34A53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AADD6B-B0BB-4AF3-B9B0-9EEFBF9A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39EE11-4852-4A49-A93B-4C7EE567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5A177C-529B-4A83-B755-966B54B3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766645-3422-4EE1-91A7-A9F5A704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3334FD-27C3-4294-AC55-5D0019C2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EE8084-CD08-44A9-A7B6-20AF87703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68FD83-C378-4348-A879-47531C4E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Runbooks guide routine analyst actions by tier and workflow.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37C6DC-4CD1-4AD3-A0BD-42120E04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47F7-84CC-42BB-AF23-C9E1ABF38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Playbooks guide specific incident types from analysis to recovery.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888C21-E441-4C0B-8D29-CC27DAD9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DEB227-76AD-4CA0-B7C7-AEE06E92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Both should connect to severity, evidence, escalation, and reporting templates.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2CE415-C690-4A7A-B7C3-3F7AC831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101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C2207B-0C88-4468-9883-716027D35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4A7A17-B3CB-4DDD-8CAB-B78E83C6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28515979"/>
      </p:ext>
    </p:extLst>
  </p:cSld>
</p:sld>
</file>

<file path=ppt/slides/slide10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E625F81-D5A2-4BD8-8B0D-8AFFEE10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Playbook operating pattern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82CF23-4F67-46B1-AC3B-27815B89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C2E23B-B4DB-40E1-9371-E4BE1681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E03F39-AD43-44DB-BBF6-E206B2CB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0ACD6A-61B8-420A-B01D-897A5BEB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AC249B-E534-4C67-9BC5-29E43D6F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04EB90-784B-4138-878B-FFC8C2AA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84E5B5-3AC5-48E9-BCC2-6DB43E24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501650-334F-49D9-BF59-510CBC00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10CE76-D9BC-488C-BCB7-399EFE64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C3C34A-9072-492B-97DE-D0993EB9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A5ED37-CFCF-4AA4-887A-530CEECA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9DB2E-479D-42D6-BC9C-1AB94094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224BB3-A769-414D-93E7-E031DF1E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E5E171-E74C-4B6A-B41B-CD4263B9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AE6A85-41F6-4A34-928A-0FC815E6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FD055C-6ECF-4A2C-8EDE-4ACF1759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4C7D79-325B-4BDC-AF67-55FB45AE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934125-2FB9-415C-BC62-08D76EBF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EBF330-E485-4074-8814-E454F1BB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FB731D-9F03-4617-BDB9-A20F14D3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159810-5415-494A-9CD0-F7B99C6FF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AFC1CC-B001-422F-9D14-A8510629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Trigger, triage, analysis, containment, eradication, recovery, communication, and closure.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BD72CA-5B77-44C4-B35C-74A8156CC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470FC0-FCAE-44D4-A0EB-2B345183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B3CC61-A6C4-43BB-B7EF-EF519E9D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Each playbook should state evidence requirements and decision points.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5F07B2-C957-4DB3-8773-477BD490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5C6237-1D99-45F2-8954-2B9E76CE5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Related playbooks should be linked because incidents rarely stay in one category.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99F3CE-18DD-4474-8860-09CA5069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A6CEF-9C35-429A-AB2B-9FFA18FCC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36FE30-03C5-4992-9927-56702BDD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102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3CABCF-43EC-4869-9F1B-096E4DF4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FF0434-6BED-4A8A-9606-CC32779F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368042851"/>
      </p:ext>
    </p:extLst>
  </p:cSld>
</p:sld>
</file>

<file path=ppt/slides/slide10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619A5B-6E35-4AFB-900F-8CF0EF21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Containment decision logic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0F5A81-9525-4D4F-AB74-F61BAA67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E32ABF-06D5-43F9-8089-CBE25D03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6CAB42-5F2B-435E-8494-8CDF9FE4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B2A110-D661-49FB-B633-D34CD2DC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CCC95B-CEA7-40B6-AE78-8D2FEBFD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31A66-07FE-44C2-96EF-AD5F0B05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206AC-4AD8-44DF-8AAE-D41051F1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3AB815-1F29-4FE5-9E07-4C22F9AA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386271-0FF9-456E-AE44-FD50AA76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77F5FD-D870-490B-8C53-FD4C19B8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F23966-A287-4FE7-8FF5-053CE8C4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B13F2-6BB6-48CC-8F52-26B5FD66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8326C-D4F4-4630-A200-16D36610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EDD5A2-990A-49EE-81E6-99FC6342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AA76B9-A35E-4E28-9E0F-ABC6CB12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4C19B8-FEF3-484D-88D5-4CBB2323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9B6206-AEB4-4591-A63C-856F72EE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0FB0CE-E9A8-4BDC-B69A-48661699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26B0A7-F45B-410C-B6CA-56457F67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E3478D-4F28-4C8C-A191-0C9DA648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A0B990-2AC1-4044-A896-BD73AC0E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0912C-BBA8-4DE8-A5E6-14317272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Containment balances risk reduction against business disruption and evidence preservation.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50F506-27B1-4F15-9E12-8EF34346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7C5331-2364-44AC-B537-D8ADCF43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FCFC11-CA61-4BED-8324-E5CD97014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Decide temporary block, account disablement, host isolation, network change, or service shutdown.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AD91E8-C2A0-46DD-B61B-B58C34A5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42E082-751D-494A-A97A-9F76EF3C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Record rationale and rollback path before high-impact action when time allows.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434FD6-4E19-4898-97DE-F8D1335B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9C7F4E-B8A8-4A47-A995-311F5DDF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E27650-182D-43E0-9E97-7766F415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103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3D25D0-6C5E-43B9-9875-83D93FAD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49FA0A-BB49-46FA-A15F-83F45722B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742361066"/>
      </p:ext>
    </p:extLst>
  </p:cSld>
</p:sld>
</file>

<file path=ppt/slides/slide10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42A26D6-5883-437C-9CEF-FCE3A4BF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Eradication and recovery logic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6331BE-57C9-4A04-B94B-954A92DA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CE4B97-2F32-4CC7-8D58-F52C1560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7B3EF1-CAF0-49CB-AF5F-9DF2FAC64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D0F366-A2EB-400D-AB3A-889DA448A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C7BAE-1720-4969-8554-FFF7DCD5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218A2C-ACF8-4B63-A830-1A75E2BB3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61118F-6BC6-4896-BA51-EAF056E0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9F23DF-3638-4457-9E01-B9881026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34072-88BC-4732-B9B1-0231AB9F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2EBCAB-0295-4CEF-AFA2-A6074640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6CBC5E-6878-4301-91D5-996A8754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6FD77C-9EE5-4726-8EAE-AB306A37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5C145D-35CA-44A1-8C74-FE84BE62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AE00D6-E9ED-4E7B-9096-CC9C693B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A1E884-A97E-48D0-A0F4-8C142DD9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90253C-4292-4965-8A51-28D0B1B1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0A4BB7-45A7-4DF0-A8D3-DB86D6E5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9AE98A-4A56-4110-B40A-4197B883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C156BF-3A1F-41B3-AFF6-6F3C91DF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E49E98-4851-4A8B-A506-BFF06FF1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176AA6-890D-4905-973B-871712C2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235122-A055-4E51-8083-0ECF6566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Eradication removes attacker access, persistence, malicious artifacts, and exploited weakness.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8E7B9E-21EB-424C-A5CE-DB16DC16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A7CF91-ED5E-400A-B2DB-A42803AD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9CD6A8-064E-44A4-A68B-C05C0111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Recovery validates clean state, monitoring, business acceptance, and return-to-service approval.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61F96A-F155-4B90-9FFB-06548C87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05CE96-D99B-4586-B615-D782FB4D3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Do not close before recurrence risk and monitoring exit criteria are handled.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7E359C-1E92-4CBC-9029-745546E1E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C1AF57-C315-444D-9989-FF632B29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97C762-07F1-4EFA-9B0A-6547E336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104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F972F5-A8A0-46E1-A779-3CA65FA4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4FF0EA-3EB9-4B0A-9777-0D10BA07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456210641"/>
      </p:ext>
    </p:extLst>
  </p:cSld>
</p:sld>
</file>

<file path=ppt/slides/slide10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3D08F9E-5602-42D6-BBFE-7354A1C7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Evidence handling and preservation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6F1549-6514-426C-8B2E-82932CEA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49626A-18B1-4FF3-BBFC-2B79B216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498A3D-485C-4BAA-9BDF-737538A2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4E81BB-0D18-45CA-AE5E-3C026DBC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B74EC7-AB0A-4410-A5C8-ABE7058B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694C33-C2B5-458E-BAB2-A52D0C6F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0AC5AF-5C8B-4D19-95EA-E2501A75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D9CB03-D30C-4A67-91E5-48EBBC9A4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7058025"/>
          </a:xfrm>
          <a:prstGeom xmlns:a="http://schemas.openxmlformats.org/drawingml/2006/main" prst="roundRect">
            <a:avLst>
              <a:gd name="adj" fmla="val 188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0374B2-359E-4FA1-8063-CD0C96B6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66EB41-B7A2-43B0-8A36-993E83A1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D2EE83-C096-4777-BD08-4F64E500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F45819-F5B8-46F1-ADAF-4E95C2836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DEAE09-1C11-49E3-8A46-01861066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C2FE1C-6865-4DED-9332-D1A39C479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12FDE2-1A91-4F27-827A-05BC9DB4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2B23B6-8AF8-49E2-8867-123BAEBC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780C85-C77F-46F1-BBB5-16049B53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8BF713-BAD4-485D-8F49-D4EC0E4E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4C339C-A123-4890-9A66-9D2A7F2D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313D6D-535A-40A8-88FD-08E05A44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6C07C8-8FFE-4116-9929-907AF325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178182-BA13-4BDC-9011-B8B96EE8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C97847-481A-411A-847D-BD1FFB21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83129F-05C2-4B56-AC2C-9EDEB6F1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36C9C5-CA64-4809-82D6-984593E0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C0E7DA-9348-4869-BECE-88D673EA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Preserve logs, artifacts, screenshots, hashes, requests, and decision records early.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909240-22F1-41A0-993D-24A5DD42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01F275-BB44-416C-BB83-DE7D43B7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Separate collection, analysis, custody, retention, and release decisions.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EA8080-70F2-4DEA-8BD7-389E0BCA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E38BE7-D2EE-4171-9BC2-17C5DC3C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Evidence quality determines whether legal, regulator, and executive decisions can be defended.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1DDA8B-8636-4932-8A26-61A19378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105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0F7335-1F3E-4009-B4B7-A42DD9F3F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410481-F60D-4D10-BD02-C84F7166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540194233"/>
      </p:ext>
    </p:extLst>
  </p:cSld>
</p:sld>
</file>

<file path=ppt/slides/slide10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ECDC75A-0462-458C-AB04-D4AE2319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Chain of custody basics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9DFD04-B8CC-442C-9D25-E75537D6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ACF0FD-2E0B-47CB-8612-6C1E1014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B3931E-A4EA-4DEB-9D90-2ED11341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0133C2-9DCB-4822-B2C5-7946313C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36E20B-7923-4B79-AF90-96981319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43748E-F372-4995-9690-5CD8EC0A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4753F0-24A2-43E9-94A9-E54C1068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70AD5C-6522-4B45-997B-97FEB6E5B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FAD74B-2DEE-4085-B49B-FAAB2CDF3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7FAA7-5353-4517-A437-5386E817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Record who collected, transferred, stored, accessed, and released each evidence item.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1F071-5A53-4863-8B70-7AB21F70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633A7E-EB52-4663-A8DD-64F9342C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BB90D7-4DF5-4B71-B259-DED74835D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hashes or integrity markers where practical.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8D1E69-7DAF-41B0-9DEE-20D1CF06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F00374-8864-4253-BEB8-06E6E414A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12ADC2-1895-4B89-BDBD-4E6CDD2D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Legal hold should pause deletion or reimage when evidence may matter.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64F34E-D52F-42AB-BC35-B85218E3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646602-8F4A-4894-BC78-B8A44E15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CABC65-F11A-4B5E-8DC0-AD21A24C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D100B8-0E3A-4E9D-A7E8-D923F42E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D0C8AA-821F-4BDE-9E15-36C062E6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41F473-29DC-4B3A-8F35-0AD0656F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54C64A-64F7-4865-A2E5-25A694B9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9019E3-3A9E-4489-A778-16EFCCFD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46AE57-1125-4346-90AD-79BD1DA31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106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562CEA-D08D-432B-B0F4-D3628FF8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BBE4E0-5F77-49F2-871E-83BDF777E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89263712"/>
      </p:ext>
    </p:extLst>
  </p:cSld>
</p:sld>
</file>

<file path=ppt/slides/slide10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78A5C72-57AB-45AC-929D-883AA757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Decision logging during incidents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1D32E0-C381-49D5-B5F4-D4405A22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DCB3B7-54D7-49FB-B674-EABCC114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5739A-104A-46C7-AC53-C4A2A582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A14B93-ECC1-4796-A427-D3F31535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9A6B2F-688C-443B-9A5B-45E090CAB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6B7E96-90A1-45C5-857E-BFB5915D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5B965-B707-41F4-9EA5-0F474580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FB9C95-1666-4467-96DC-1286A6D7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D46281-7C5A-4245-8A83-F7AB6635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DE6ADD-F0D6-4364-B569-6B2DBAF3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Log what was known, what was assumed, who approved, and what happens next.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217CA2-198B-44F0-8819-9A5A2427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250A6-A92B-4DDE-A44A-ACF66D9E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FA947B-EEF2-42F9-801A-D6EFB337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Decision logs protect continuity across shifts and support later review.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FE1982-6008-4855-B680-C2FD7605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5A0D7B-7D06-4D2C-AC05-E4B51AB1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9C661A-8EB9-4427-AA7F-72114BC9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They also make executive and legal communication faster and safer.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A7D68D-A72A-4BBE-B092-D0C1EEEF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06C738-4530-4543-B475-85C1D7F9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7A6BA8-5BFF-4509-9BE6-E39393CC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2700FB-C64C-4848-B4E0-B5A317DC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00D518-316B-45B7-BB04-8C1560EC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B7DB78-5CE5-4DDC-B348-B2AEE2F8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58BEC8-5092-4C4F-8D20-065A0BD4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377D04-2ADC-4732-B1A9-F04D71D6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9C7118-78FB-47FC-9DDA-1EA97AA5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107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560BF7-0CCC-464B-BBD3-E66DA530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FB6867-62C0-41E0-AD03-333355B3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2097018798"/>
      </p:ext>
    </p:extLst>
  </p:cSld>
</p:sld>
</file>

<file path=ppt/slides/slide10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047F75-0D18-4F81-BA60-50F3C5D3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Crisis command / war room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85C999-2A0A-42E4-9792-BC507192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E2CCAF-E59E-4CAF-ADEE-DC24CB87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FCC8DB-2591-4B40-950E-14F4263F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06F6EB-6F00-4AFE-A3C9-2456636A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1DEC49-8F79-4376-885D-B59AEABA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30F2BD-603D-4569-A0AD-E9463437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905CAC-F4AF-421F-BCA8-40DD612C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9587F-2630-43A5-8380-CF401AE0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B8E7C2-8388-4D3D-975A-9E139CB0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72290A-E18E-484F-9B77-C4726EB8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C2C15D-8102-4A27-963E-FAE2DEB2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0C3DAE-2158-4549-88C0-EE75D3AD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F36466-1C6D-47FB-8003-D8F0882F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4C9646-1246-4E22-88A9-783C420A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A99500-559E-45B8-9DAD-1817D55D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0ADF49-6948-4C21-B550-84F33977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982DE5-2815-4DB2-94D8-6907CB0C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B6D4F4-F7DD-4314-ADF3-E3BB378F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C4AA99-8306-42A0-A253-8098941A9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6CEF1E-66AD-4916-B998-9D0DBAE3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6FAC53-E5AD-41F0-A686-E0F6AE62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99E6BD-C8FD-47EC-95F9-25B4F316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Activate when severity, service impact, external pressure, or uncertainty exceeds normal workflow.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F69F2E-F003-4551-A6D7-24C5F02D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04FEF2-B26C-4647-8BDA-B7206F1D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21B2A7-4B3D-407D-BC20-9CC12B37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Name incident commander, scribe, technical lead, business owner, legal/DPO, and communications owner.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8F60C7-5802-425F-A531-E6D72709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59FB7C-5DD7-4654-9E01-D4B5CF8E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Use update cadence and decision log to prevent unmanaged parallel work.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CB4C63-BC0A-4AA3-B6A1-7485E772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1D004F-E39A-4489-B384-810C73C7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1B40DF-FF98-4DEB-A43F-CA537D7F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108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DB42FA-1778-48D5-9E4C-D67A1887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924613-6EA7-415B-9456-CC087C4F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455834072"/>
      </p:ext>
    </p:extLst>
  </p:cSld>
</p:sld>
</file>

<file path=ppt/slides/slide10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F0E877-3191-4C85-8E26-F6D424DA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Closure, PIR, and lessons learned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9E62BD-49EC-4726-A162-89A43CF5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C3DD28-0880-47E5-B390-2FC0461D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CFD826-9C3F-446C-A83A-DEFBE879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FE1D60-51FD-4692-81A8-F6968A84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BE2FD5-5959-4471-A7C3-1DE5E607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7BBF5C-CAF6-4DA9-8545-85A51777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7741F6-D148-4F86-8C4B-EAC00ECD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DD63ED-6E8A-419B-A556-C198BCD6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444630-48E2-46B3-BCD2-BCEA14D0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D10CE4-17CC-4625-987F-A95F4F2F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Closure needs technical recovery, monitoring exit, communications completion, and outstanding risk decisions.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E1567D-AB2C-4968-B0B7-5E3673C1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9C6335-A511-49F3-A0BC-C05B476A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503C23-39A7-4D75-811C-4C3E8AA0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PIR should produce accountable remediation, not just observations.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0063B4-2003-4E65-84DB-46125526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8B86B2-48C7-4D02-BE27-F20BB5E5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4D939E-F8E8-4DA5-AC66-8C3803C2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Recurring issues should move into governance and funding paths.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48081-163A-4EBF-B2D1-D505E145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047C4E-BC30-4305-8931-5CE5A4E9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2E6FE6-E5EB-4E1C-9C5D-C574E618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EFE0A3-3CA8-4720-9C89-09EE3EC0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0C8711-0828-4459-A7BF-52E942F6C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06591A-F56A-4601-BEE2-20EFBCC1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B56AD1-B5DB-4954-8FA1-417F9ED3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880FBA-EC20-4804-81E9-72D880C6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FF2496-7953-42CF-BE19-E72ED8D4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109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42FB42-207D-4BCF-8404-84724914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165B49-DBD6-4A91-97D9-9FF58086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309242963"/>
      </p:ext>
    </p:extLst>
  </p:cSld>
</p:sld>
</file>

<file path=ppt/slides/slide1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43702C4-03B6-4C31-AACA-69623A66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severity matrix 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246F7-19B3-4B08-8837-3CD46C1F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853538-CA1F-4C9B-8E58-B190DC04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507E7D-A316-4EA5-A132-D2D2D0FE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F7B883-56FA-44CF-85E3-506C32F3D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FDED6-A8F9-46AB-B9A5-AF104E40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FA06A9-9217-4283-8771-27A09FDD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D41B73-9FEC-4FFF-A3C5-9FB4C06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897F24-AD8F-477B-9888-DB44F59D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CA6980-B3CA-4411-9FBD-66928960F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Severity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5F38FD-E822-4A12-A86A-A8EFB450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B128B0-872E-4197-95D3-E58E3E0B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8DCE69-4465-47D3-A64E-37732335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5CB90F-9640-4800-9B48-1F287BEB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Response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FA2D9D-45ED-4BAC-91C3-16227815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F1B579-220E-4B88-B3E9-8936F95B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5678F1-D5A4-44C8-9CD3-B7153BB9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733564-9A2A-41B5-82D6-38787BE3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A7E811-E4F1-4773-91C8-D2822246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843987-A7BB-49FC-A9E4-41F9551C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Material service/data impact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10F6E9-CC08-49A7-A400-C3144322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E4222F-2BFB-4BB9-B393-63897B92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War room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8B1F94-E36A-4A82-8CB6-74F88651C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A1C031-C1B3-4820-B66E-56F23890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CISO + exec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73B407-1FF0-47A4-ACF7-A02F1FD1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0608B5-CE02-40DB-81C5-4C011DAD0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602C80-4BC1-463B-9EDB-4241DD02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5306E1-B811-4CEE-BD33-4A87A31F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Confirmed compromise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71165E-F5B6-444A-A68A-5093083E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836D69-C976-47AC-A9E1-BEF4F32E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IR lead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F47AD8-2D42-420F-81F7-BECD52F1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E5F1A4-D96F-4A74-9F18-CC9A8B32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Containment owner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FE50BB-5060-4F8B-B6F6-1AF128C2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187F55-879D-48EB-9835-75F53475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27BF9B-9EB1-4E68-9E2A-C7169B3E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5D79A3-B4F4-4239-B71B-9CFE10D9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Limited incident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D8BFCE-E19A-431A-A384-107D95A2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CCEAE84-887C-4660-A872-EB60601C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 workflow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771AE2F-CD2E-4FD8-A129-BE71CF6B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D3CCBEA-BB97-4F39-A856-679D48E6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 Manager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2F040F-E010-4DA7-A370-A716DB1A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9D501F1-680E-4225-A9BD-668F2703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E225A9B-1CF8-4443-BB74-D3518FF2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31E6FEE-6EFE-47BF-9CE5-518FE85F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Low-risk event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9DF87F6-FA7D-4519-A4F8-2A8C02F5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26D0149-0272-4354-9B64-D970C0491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Queue handling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168CABA-D2BE-47FF-A6DE-33A46EC0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2D70DDD-F5FE-4698-8387-EA9986BE7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Analyst lead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6D963B6-FD34-48A8-9CE4-8DF5B3D6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110 / 142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11D3B62-ACBD-445A-B7A9-95360A42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57B1087-B52E-4107-99D9-3CB5FC3D8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62865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004968157"/>
      </p:ext>
    </p:extLst>
  </p:cSld>
</p:sld>
</file>

<file path=ppt/slides/slide1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92E4353-92E1-4063-A73E-AF11DCEA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evidence and decision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14D2F5-8AF7-49BB-B1C2-1DEC9BB4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FD8328-DCE1-4790-AA24-522CCB23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E820E3-4711-4E32-9395-683DDDA3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73A61-D5DD-4263-94EC-5AAD0C35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EE94B8-0946-4058-869E-E838ED47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55D37A-CC78-4DC2-88BD-DF0A00F4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D63089-ACAD-424B-963E-3F6070B9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CC8D6-34F9-4F3E-B478-36210DF2E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4190BC-3D4B-4F4C-A437-0892F8CA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08C7C9-A507-4AEA-AC82-A5B5A050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AF687F-6094-4D7A-8689-A115B11F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Why it matters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A85E8C-E0B7-4CB6-BC67-878FD934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D1AD90-AEE1-4542-8806-AB945369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29552A-9954-44A0-9F80-F9EFFA6D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117484-6337-4D0A-A431-168B922C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Timeline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4F50A-6674-4907-A497-1DA2CCF7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A08883-CFAD-4A0D-9981-E5B73137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Proves sequence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64B85C-2EC9-4F26-894F-50B10DB3B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CAEB2D-50A1-43E7-BC25-37C7278A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 Manager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693975-8D07-48FE-9887-6089A057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0C4474-DF4F-4BD2-AA3F-5CE355BF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Log bundle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71FAF6-1063-4DB0-9C8D-B150B46C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84A7C9-A011-4354-980A-0D59E10E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Supports analysis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8BEF8D-8C0B-425A-AB15-B4428DBE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314899-2B0D-4253-9EA0-7FC68626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Engineer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15BA30-AEB2-491E-AAF4-817EBC40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C04337-11A5-410F-824F-E48A0BF5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Custody trail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A5CBCE-B10A-4771-AC9B-80EB75E9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CF53EF-FBDF-4A8D-810E-48394C80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Protects evidence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D64A28-898A-4949-85E6-FC0E45D2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45930D-6966-40D9-94AA-7884D9B9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7EB1B8-D5A0-455A-AA31-83654473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38A2F4-D03F-4E97-8DB2-EA2B75C95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Decision log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70E5B9-B756-4D18-9018-7BFAD946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8DEB20-B9CE-41C8-84EA-63C9C9A5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Defends action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869EB9-5791-4E6B-93CF-BF6F9CEB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A896BC-017E-4167-BE89-CA96FB0F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CISO/Legal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AD0362-3172-4363-AB95-36A9A1EC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111 / 142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AE61E0-8ACB-4339-A550-98FC7705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215F919-FE42-4CC3-9049-1575E7EA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62865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700820664"/>
      </p:ext>
    </p:extLst>
  </p:cSld>
</p:sld>
</file>

<file path=ppt/slides/slide1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AECF0F-983D-4F50-B8C5-A20C23A1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02A"/>
                </a:solidFill>
              </a:defRPr>
            </a:pPr>
            <a:r>
              <a:rPr sz="3225" b="1">
                <a:solidFill>
                  <a:srgbClr val="17202A"/>
                </a:solidFill>
              </a:rPr>
              <a:t>Workshop block 3 debrief: alert-to-incident operating exercise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263D68-E83F-4C2D-A2E5-8CAAF9E2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702E08-3071-4DE8-AB44-AAA77DFF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94D4B1-7D33-4374-9C12-60CEB263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049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38165-713D-4060-BE68-4FEE9EF2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10490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37C486-C0F2-4B9A-B086-3FFDD74D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57325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DD4964-8B2B-444E-AB28-A2E65749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8115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DCB631-8725-4A50-83C9-0881B732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8115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47957F-CB4D-4223-8D54-32D84949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43125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F8F7F0-4286-4E26-8609-2F44D353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6220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7285"/>
                </a:solidFill>
              </a:defRPr>
            </a:pPr>
            <a:r>
              <a:rPr sz="1200" b="1">
                <a:solidFill>
                  <a:srgbClr val="0B7285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7404F2-F1A2-4016-9B30-27635011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9080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33E609-9218-485E-94C1-AE72E0FB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62375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BE6441-8A0B-42D9-8F40-F256CD50E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44A8ED-A92F-4F47-B8BF-FEEC7DDD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DDFCC3-E063-44CA-9D4C-81C1DDBE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865C14-63C1-4D6A-B6B9-1E965894D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591C45-2D34-4EBD-8497-442081A7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33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69F4E6-B321-4C97-ACA1-D06612ED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86375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520458-4FB3-407A-AE3C-BDA91F25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01C1F0-39F6-4F30-8C73-0E53049C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95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616555-2D3C-48BE-A905-7E2370C9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143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53980A-1B16-489A-8AC9-97301066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24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AD2312-849E-4530-A858-5450EAE0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143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6DFD65-5F14-4D3D-92D5-E1A9DC59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324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800B6C-6DBE-4D52-B46E-69337472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196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1E24B7-208B-4212-941A-F42A4145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006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5626C7-F83D-4EF7-ADD9-C68F3E01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196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DCBCA5-F5AD-4DDF-8AC2-845A2B81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006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6A7619-4252-42BE-819E-874517F5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096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92D6D7-3D68-4BCA-AB5E-C76C95F8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77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6988DD-F499-4DA0-9BFB-947F04F1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096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0404DD-0B71-49EF-AD73-9DF6DB3C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77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B73584-8850-4059-8600-841DE3E3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112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EE5A47-93EE-4422-B79F-8D28CC3F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7F1FF5-DCC5-489A-A4E3-18E86545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764285566"/>
      </p:ext>
    </p:extLst>
  </p:cSld>
</p:sld>
</file>

<file path=ppt/slides/slide1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C0FA24-5F4D-4C38-927A-5741AF0BE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02872-61E1-4BEA-8CBD-DE8CB2FC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B42318"/>
                </a:solidFill>
              </a:defRPr>
            </a:pPr>
            <a:r>
              <a:rPr sz="2550" b="1">
                <a:solidFill>
                  <a:srgbClr val="B42318"/>
                </a:solidFill>
              </a:rPr>
              <a:t>113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1AEE66-5EF2-4823-A8BA-EE1ADDF5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GOVERN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3A284D-CCEC-4627-925E-A1474B6B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1BFF45-2231-4020-9F1B-3F8E3635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Open the right legal checkpoint without turning SOC into Legal.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9351EA-FF7E-482D-B13E-6FA0DC55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BAAA87-BFC9-411B-9C17-AFF55C19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8AC9CD-965A-49F2-A7B0-A5CA914B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6E005F-28FD-4D00-AFCF-78FB3A37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Why Thai compliance belongs in SOC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0F30F9-3819-448D-9E9A-58209A96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C6AD03-26DA-4E90-9D87-0A20E58A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C6712E-F638-4EF8-8470-DFF643DF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7145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4009D8-1D90-4FFC-91D3-A4C848CF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71450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5DE8F2-53F3-434D-8896-6728D404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19075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234D1B-E83E-43E4-A34A-F1CF1EB9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686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66B476-9F80-4A76-BDE3-0E22AC62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24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683A6D-9720-476E-802F-8F69C396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8605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SOC produces the facts needed for Legal, DPO, CISO, and executives to decide.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9C6580-2C05-472C-BF9A-748F7ECA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448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960DB9-4339-48E8-B1E3-43274E06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486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A8BCBD-AC61-4219-A546-70F9D742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4805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Compliance handling starts with evidence, classification, and escalation timing.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F0BB3D-2040-4C0D-ABCA-15F6602B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210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3F864E-CD83-4B9B-B852-3787D89A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48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E14FE0-87A9-4B9B-9D53-11C7DF464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21005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 SOC should not give legal advice, but it must open the right checkpoint.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8C35C5-9A3F-49AB-B8B8-95D8DE83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89585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5E45F0-EDD7-4AF3-8FF3-483EECD6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10540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56D197-7838-4AC0-9C58-B3B27415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10540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666CB4-10FD-4182-8BCF-87C085C9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0555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113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C3BEE6-5F77-488A-A259-461C6156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6305550"/>
            <a:ext cx="42481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FDB524-CD8C-461C-B815-044A8371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630555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100700932"/>
      </p:ext>
    </p:extLst>
  </p:cSld>
</p:sld>
</file>

<file path=ppt/slides/slide1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4F7D4C-912C-4EF9-B615-CE466D0A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PDPA operating checkpoint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2D31B3-9CE3-4989-8BF8-E7BD50A8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66C68E-1802-4787-BB65-2F4B5A6E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9759BC-A4E9-4319-A49A-101CD382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BCF854-A3F1-4CF8-8C46-36CF7486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3B360-B7B4-45E5-BEA8-861E687C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C28128-A46D-4BCA-BE3A-1DDC593C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6379E3-71FF-42CB-87FE-160546DBD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9D65F9-C1A6-4DDB-B321-E83A9557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91ED0F-AE60-4DDE-A61D-6CE80408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88B14B-67E4-454A-A429-BE90DFF5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Open when personal data or sensitive personal data may be exposed, altered, destroyed, or accessed.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01454F-0054-4CD5-810E-A128C35C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C5608F-D928-419A-9CA0-614F30B1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BC39F9-41A7-46FD-8144-F61A3627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Preserve affected systems, data types, subject estimate, timeline, and containment state.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86F548-A237-40AD-9C1F-D708519A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D3048-49AA-465C-AF8F-F3D9706B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F9ABFC-492B-42C3-85A1-ADA2B5068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DPO/Legal decides notification posture; SOC supplies evidence.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A57E94-6525-4F3D-AF94-B65CE8FE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28FA92-CFDE-4C4B-AD69-226B090A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B777CC-1800-4062-BFCC-BCA8759C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31A64A-F405-4609-8B45-C895E998C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102E85-460E-4441-917E-EFBFEF8B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8ED47D-0492-4560-BD97-54841AD6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3DA175-DDBF-4095-A262-D95468B3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32F2B7-AF03-4411-BC87-C99333B0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A7BD85-159F-4D32-8BED-FB11F3EAF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114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B8EEEB-E158-4259-AC68-2FBFF036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0E3A0B-F696-4B39-9794-7E153104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330115440"/>
      </p:ext>
    </p:extLst>
  </p:cSld>
</p:sld>
</file>

<file path=ppt/slides/slide1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3E595FF-554E-4389-9E2A-A65BF012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Computer-Related Crime Act operating checkpoint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129641-AAF2-48B9-9096-AC32C79A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DCF9EB-FAD1-4E53-B079-C1FE61734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67166A-4253-4799-A226-9453358A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2059A3-0162-45CC-A80B-CA613C1F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109F56-741F-447D-9784-CF551FBB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E83C7B-2997-41B0-9978-96B6D305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E133E6-695A-4681-AF5D-7941D561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99D2BE-6724-4276-835B-984A4F02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5BBEB8-DD7A-4F4D-B50B-561D366D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8F751A-BF97-4D88-BC6A-9D6D5256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Open when unauthorized access, data alteration, malicious tooling, disruption, or traffic-data requests are involved.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042B48-1064-4B4E-A10B-F779BDA4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52616B-DD33-4863-845A-66548847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6A82EA-0B8C-43D8-B6E0-206E2053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Preserve authentication, network, endpoint, application, and traffic logs.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73B65D-5F92-46CA-8066-9450BD6D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017FA8-224E-43CB-9D2D-2D238973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2F6FEE-E2C8-472B-BFB9-FC6A8AE5A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Legal decides law-enforcement or authority response path.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047B69-3FCB-4460-B049-2F47AE6E5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322F45-C42E-438F-ABB4-5AB04A23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E371E6-82D1-454C-8F3B-16BD81EF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837C82-01E0-40A5-BDD8-A2CEF6C4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B51FB0-69B6-4335-9D37-BFF76BDE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B91D0C-CB2D-4B19-A448-64411890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C76B75-76E7-4593-96EA-D213B161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47ACE4-EF6E-445F-8913-401B9207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DC00ED-08DA-4043-8C0D-9CB62293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115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8224D8-B3BC-4929-80F3-1816EA16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C11F50-B813-4174-8B3E-A44F0B72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497905167"/>
      </p:ext>
    </p:extLst>
  </p:cSld>
</p:sld>
</file>

<file path=ppt/slides/slide1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428F25-3F0D-40B8-B9CF-8823FD22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Cybersecurity Act operating checkpoint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FE56A0-3B58-4BE9-8AF3-1F2492EFF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512BF9-F366-4262-8F9F-80437BA9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5D2DFE-6E33-4793-86DD-C859CAC4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167359-D6EB-4131-945C-DC57D141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06789-3ADA-49C1-B29D-8E15B1A8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DA740A-273C-463E-8F8C-82D064FE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187358-C618-4C36-B2A8-57CCD4CB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216900-0FEA-4FA6-9E82-3DE337D3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9510B2-B0DE-46DD-8EAD-CE25CA8B9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82B7FE-E152-4D8A-B674-1EA07075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Open when a cyber threat may affect critical service, public-facing service, or public safety.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F617DE-50C2-48F9-858A-47B287B5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C97975-EE6A-469B-ACB7-B50D67E2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055233-B34C-46BE-9429-DF1AFEF9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Prepare service impact, downtime, affected population, containment, and recovery evidence.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E8A5E4-FE7E-4AAD-B05E-A9280626C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2C4051-0584-49F3-83E4-045519E2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95B7EB-70D6-407E-9ADE-16178D9C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CISO coordinates executive, regulator, NCSA, or sector path as needed.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0EE1D-290C-4DED-B6DC-552CE56C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DBCE6F-7966-421B-AA00-FF199E028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18E0BC-EBB9-4DFE-BAFB-02F06BD3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B97FA4-D082-447B-BA73-240372FFC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77C805-7ECF-4CBF-A028-98EEFC63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6E40ED-9E5B-4B69-86DA-05D89CC8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90A3D6-5D68-4729-94D6-AF905684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0338FF-9739-46BB-950B-765A8C51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672EB7-67FA-421C-8A07-9E5F0CE5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116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410A94-D6DE-4F27-8A44-DAB59BCC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57C450-9430-43A0-A29B-0551261E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14817053"/>
      </p:ext>
    </p:extLst>
  </p:cSld>
</p:sld>
</file>

<file path=ppt/slides/slide1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98856D-D75A-4F88-8A9B-EC7A251B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Electronic Transactions Act and evidentiary integrity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C06CCD-23B3-44CA-A5CE-ACBE986C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7E8688-2082-4579-A638-8F0FF517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3BC931-2EE3-46F5-9B64-79DF1677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F1E83-B048-4DD9-90A0-802B2889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3A48B-CC69-47DD-97D6-0CDCBFBA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0F4A6A-5697-4376-A17E-4C33F7FF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69A97E-621A-4FDD-AE69-D63F31EB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B9E5C4-53FC-40D9-ABC6-352CB77C1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76FA5-224C-498C-A05F-AD46CFBAF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4BF482-9414-4831-8216-BD3DAD4E3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Electronic records may need integrity, authenticity, time source, and system-of-record proof.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68E429-4E63-4250-AF48-D0F9ED31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9750F5-2BD8-43A2-8439-F5EEBE5A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B95EC2-CA73-4D99-8D19-1E43B2A6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Preserve approval trails, digital messages, logs, and chain of custody.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11211D-37B9-43C1-96FA-9C4377CD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C8245F-D9B7-4EE5-8C04-EE61DECD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3F837A-49FD-46BC-B87B-84312002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Do not alter or delete records that may support legal or regulator review.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CD1E83-0570-4E86-AB10-E15BA9FB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AA028E-9E5D-4DC4-A7F5-F1D88626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B470F1-7984-4E64-A708-B9AF6DCC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898D25-3AAC-43A8-82EC-13BA12B7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23AB61-58A3-4812-8418-AF86D1691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9FFA74-DC72-46B1-9BD5-E84DDA852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C1CBB1-2D67-4E04-B19A-D9D61232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C864A1-ECB1-4C06-906F-706444F2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1A68B0-EAF6-44B1-A5A6-EE5DACF7A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117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AEB640-D3A9-4C16-A873-FB53FBF9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61C4BF-220C-47E3-9250-A2204702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393033236"/>
      </p:ext>
    </p:extLst>
  </p:cSld>
</p:sld>
</file>

<file path=ppt/slides/slide1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FFDA7D-06CF-492B-A52B-07D13DC8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NCSA / ThaiCERT coordination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AC1F4E-007A-4B6D-B65A-AED5775C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FAFD11-736A-401B-9550-722FD27A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8446B8-8EB1-4E17-9818-6E5AC240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3C27C6-1427-475C-B61F-E6B80619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DBA0AA-F8A5-44F6-81B1-EEE5E9A5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FEE994-E5C7-441F-9AF5-93D76357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2143C7-0A12-4A0B-88F1-592FDC2C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D45F24-5FB2-4B0A-B3E4-12C1A003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E8C4F0-36D1-4A69-B4E1-F3AD845F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FB1D69-B944-4BA9-B40A-CCB15FAE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F688FF-29D4-4201-B63B-AE7087CD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7D1C20-9378-46FF-8E6B-336AC2F3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E283C3-4011-4834-9674-92913D71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F40E9D-BE9F-4DB0-9F43-A1C561692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1B6D8E-B16F-4531-A112-937E8197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476081-6FDC-4E39-86F7-F73F8A62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1B8375-BEBB-4910-91FD-6FE0E740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086109-7EAF-41EA-82CA-6DBA3943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985651-A258-4C50-8A08-5FD9679C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2BD41B-37A0-410C-99FD-AFA2C52C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5988F1-6769-4B98-BA9A-4D2197BA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AB31D9-B8E6-4FC3-BD71-2A14988E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Use when national or sectoral coordination, advisory response, IOC sharing, or major incident support is needed.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08F721-1FF9-4353-B1E7-9C9CC877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49259-1BAD-4B50-866C-57B78CF9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62B917-CBDC-48EB-8B58-C7EE53B5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Prepare sanitized IOC package, confidence, observed scope, and sharing approval.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6296AF-0DBA-4870-9952-BA37B198C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36C099-8B8C-426F-B140-70A6377A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CISO and Legal approve external sharing and response content.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65FD27-C278-48C5-B809-C8CF24EA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92CE11-668D-4AC8-9334-9E01ACAF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306609-C700-4C09-A686-B018631D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118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1150F5-277F-4873-A063-3A499F2A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1FAD06-2A31-4804-8D44-F070707B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143206461"/>
      </p:ext>
    </p:extLst>
  </p:cSld>
</p:sld>
</file>

<file path=ppt/slides/slide1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638A66-D5E0-44F1-9239-2F239235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Thai legal trigger-to-action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B82D21-B388-4410-87F8-C1D7552D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850302-F715-444D-8E01-F9AD7E13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58E90-D09F-4CA7-B890-34183EEA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670198-86B3-4C78-9A24-F045CFA17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486E6-EC57-415A-BB23-71A4A833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DC8902-687D-4AEF-88C8-2DA7A788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DF8AE-2CAB-423A-AA5C-F15F97CD7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4A61D4-F77E-4FBB-B31A-88D4BF8C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D6F6C3-13A9-4233-9D5C-D008CF9F4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DEC366-AC44-4BDB-9DDE-9D15A797B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7E4200-44CA-4084-A949-C23A0F9F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D461DA-DAA2-4E9F-9E0B-F6418002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C8096C-519C-4C19-A9A4-26BC9B48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9B712E-6696-436D-AFB9-421CECE1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1FF7A9-F675-48C7-80A4-D30E727F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EBBC56-A305-44E8-B485-5D1790DA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CC01D5-EAC1-4201-8E51-0EE77B99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C2A359-B7A4-4775-9514-1B137AFD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0E64C6-9C63-4B7A-8295-CCA4C47A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106E60-582F-40FE-9E9E-33558A12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5BB6C5-E3C1-44BA-9ECB-961EE4DCA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7E6040-204F-4703-A7B8-5F9598E1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Trigger identifies whether privacy, computer crime, cybersecurity, electronic evidence, or coordination path opens.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B6CE25-0F05-4B71-9ED8-6B11F5CF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DF6423-2201-4DAD-980C-B5EFC63EF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C79290-2540-4AAF-B92C-40ED005E5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SOC action preserves evidence and starts decision logging.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618F4F-DFB0-4522-B2DB-A8A97747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E0F105-3F02-439A-9753-2ACF6407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Owner and notification checkpoint prevent unmanaged external communication.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F89961-8B3E-4E2D-B60D-9258B46E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B6E60E-FEAB-4E52-9F80-BB3EDB04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D895A8-89A4-4495-99F4-48439F42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119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A1D92C-0801-4089-B3D6-2BE500249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165CBF-7B51-453C-8C6F-E0AA8C13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412188942"/>
      </p:ext>
    </p:extLst>
  </p:cSld>
</p:sld>
</file>

<file path=ppt/slides/slide1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9BC092A-D64F-4DC6-83C9-3AD206D6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Notification decision and evidence package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D3641A-2ADA-4FDD-AB40-BF43E265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CCCD22-1037-4D81-9A8D-943CEE10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23E8E1-E429-45FE-A542-66FE52E5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D759A-BCAF-4E15-8B8C-3369AE1E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D0C605-75F1-4064-9CA3-7426C41F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1D355A-025E-47E9-9FD7-456FBF0E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FEF61-B1C4-4B6E-972A-290B2C7A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C62DDA-54B3-41C7-A2CB-3FBC0949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6953250"/>
          </a:xfrm>
          <a:prstGeom xmlns:a="http://schemas.openxmlformats.org/drawingml/2006/main" prst="roundRect">
            <a:avLst>
              <a:gd name="adj" fmla="val 19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ADCF22-2092-4738-A4CD-4569B96F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456AEE-2574-4680-8926-B5ABBF49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0891BE-4685-4922-AD52-B739D715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61360A-EAD7-484E-8FFB-1305B94A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6D8BBE-E745-450E-B012-83B56E46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A55ACB-8D80-4BFF-9B03-A921300D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79F4A0-276F-46F0-B0DC-7A481534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7B07FD-90E5-43AA-9A53-8EF99425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A40DA8-B4CE-4FD7-82FE-678CCE0D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86CC4C-7B97-4095-82B7-FF328C32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41ACF0-6EBF-4E9D-B77B-05494FB2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ABB194-6609-45B5-8A26-4729D8A7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BA71D0-371B-423C-BCB8-402B95A9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8A4357-DFAB-4F33-9D84-D7D28904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38D613-857C-4582-8AC1-D65388D7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E9C33C-E2B2-45EE-A3A4-9C669C05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4322E4-8801-4C69-B34A-37ED1030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241C17-E160-4A92-9E8F-2CA8296A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Decision states notify, defer, or not required, with approver and next review time.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FFEE8D-FDCC-4CBD-B976-C321A600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3AF2D7-3187-42B0-A10C-C01082A1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Evidence package includes timeline, affected systems, data impact, logs, chain of custody, and draft message.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2F343B-C23C-4590-9E4F-C187BF27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261EA4-F979-46AD-9E79-A0938A46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Facts and assumptions must stay separate.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E9BE6DB-B099-4D9F-B4F6-4242FA4E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120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807844-7111-49B5-92A9-D500D669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19A392-74CE-445F-8935-CC28B508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1600212382"/>
      </p:ext>
    </p:extLst>
  </p:cSld>
</p:sld>
</file>

<file path=ppt/slides/slide1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DABAD34-1135-452D-9D84-8E41079B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Thai legal escalation template in 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4AF564-6D8A-4896-99BD-AD2CB4B8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685524-7C1F-4E6E-BC57-23D9F6EE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19A72E-14A4-4929-984E-C1F10C7D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213E08-93C9-4BD7-909D-F5ABF085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EB2725-A0F8-4FE8-9B46-EF5A0F50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332DD3-F113-4062-8088-0611DAA0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61A725-8083-4347-AD8C-0CAA44A8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A3738F-84F2-4237-ACF1-6C7E8BE5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78895A-84AE-4794-ADD3-B32D4904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Checkpoint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475AF1-31F5-4420-A8CA-D241A421A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C7A3FA-1B62-4E31-83BE-51C44D80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SOC provides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A680D0-B739-47FD-83F6-B2CC0711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DA9318-1566-49F0-8A21-1817EAAF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Decision 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1A304D-3843-48D6-84EF-9EFC6DAC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20C31D-A1A1-4F77-97EA-70921D9D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PDPA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08A4B1-5651-498D-8B8A-E11E8189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C21830-14B5-44B4-A8B7-423FB7B42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Data impact facts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C881CD-1C82-4023-BC5A-80BAFE9E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70BECF-CB98-45A1-8AF1-966E977F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DPO/Legal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1D513D-FF8B-438C-9416-7B7B9641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DDE1B6-FDD5-441D-9816-DDB698E8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Computer Crime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1121E5-AC8C-4CD8-8B22-9BD6B498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495456-F0F1-42D7-9FE9-C1C3C5AE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Traffic/access logs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A8F9E6-BAF8-49FD-9267-962B1716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31D2B0-0CC6-4536-8153-C279D335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Legal/CISO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35DDE8-0D0B-4D75-BD7C-5E3E1403A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FD1A7E-11A5-4E5C-863C-4721DD34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Cybersecurity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40CC60-DD0A-4DDA-8490-9ADBA5BD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01E408-DA91-4345-84E7-5094A674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Service impact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F84E49-FC6D-4FCA-9FEF-D727EC97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E0252A-500D-4B62-8EBF-47DDDAC0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CISO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5C2F243-BD70-4B6E-A7D3-53E38BE6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F37CAA-99B1-4682-B27F-7FD2AB4A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Electronic records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6688B0-89F6-42D3-877C-0090EA45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8AB829-9714-4E13-B877-E0366E03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Integrity/custody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107E42C-CFF6-49CE-A810-7419890E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D014ACD-9CCD-42D7-ADFA-4D5A673F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Legal/IR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BC52767-9A9C-4B6E-9FD8-54635CDD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121 / 142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8C0F66A-BF1E-4BFD-BF08-A0BDDD7E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D55AACB-6984-4A06-9EDE-ED8E2213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62865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1867662672"/>
      </p:ext>
    </p:extLst>
  </p:cSld>
</p:sld>
</file>

<file path=ppt/slides/slide1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02FD47-9E40-42A0-92FA-644CEBCC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Workshop: legal-impact and escalation decisions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4A2B6B-8D27-4190-BB86-14B5C5DF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1D415-1FE9-4A07-89CA-066CEA9B4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5DAC68-676C-4C7B-A71D-CD70CEE8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EFC8F6-C2EA-4B2C-8217-B462B177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533CD8-3FE7-4FCF-9928-A0F7271F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5F0F3-7C37-4CF3-B068-174E88BE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4FF760-DD6A-44AA-BC2E-996E205C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4204F3-B21A-4E93-9A08-C20CB663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6FC6D6-A3B1-44D7-8E10-25C3CCC0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42318"/>
                </a:solidFill>
              </a:defRPr>
            </a:pPr>
            <a:r>
              <a:rPr sz="1200" b="1">
                <a:solidFill>
                  <a:srgbClr val="B42318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C1D61C-9EED-4B7A-9013-99794578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5CD941-BDE4-40E1-8085-2076E630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6C25CC-D725-4EA2-9F06-DEEB7E89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384838-AB53-4411-8C27-CDF80856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8BFBD1-682F-435E-BD5D-3C721306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0123EB-F667-4627-8AD8-B6CB9713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FCE141-E02D-47E5-A521-0805E2BD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FFB351-2ACB-44DB-939C-D2E0801C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5BC089-D0C3-4C15-B0D2-19FB24FE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1BBEAC-0F8B-47D4-AB89-D6349B8B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8BE04A-5E52-4D7E-9C42-C49C1112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651104-9A4E-4A62-B9C7-E85F35D4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FDF594-C872-4B1C-989F-73DE4C4C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476566-75F6-446C-B507-5FED9514C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36991E-24AD-40C2-9A39-CC0AE943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213DBD-64BB-417F-B325-91A1E455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3A4A00-80BC-49FA-A972-C2A6759C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607638-90EB-4766-955A-58097E21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B8DEB7-A7CF-48D8-A407-08ADC603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190C81-BCBE-4B94-9B64-8D2F52EC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FD1594-E95A-4F29-AFBA-9526CFD9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2ED3DB-5CAB-4D5A-B061-A30EC750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177564-E47B-44B7-A3E0-4A2742102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122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1462277-8F56-4ED0-A71E-EC4E6A52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59E610-A782-469F-974B-00A3DCBD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2077494678"/>
      </p:ext>
    </p:extLst>
  </p:cSld>
</p:sld>
</file>

<file path=ppt/slides/slide1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9651A3-B623-4DF5-B00A-F1DC34F8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EC4FD9-5F49-4923-AD58-044545F61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C98218"/>
                </a:solidFill>
              </a:defRPr>
            </a:pPr>
            <a:r>
              <a:rPr sz="2550" b="1">
                <a:solidFill>
                  <a:srgbClr val="C98218"/>
                </a:solidFill>
              </a:rPr>
              <a:t>123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F39FEE-BACA-4476-A086-02AD72E0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REPORT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ED754F-A281-42F7-AD1A-652E5A43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F7B6F2-7D2D-468D-8217-C9571982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Translate technical evidence into executive decisions.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42D6D4-1280-4377-82AE-639C0729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A444D0-2955-42D8-B9AC-71E0757B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87C0C4-F5A6-4643-9354-2F7D5957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DDDFBD2-6B5C-4864-8AB3-D7958F1C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Incident report structure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ECE430-E473-459E-B2CB-78BAA619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184C30-123C-4351-97FF-77779B13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A62489-8A4D-47A0-9D7E-FB8CEE7D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A3B8C4-1082-4685-B54B-DE997AEA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42763F-17F4-48EB-AA65-4F7FB2F7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8218"/>
                </a:solidFill>
              </a:defRPr>
            </a:pPr>
            <a:r>
              <a:rPr sz="1650" b="1">
                <a:solidFill>
                  <a:srgbClr val="C98218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7ED101-267A-405D-8A0A-2F5497BE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507597-C2DD-4F1F-95BA-3D145B65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F855B2-726F-4A40-8C70-D20889F1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Report what happened, when detected, systems affected, evidence, impact, actions, and status.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F53F77-A6D5-48A9-A5D8-322C1BFD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933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D6F852-665F-474B-8B5A-91E5E2EC7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30AC69-E3B9-48EF-8657-4CD6A2299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33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Separate confirmed facts, assumptions, decisions, and remaining work.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2595CA-C12B-428E-9D42-AB02BCE1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5242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0A3EC0-913C-491B-BF6E-C74D4B4A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623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8D642E-E7C3-4C73-A159-E3C5918B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52425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Tie report sections to severity, legal checkpoints, and executive communication.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B40D50-7ADE-4D8C-A825-A80223AA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38150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4B1259-5640-4ECA-B6F6-C539976B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910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1196AE-511B-447B-9FB6-8EE8E298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9105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DEBB72-FC9A-4F5D-B085-0C6D4D21C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9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123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C39B38-861A-4D74-9482-AA965D60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791200"/>
            <a:ext cx="72009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9938F9-55C1-46FA-87E2-0DB281D5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57912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1373254282"/>
      </p:ext>
    </p:extLst>
  </p:cSld>
</p:sld>
</file>

<file path=ppt/slides/slide1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489C076-5498-497D-A48E-D59758BA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Incident decision log 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09404B-B414-4B87-837B-220D0901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92284D-8832-46AE-B774-33AE2D62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AA7B9E-9882-4931-88E4-8E994F4D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64DD3F-CCD0-4DD0-9ADD-D2D1591E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BCFECF-0EBA-4A01-875C-A7D4ECD3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BD523F-EB22-47C1-8BA2-CCF16A0C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D0C4AC-04F3-4CF4-BCA2-A8174147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A9BA77-14DB-416A-9CCF-823E0600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7058025"/>
          </a:xfrm>
          <a:prstGeom xmlns:a="http://schemas.openxmlformats.org/drawingml/2006/main" prst="roundRect">
            <a:avLst>
              <a:gd name="adj" fmla="val 188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74BEFC-3F85-421B-9A5B-26D3775C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8218"/>
                </a:solidFill>
              </a:defRPr>
            </a:pPr>
            <a:r>
              <a:rPr sz="1650" b="1">
                <a:solidFill>
                  <a:srgbClr val="C98218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B4D84F-7BA4-457F-A503-880BCBC5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872F48-7A0A-46B0-864F-D3AEC5D4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7905C7-F48E-41F5-9502-36CE96184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FA114E-E654-4BF4-9248-A3BC7C99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42FB65-C1FB-4C95-AECB-D85E08C9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A6707F-72EE-438B-958F-88C6D13B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C6E62C-2695-48B6-9C12-96092A885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581263-CDE8-4357-A51F-8FA60983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2D018B-02F9-44E9-B83E-8B55A4FA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489432-BBA3-4D25-8832-B4679789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0B283A-638B-406F-8615-9BD09F94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219DC3-12D5-4D1D-A4DF-D856726E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D35021-C944-4E13-AD91-2507E8BDC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134632-0492-4FF6-AF7F-062E1E9C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F135B1-124B-4321-BCB3-56DAF429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ECB5AC-C91E-4984-A5D2-6F5A132D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5AD797-6A4C-434E-BE24-266708CA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Capture decision, options considered, evidence reviewed, approver, time, and next review.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0F95B7-1F4F-45EA-A7C7-05657B1C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B14CDE-98CB-4EDE-A572-E079CA57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Use for containment, shutdown, notification, external statements, and risk acceptance.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C0DE31-7A12-47BA-A483-F2A224D5E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3D2E8C-B016-4B2D-8960-932A2AEC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Decision logs make post-incident review faster and more defensible.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BD3ADD-12E6-412A-91E5-8A23E3E4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124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1C7ED8-822D-4D84-A5AC-C1B96CFD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544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A3AE47-A1F3-4EF4-84A4-104200E1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96012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1659167377"/>
      </p:ext>
    </p:extLst>
  </p:cSld>
</p:sld>
</file>

<file path=ppt/slides/slide1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E3DA45-01FF-42A8-85FC-F7C83C81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Monthly SOC report 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A22BE8-C3C6-479C-B943-1B69353D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0867C5-26AD-4646-A802-2FC81540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A35B25-055D-4E6F-8CF4-86FB845B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EDD22-A8B6-400D-BC42-992EC951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288C22-AA28-469B-B197-7CE7824D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12D019-9E75-4512-AE58-7EE9DBCB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A41557-927B-4014-8090-D377D57C5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73ED41-9072-4809-8B28-630E42DC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7058025"/>
          </a:xfrm>
          <a:prstGeom xmlns:a="http://schemas.openxmlformats.org/drawingml/2006/main" prst="roundRect">
            <a:avLst>
              <a:gd name="adj" fmla="val 188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1D6504-2767-4168-A22D-0B46B449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8218"/>
                </a:solidFill>
              </a:defRPr>
            </a:pPr>
            <a:r>
              <a:rPr sz="1650" b="1">
                <a:solidFill>
                  <a:srgbClr val="C98218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5861A2-26B7-4C56-8ECC-D7A2E157F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492640-D483-4643-858A-C7BB124F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677C5A-CCD2-490B-986A-649AFF1F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5C5348-16F4-457C-B4EB-6071E78B5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325A79-9C4B-4271-B9E2-D5AC2794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07AAA5-EEB3-4361-87F5-A126E651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3E722D-DA9B-4BEC-9A1A-2BA93C64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C814C8-8525-49C8-B495-97FFDAED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70C682-AFC8-4E33-86F5-B89A6E8E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463244-69EC-4B78-A9EE-9E1F8832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BE15F9-F6C0-4CD9-8916-B02B6140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D5824-BA43-41BE-B950-D18A1859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263C77-1F44-4AB0-AA9E-CA2FBFA5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530D5A-A34D-4573-996F-E6BF8CAA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7CF3F2-8CBA-4396-A809-C87FDB55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66D26B-617E-41FF-B52A-BC71AE05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1D72D1-8A16-4B07-971F-AEDF1960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Report incidents, alert quality, backlog, telemetry health, detection changes, and remediation movement.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C7A21E-CAA9-4E6C-9FF9-F2CFFD86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7B384A-3890-4B5C-9213-4A11A776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Use trends and decisions, not only activity counts.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DB01B3-794A-4544-9B8B-AD7C1561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C22170-37F3-4934-BE2C-32FD592C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Connect operational findings to business risk and required action.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3F942F-E2B2-4C5A-9891-2339ECE5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125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E39A8D-D6FE-4659-B4FD-72A3B0AD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544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3B4BCD-763F-4B24-A576-E11C53FD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96012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91794028"/>
      </p:ext>
    </p:extLst>
  </p:cSld>
</p:sld>
</file>

<file path=ppt/slides/slide1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06D290E-9B71-40FE-9530-1FEB4062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Executive dashboard 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3C68CF-B10C-46C0-864F-292C82BC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8B5F83-4628-4941-9630-0B69C204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3EC316-979C-4CEF-A7C6-7ACF9B8E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93A244-A723-44CE-8A06-B5078B67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273EA7-5977-4436-9895-DA666D29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AD33A3-15F4-4550-8312-52EECDA7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81DC6E-B625-4918-9527-962814D6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E9D931-CB6C-4D84-9B99-E779073C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E5E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E7B19B-5AE6-447C-8F32-6F5270C58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955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B10A5-C371-42E0-B36B-5B1C35A1E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813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Trend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2E7968-B2C5-4656-87FB-BD89992B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2324100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96B958-9EA3-413C-B8EB-7A5B193A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955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17E8D0-2FB9-4A61-A569-EF18EB2B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7813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3AF45E-F014-4A0E-BD0D-2F056705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29313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5A5E5C-0281-4403-A74A-C8092543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0960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Backlog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99E703-EC11-4732-82C2-3AA07A6E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3817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005C55-1E7A-48D1-B40F-866A0371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5929313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F0D765-830F-431F-9A51-DD6C4FC4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0960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6240EC-CAFE-4098-9591-88714DE6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3817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3EA96-5B5C-42BF-8994-4644CA4B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24100"/>
            <a:ext cx="897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 board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2200D8-2436-45BB-BC27-70F2F00B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2705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15B0AE-76D2-4A3E-B258-877B1036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76550"/>
            <a:ext cx="85534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Executives need risk posture, trend, major incidents, open decisions, and resource needs.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7A8988-D614-4CBF-899F-321C24D1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3848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563FB6-0D0A-4FA3-B975-738AF49E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019550"/>
            <a:ext cx="8553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Use concise metrics with explanation of what changed and what decision is required.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C41D1F-E9F7-4485-965C-C3125D2CD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4991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1BE693-C070-483C-ACB3-A6F5F1501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162550"/>
            <a:ext cx="8553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Avoid analyst-level detail unless it supports a business decision.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64A246-B329-43B5-8DD8-808315F0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126 / 142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FD7909-9E94-4909-B350-B7DA05F4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544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1D0C07-204D-4F13-A86B-A4AB0DBC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96012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686500254"/>
      </p:ext>
    </p:extLst>
  </p:cSld>
</p:sld>
</file>

<file path=ppt/slides/slide1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CBB3C17-C043-4F52-A34A-5FD086041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Board-level decision pack 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4A529-DACC-4FD8-9DAB-823E1BEB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8884B7-00F3-4F9A-A1D6-F85C8616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AD24F0-8EDD-440A-99A1-A21F0252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8E1D47-5B53-452C-B3EA-15456618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8BD2A0-3B37-49A8-92E5-A69DD64C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D776FA-711F-49D6-80E5-72D35C45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EFF03A-F10D-4B53-85E7-864AF3A9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03B589-3D8D-44E1-B510-B26BD55F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8CE387-DFDF-431A-9505-6D62FA80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71B492-EB3F-42AD-A094-96777C26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Board material should show material risk, control gaps, accepted risk, funded actions, and progress.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D02907-A4A4-4C4B-9528-2A39498A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E1B29F-AA80-41B7-826F-71246FAD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B2757B-984B-42E9-83D6-880A171C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Summarize consequences of not acting.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F89A0D-040C-4328-8850-A4102D24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73AEF7-58B2-45A5-8C82-9CEB9E1C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8C711D-FC76-474D-8F1B-4C08EAE6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Link incidents and recurring findings to strategic investment needs.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BF2BAA-EC29-4937-BFC9-A9A64FA1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9935DF-C668-46BC-973B-41C5A3C8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0998A0-089E-4053-93A1-D650F6C4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F2BEA3-5C8A-4E63-BC3A-8C468681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FF284C-F1A1-481B-BE2D-B2DCF9CB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28803D-4520-429A-91D1-A53FA207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89502F-2F72-4C33-839A-EF1E345F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A6FA21-6062-42E9-943A-96B65725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D76541-9FC6-4EE0-A2ED-66702DDA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127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3F9FCF-02A5-4517-84C0-62B0838C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544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71D86A-1C9E-4560-BAB8-494462D4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96012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814116153"/>
      </p:ext>
    </p:extLst>
  </p:cSld>
</p:sld>
</file>

<file path=ppt/slides/slide1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4B89126-4831-40D2-A713-9519E375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Communicating facts vs assumptions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BCE5A1-D3EB-41A6-9906-2B9A6E88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19F9DC-5AB8-4B30-A30D-D9A1A836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E5B1E2-CAC1-447F-8FCA-22A43157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1A0977-A12C-42FA-8583-7F15A753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7C5B9A-E64E-45F9-B09B-61572F79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8D6688-BED1-43E7-BA03-BFFEE1D1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90932E-9DC0-4D7E-8EFC-1C3F9A22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9133C-406A-4DAF-A2BF-B80A4FD77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1667DC-4067-4F04-B76B-692694AD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E329C5-ED05-49FD-8AAF-2E9B558A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Facts are observed and evidenced; assumptions are current interpretations that may change.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FAC727-5CCD-432B-A8D3-5FFD38ED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F55EAD-D89C-468E-ADE8-81F960FB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CC2BB9-2AD2-468A-BFC1-0C2CE539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Do not let draft statements outrun the investigation.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3A856E-97C0-445F-94F6-B788B741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FA55E4-5BB7-4040-A13D-F78FB32C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6291F8-B52F-4291-9902-D0DF7DB6A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Every external message needs approval path, audience, scope, and version control.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32777B-FDB7-427B-86C1-5F2A05D3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1C6C14-5101-4477-BEA8-480C4DF8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45C727-80B0-4808-AE66-59C2459F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7A1F2C-CAFD-497E-A310-86038B9F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8D70D3-5E1A-4671-9637-6D38D63C2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CB8CA6-3729-4AD6-9E8D-498A93DF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74F881-211A-47C6-95CC-F1C0DAD81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73EE83-674F-4653-98F9-21EDB073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9F12E8-BF9A-431B-B865-DCC49886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128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1BC9D0-F027-4B1F-AF9F-0D78CABE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544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7791CF-89C3-4F27-B20C-9CB0CA5E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96012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524896270"/>
      </p:ext>
    </p:extLst>
  </p:cSld>
</p:sld>
</file>

<file path=ppt/slides/slide1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7E9392-F014-4928-B691-DE47841B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reporting template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83A8EA-CAFE-48F0-84C3-F5CE989E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39E8C6-C4CD-4DAB-9ECA-426F0A95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5A428A-1070-4ED4-846A-56F08D12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E320B-164B-4503-80E7-9D6D215E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E13012-4840-4C1B-B852-EAB634E4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06F047-C1A4-4518-A0D3-9F200F5E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C4C839-535E-4CBE-A90F-77602836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31D8A3-F7C1-45C2-8AEF-29056CAD5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629792-9C31-4E13-8CD7-BEF45816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Template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EC4E9B-CC81-44B9-A582-50D14755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A6734C-B47A-4BFB-B17B-219F60E2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Use when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73C0E-051C-4E93-B886-AF48B7FC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3FD278-A32E-4359-A3A6-9DC1C308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Audience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75409A-3475-431D-BFDA-E77B3210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1B7EA9-C4BC-49F9-92FD-EED5B137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Incident report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B64CF5-3838-4BCD-9C66-FE421D06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0DB14B-6EF5-462D-930C-32BF53EE6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Case lifecycle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1A3BAD-FE5D-4C6A-8366-9218952D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ABD536-0511-4E1E-B14B-81A2D4A2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SOC/IR/Legal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81E085-FEE5-4EF9-A534-5E6D2CE8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7BCC6D-6DAA-450A-94DF-5AFF5869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Decision log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5B3CD8-A9C7-4C45-A182-CAE3AEE9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0B7DB5-6B15-43DA-AAEE-9BD471C83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Material decision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8019A6-78A8-4703-88F5-12893B1E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3F48FA-3F8D-4648-B0C9-AAD75B9A0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CISO/Legal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B98313-BD5E-42F6-9CC0-2CD5A19B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89F5DD-4BE6-4389-93E3-FC72CF24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Monthly report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FEF4FA-56FE-44A4-9B3D-0710995F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D44CF9-1920-42D0-B6C8-51CCBD6B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Operating review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92BC5C-EF66-4C64-8E92-B190D84C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D3E624-0516-47C0-BE52-FE65D603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 Manager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E50796-AC51-4A61-B88B-B7380971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F68584-AEC1-43A1-AC4D-C1203213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Board pack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5EF832-4A33-44C7-A495-9CC5E268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934B7C-2C7B-45AC-ABA6-0FBB8F28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Risk decision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363316-0A2B-45B0-A055-69A7B740D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06B5075-CF95-483C-A9E6-8DAC450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Executives/Board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9F42F5-EB5E-4E4A-91C4-172F53FF7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129 / 142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78618C-7226-424D-B5B1-2C16AF42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3544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565FA2-A0E3-444B-83A1-317F75B3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62865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234772036"/>
      </p:ext>
    </p:extLst>
  </p:cSld>
</p:sld>
</file>

<file path=ppt/slides/slide1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0CFF240-34F4-4F9C-BF15-1C090764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Worksheet: executive escalation brief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9D28AA-5BAE-420B-B7CE-B8113F2D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89BD83-9A36-4A54-992F-861BB718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5C5AF0-007A-4F1A-A8BB-0D2A10114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B8D666-FD9C-43C9-AF8C-9CF9BAB6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8C485B-A93B-4E37-9060-A72B9B49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A2D4CF-2529-4FF6-B980-AE632519D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61D820-90C6-4AC7-B492-0CB03D4E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79D7E9-722B-4439-8E7B-921C018F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A28926-EDDD-4353-AB6B-31E60DC8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8218"/>
                </a:solidFill>
              </a:defRPr>
            </a:pPr>
            <a:r>
              <a:rPr sz="1200" b="1">
                <a:solidFill>
                  <a:srgbClr val="C98218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FBBA24-3552-4CE3-A8F5-B1363B94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379914-DA52-4A5D-B7F7-840D375D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232820-6F44-41A1-BA36-DCC5F50B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DCC8B7-86AC-4A8D-8F39-B04C5196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E07DF9-E29C-4954-B69A-2013FFBB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1DF010-8E46-47D6-98EF-2E3CD70F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ACE332-DE69-4B94-B03F-163EA0AFF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5BC0F8-7785-4BBE-BE27-A96D36AD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E68EF6-20FA-4AF9-8E02-15308D00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95DDDE-45A1-49DA-B1B1-3A9F3D52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0DBA52-151F-4429-A1DB-59D780C0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656A33-93ED-4527-B87F-FF13B45B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20759C-CFEE-498D-93EE-0D958B5B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B5237F-C3AF-4994-95DA-6CBDB0E1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E76445-12E1-47CE-B410-E6B0EC3B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F2BBE9-A540-40A9-9139-757AAAA31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14E85A-5762-4E9A-9818-70C70AF8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D863B6-215B-4502-BE11-BFC4F505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C4CA20-9E6F-4365-8910-71679F2D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BD027D-522C-4A99-8CAE-B20D511D9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BD6391-70E1-4E94-B309-2C2492CC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9BB522-CA25-49CE-8A0A-BA70FDB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77C620-08E7-4523-BA9B-34B99DA6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130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789B14-C6D1-4CF3-B37B-C764E6441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544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672231-565F-41BE-A53B-C92DD1B0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96012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610639213"/>
      </p:ext>
    </p:extLst>
  </p:cSld>
</p:sld>
</file>

<file path=ppt/slides/slide1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E5D264-1CDE-4CE6-BA3F-68911BD7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DE2110-04B8-41F7-9EAC-99F2604A4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D7C66"/>
                </a:solidFill>
              </a:defRPr>
            </a:pPr>
            <a:r>
              <a:rPr sz="2550" b="1">
                <a:solidFill>
                  <a:srgbClr val="0D7C66"/>
                </a:solidFill>
              </a:rPr>
              <a:t>131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668691-3C11-4491-A4E9-1EE72311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IMPROVE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DACEAE-B2C5-4EC4-A740-D265CD33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EC12E7-D452-466F-A0C2-F3A9CE73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Turn exercises and lessons learned into capability growth.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9F31A6-377E-4A97-B7CE-8C0C9268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F23B0D-D67B-4C33-8DD6-0A1914DD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20AB45-4B34-4D77-AB62-C12904366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C453F7E-4F77-4B10-A783-A9CCAAFB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SOC onboarding path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34225-F99F-48B5-8388-845FCA21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385EBC-A9A9-46DD-A672-F9B7A829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76E9BF-93F2-445B-ADD5-83398D1D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F5A4AF-3249-49AE-AC07-5C207D23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8F0AE8-6F21-438A-80B6-64D888FE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7C66"/>
                </a:solidFill>
              </a:defRPr>
            </a:pPr>
            <a:r>
              <a:rPr sz="1650" b="1">
                <a:solidFill>
                  <a:srgbClr val="0D7C66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10C107-2FB8-4EB6-BD52-DBC13E8C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A28F28-9260-44B1-B89E-AB87C045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185BA5-40FE-4B8B-82E9-E257D145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Onboarding should move from access and process awareness to shadowing, guided work, and independent handling.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A4750B-6E39-41A5-B68D-181FF931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933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593207-B847-4F2C-B0AC-EF53BBA27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AA2011-171E-4E94-8347-409293E2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33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Competency should be checked through real triage, reports, escalation, and evidence quality.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6C36CE-EEAB-4A43-A74F-50EE98C2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695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BDCCE8-79BF-4178-9C96-89B0575B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20F695-D9AE-4B17-A8EE-99918B89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Training records support both readiness and audit needs.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18BD66-876A-4186-8095-E26D368F7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38150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9E9A38-EE6F-4A00-A320-81F85DE1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910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3C352B-2D0B-4EEE-B8E9-F27D66B7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9105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5CB409-AD3C-4D2C-8BDA-34EC247E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9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131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57602A-F96A-483E-8C05-E6063E38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791200"/>
            <a:ext cx="5905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441B9A-6117-46E2-9B6E-D305DBE5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579120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09_Simulation_Testing, 10_Training_Onboarding</a:t>
            </a:r>
          </a:p>
        </p:txBody>
      </p:sp>
    </p:spTree>
    <p:extLst>
      <p:ext uri="{BB962C8B-B14F-4D97-AF65-F5344CB8AC3E}">
        <p14:creationId xmlns:p14="http://schemas.microsoft.com/office/powerpoint/2010/main" val="1483233763"/>
      </p:ext>
    </p:extLst>
  </p:cSld>
</p:sld>
</file>

<file path=ppt/slides/slide1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EC851D-9E88-4C2C-8A68-EB904C41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Analyst development and cross-skilling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EC78D5-8489-465E-AC93-867C43331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05A34-6EAE-4529-8DE8-054BE5B0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E930C7-C535-4D94-80B9-B5A0706C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C961AE-F2D4-4369-9E56-7EA3EE4D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21F548-EF71-4C84-973C-CC6C169F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25F33E-764C-43E2-80F6-CA588FCD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EB21C1-3C35-4D0A-A7B0-334DB53E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C7D9F-10CC-4816-B559-9FCFF59E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C8512F-F122-4E33-A63E-9CBE671E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0900A0-F00E-44FA-BA84-08D0E516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Develop analysts from queue handling toward investigation, detection logic, and incident coordination.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F83067-513D-4344-926A-DD4119D9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D193D7-CCFC-4C17-853F-EF291964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D325AA-E73D-4401-9F4B-BB247866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Cross-skill engineers and IR roles so workflow handoffs are understood.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EB7363-428D-4B0D-AC18-328667D61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789CE0-0B4A-485D-AF24-5762B636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EF8312-D9CC-4AFF-AA6E-13BB2C6B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Map skills to role expectations and promotion criteria.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A0AC8F-C95D-41EF-8D8E-9AA2392A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718142-9521-495B-8C83-0EF2AA6A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2E22B0-777F-4D46-B51F-0F6B1EAA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851646-D85C-46FB-9C61-D7BEA5EE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D36761-5709-49AE-B7E0-732CDE8B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8607EE-7911-4176-B870-78FB5529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DD250D-4831-401A-9BC9-25136D1B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2E6306-18F5-4BA5-850E-7C0A5CF3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7BA4D3-2600-47C4-B2C7-3716F252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132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D49B4A-FABB-48AB-A4A2-308A632F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22682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7C7C48-A243-4CF5-A96C-ED7F7869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948690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09_Simulation_Testing, 10_Training_Onboarding</a:t>
            </a:r>
          </a:p>
        </p:txBody>
      </p:sp>
    </p:spTree>
    <p:extLst>
      <p:ext uri="{BB962C8B-B14F-4D97-AF65-F5344CB8AC3E}">
        <p14:creationId xmlns:p14="http://schemas.microsoft.com/office/powerpoint/2010/main" val="1092606585"/>
      </p:ext>
    </p:extLst>
  </p:cSld>
</p:sld>
</file>

<file path=ppt/slides/slide1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5812FD8-E975-4858-AB64-B2EC80F8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Simulation and purple-team cadence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FFB49D-797E-4681-9446-EAE8BEB0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0CB82D-3A92-4257-BB6E-842BB595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81F7E3-80AF-4249-BB00-B11F4C5A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03DC4-86A7-4ECC-85B2-87BDE9F7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BB5431-FA07-4107-AEA9-4E6D078E7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7E8043-01DB-4E0B-BA39-76805FAE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C65671-A015-4F2E-B73E-CFB1B603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A49C16-928F-4032-993E-B326472D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34DEE2-F402-4E07-A3F4-853F0C47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3A6D84-97FC-4A55-8CBE-5691FEA0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Simulations test people, process, telemetry, detections, playbooks, and reporting.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8BE84-3B42-47DB-8946-BA2289516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1D45E0-AA0D-4C0D-91DB-C4B4F051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5E18D2-D8ED-4E85-BC12-E2014BF1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Purple-team exercises close the loop between attacker behavior and defensive coverage.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6FDF1D-97F1-42CF-B68C-8ED161F8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03C6D3-0AD1-4DC6-B73E-DC2E197A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3ED230-74FD-4CE3-84F9-5484785C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Capture findings as detection, telemetry, playbook, and training backlog items.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C75A27-3748-47E2-BE85-35C85FEA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05909F-1D4E-4B7F-9485-95B5911B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A11A34-F298-430B-83CD-C23A2C18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ED8CC3-2E9A-4B24-AF12-119100A8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A5F8CB-76D0-4660-8AE5-24349315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0EB71B-C1C4-478F-82DE-019F238B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972CD4-F54F-4EC1-BBDB-A99C3C82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795D32-CCD5-42B6-81A0-229087BB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1E1E0D-03C1-4E1C-8B1F-4E587711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133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F2D16C-CB4F-4162-8488-46CE3BFB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22682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BD9A46-6C2F-40D1-AA99-C4C9394E0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948690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09_Simulation_Testing, 10_Training_Onboarding</a:t>
            </a:r>
          </a:p>
        </p:txBody>
      </p:sp>
    </p:spTree>
    <p:extLst>
      <p:ext uri="{BB962C8B-B14F-4D97-AF65-F5344CB8AC3E}">
        <p14:creationId xmlns:p14="http://schemas.microsoft.com/office/powerpoint/2010/main" val="448511495"/>
      </p:ext>
    </p:extLst>
  </p:cSld>
</p:sld>
</file>

<file path=ppt/slides/slide1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9BF9022-F14F-406A-9037-0EB7CE1E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Certification path and capability-building logic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7AC1EC-6CBF-44F2-A293-BE7370BA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57060-7340-44A5-8666-AD50B7E6A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77706-6E30-49F2-BC8D-456B7790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C2A277-37B7-4A2F-817C-56A04D42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EEC087-E4B0-4287-97D6-3D107C01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48E86-9504-4EBC-874E-EEBACD6F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AFC64-B4F4-4C6F-B4F5-D3C8AF1E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9B7F42-5379-492D-A82D-A6A603C8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9E56F1-F3AD-4B5B-B907-2D35B6B3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70B9F0-C04C-49CC-8050-ECE68D80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27D090-ED04-46EE-9A16-EB9072DB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055BBB-9F5C-4BBE-B29C-1FE425F4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FEAA08-CA15-41E8-ABE3-F3B3F38A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759A9B-8F13-482F-AEE5-D080C6C2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64163D-ED34-4C67-898F-37C13986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85B2E1-FBE4-4FFA-B30B-F10C6A61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16270A-7644-4F90-A7B1-E808CF46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FDD297-0125-4457-A40A-54049D2E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4326AE-FD29-4E5B-80F1-7A9700F6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96E7BE-4D75-4A04-A4C5-297CBBD0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3A4B3C-0F18-443A-8357-474D35C7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4BCEAE-96FA-467B-B326-67D19EE5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Certifications support a skill path but do not replace hands-on operating practice.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A04B1E-D100-4299-A5A0-946B50A9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8808C8-0CA2-4881-858E-8D05FDDA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DF2604-FD35-4F19-A021-E16AE240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Match training to role: analyst fundamentals, engineering depth, IR practice, manager governance.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D2DE27-2CF0-4D57-9EA0-D41C69CF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57CDC3-D886-4FE9-AA62-BC16ED45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Use practical assessment before independent production work.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66693D-423C-44A3-A3F1-156DBEAA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EFFAB5-5F02-4CCA-B452-C1F511B1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19E1D4-07A8-44B3-8F9D-B0C9390C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134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751F0C-5DEC-4F46-A8CB-585F48DAA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22682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306AF6-6FC4-4850-A3A6-A1E2CFD6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948690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09_Simulation_Testing, 10_Training_Onboarding</a:t>
            </a:r>
          </a:p>
        </p:txBody>
      </p:sp>
    </p:spTree>
    <p:extLst>
      <p:ext uri="{BB962C8B-B14F-4D97-AF65-F5344CB8AC3E}">
        <p14:creationId xmlns:p14="http://schemas.microsoft.com/office/powerpoint/2010/main" val="556328436"/>
      </p:ext>
    </p:extLst>
  </p:cSld>
</p:sld>
</file>

<file path=ppt/slides/slide1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FC1C2D2-3070-411B-A6BA-BED60F6D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Lessons learned into operational improvement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8E1C9E-FE01-47D9-910F-11E7EB1E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1BCD36-67F3-4369-93D7-F60C4FEF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60A59-BB65-4E65-B1E4-2518A178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940E87-B685-4F1F-B6A2-8E171D2F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7F0B8B-FC9C-4011-BE31-34829303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30EEDF-ADAB-4109-B286-DE5B2C8E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089A69-848A-4425-B42E-8DB9B192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6A659A-9812-4BA7-BAFF-E21877D8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AB69C6-A86E-4B1C-A84F-2EA58AE1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A63A0E-AC6A-44C3-9E45-E49C4D37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Lessons learned should create owned actions with due dates and governance follow-up.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A6EDCC-DC54-4F90-B49C-755C13D8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400104-5378-49BA-8881-0884234A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11B9E6-DFC1-4A96-9408-0313E818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Route detection gaps, telemetry gaps, process gaps, and control gaps to the right backlog.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CF4102-0381-42A6-865C-663211A0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268FE8-0AAD-40E7-BF41-3A2A8844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59ED8A-315D-4A59-97C7-6BC766CC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Measure whether the same weakness repeats.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1140ED-494C-4E12-8486-F308D52D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0E4C4F-4E01-4D80-9693-DECDA7A1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5EFDD5-3E80-48C0-B0C6-6EF396A8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A9DF93-0F93-4A0A-A6F4-16EC5AF2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CE1C03-21DA-427E-8F18-DBF0C840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8DFF3A-EB1A-43B6-A1B4-ED86660D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6283CB-C755-417D-8C10-12468534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B7DBBE-053E-451E-9354-51E9EAD9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A2C9BA-6204-44C5-BC4F-3B9CE5BD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135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BF1AC8-7A5B-41C5-88C8-2B74884C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22682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E4AD1E-DEA8-40E4-8BF7-9D376973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948690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09_Simulation_Testing, 10_Training_Onboarding</a:t>
            </a:r>
          </a:p>
        </p:txBody>
      </p:sp>
    </p:spTree>
    <p:extLst>
      <p:ext uri="{BB962C8B-B14F-4D97-AF65-F5344CB8AC3E}">
        <p14:creationId xmlns:p14="http://schemas.microsoft.com/office/powerpoint/2010/main" val="613387069"/>
      </p:ext>
    </p:extLst>
  </p:cSld>
</p:sld>
</file>

<file path=ppt/slides/slide1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E693129-CAA2-4ABE-974B-43F6C9DDC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training and maturity alignment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B3AC57-091A-4090-895C-4A7E1D0E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FA0C4C-103C-42E5-B756-C28B8E31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1C201C-8D40-4023-A0FF-3DF49501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00F187-C7A9-47BE-8707-73149CC3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61BA6-AF68-4127-B52B-A80AA26F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BA77F9-1D0C-422C-B012-63DB16ED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75B026-3837-4779-BB36-81DE6B08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633ABD-8C0F-4807-8471-31C7B80A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1B99DF-0572-4832-9551-85B11C2E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Maturity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036BE5-56F0-46E7-A4D6-9B088DF0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337519-C5A3-4063-8338-3B3BA1CB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Training focus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1C0F43-BACE-4556-9043-4D6E808B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84E296-D626-466F-ACEC-2113B266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E9B937-5094-455E-935F-87FB6CD2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DE4FE4-4C63-4A4B-A927-C319EADE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Foundation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5F8E8F-BDFF-4C23-973F-F0D095CC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91D45B-2C52-4348-9B09-25DD1945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Triage + SOP basics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7AF1A0-0EED-488C-9753-D4A69875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AA50F5-A93A-4202-9B7D-894A02C2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Checklist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352A3D-7B7D-40C8-945F-14F8CF92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80AECC-A938-4F42-98F7-AF221463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Operational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86AE4F-88B1-4F51-BC5E-83C2DF1F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16D719-B959-4336-8102-09EC41D9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Investigation + playbooks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4E1A60-844B-4117-BBAE-0D3AFA67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6A27E8-D0DC-4B80-B121-9F3B39DA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Lab results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12E09E-48AE-4696-BC12-38E4A0FF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499624-5DAD-49E7-BF32-A3A93DBE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Managed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411A8A-A28B-4A0D-B74D-4F1325F2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0259EE-932C-4556-9AA3-5640BD7A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Detection + IR exercises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9034E3-71D4-4CF4-9964-98880797F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CF5A99-71B4-49D1-B95F-5F53B295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Simulation record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84AA9-CF86-4E3F-9A3A-2C1F94C8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09E725-3E52-465C-9DC8-1BA283CB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Mature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8A3A79-4B79-49CE-A7F3-3E886322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44D1D59-D0AA-4845-98B3-F74765458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Threat-led improvement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221CBD3-9048-4667-BA01-389FFB54D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9D079E-6918-4BFA-85CE-BCE61D1C8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Purple-team findings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9B5772-2752-4AC4-BC0C-47525EC8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136 / 142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B65B52B-D6EB-46FF-B16B-D3B19BED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22682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D3AB24-4D77-4B5B-AF50-DBB6D8F9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628650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09_Simulation_Testing, 10_Training_Onboarding</a:t>
            </a:r>
          </a:p>
        </p:txBody>
      </p:sp>
    </p:spTree>
    <p:extLst>
      <p:ext uri="{BB962C8B-B14F-4D97-AF65-F5344CB8AC3E}">
        <p14:creationId xmlns:p14="http://schemas.microsoft.com/office/powerpoint/2010/main" val="545527882"/>
      </p:ext>
    </p:extLst>
  </p:cSld>
</p:sld>
</file>

<file path=ppt/slides/slide1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2AF837-A2CD-4E34-B0FE-E0B2735C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C22E80-7B11-428A-8FCB-A5293E56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7285"/>
                </a:solidFill>
              </a:defRPr>
            </a:pPr>
            <a:r>
              <a:rPr sz="2550" b="1">
                <a:solidFill>
                  <a:srgbClr val="0B7285"/>
                </a:solidFill>
              </a:rPr>
              <a:t>137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0FC583-9C2D-4D4A-90C1-7529BA32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APPLY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FCD54F-FEF2-4482-80ED-BD6BC622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7EA552-79D0-4249-B2AC-F9B64206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Use the whole operating model on one realistic case.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930193-16D8-4559-ABCE-C9A75A0F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90F57A-FC87-45AA-9CF1-F7CED16F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D27127-C540-4786-B057-A845AF55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Capstone: teams make the full architecture, staffing, detection, IR, legal, and reporting call.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2BA7DF-BBAA-4FD8-BA29-1A0DA9974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Capstone scenario setup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D060C3-89C1-4BFC-8B94-30467D9C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BE5E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3003E2-36CD-4F86-B73C-CEC8665E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DEBRIEF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8B8D35-93A9-4BB9-9731-CCA1945C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C29DF6-5A63-4557-A0C0-36BDE0F0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97293-3B03-4872-8965-D6966B82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CC4E5A-81DB-4643-8BF7-A75BBD61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0F4711-0566-43B7-BE69-43287337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FB577F-C8A4-47B1-BAEC-A69A6E47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Scenario: credential stuffing on a public customer portal followed by successful logins and invoice downloads.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3F147C-763E-41D8-91B7-6DBF007A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933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F907FE-FEDC-42F7-8605-C13446CC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8B38B1-8118-41C8-8F4B-7E49D440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33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Customer screenshots appear on social media; business asks whether regulators must be notified.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D04A7E-F195-48FB-9E50-8ED2D1F1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695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51B3B-68FB-4B9A-B970-E4E92DCC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886E99-3D11-47F0-AAD5-4F8B9D9C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Teams must make architecture, staffing, detection, IR, legal, and reporting decisions from incomplete facts.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2E795C-4DB8-4F6F-AD28-EBB0B44B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55295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7EFCD9-97EE-41DE-9E9A-E90F306D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6250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D256B0-1C19-4DD1-9BAF-C93C60D5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6250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A21114-3961-4DDB-AE3A-E6F87C7F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96265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137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958ADC-4347-4DD3-88CE-6B6935DE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962650"/>
            <a:ext cx="43053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Capstone Scenario and Close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E4CF39-55C7-4589-B3A7-DD773FAA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0" y="5962650"/>
            <a:ext cx="47053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Tabletop_Exercises, Thai_Legal_Escalation_Template, Incident_Decision_Log</a:t>
            </a:r>
          </a:p>
        </p:txBody>
      </p:sp>
    </p:spTree>
    <p:extLst>
      <p:ext uri="{BB962C8B-B14F-4D97-AF65-F5344CB8AC3E}">
        <p14:creationId xmlns:p14="http://schemas.microsoft.com/office/powerpoint/2010/main" val="636269891"/>
      </p:ext>
    </p:extLst>
  </p:cSld>
</p:sld>
</file>

<file path=ppt/slides/slide1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0D6404E-4751-4878-8D17-3CC2EF69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02A"/>
                </a:solidFill>
              </a:defRPr>
            </a:pPr>
            <a:r>
              <a:rPr sz="3225" b="1">
                <a:solidFill>
                  <a:srgbClr val="17202A"/>
                </a:solidFill>
              </a:rPr>
              <a:t>Team task: architecture, staffing, detection, IR, legal, reporting decisions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8CC7F8-47EC-4221-8D18-B58897BB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F4F0EA-88C1-4580-9319-46181605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0F9E6B-B671-4532-8EF6-724DB59B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049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19AAD9-6491-46EC-BB42-593122C0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10490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FCD83A-A763-4BB7-BD77-35C5372B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57325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89ED7B-7288-430F-97EA-748B1B7E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8115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DA1F89-6421-4DF1-9F92-11C1B389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8115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Capstone: teams make the full architecture, staffing, detection, IR, legal, and reporting call.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0E48EF-8ACD-465D-9D16-5274EAB4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43125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087EC2-8932-4CEE-B538-A4304242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6220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7285"/>
                </a:solidFill>
              </a:defRPr>
            </a:pPr>
            <a:r>
              <a:rPr sz="1200" b="1">
                <a:solidFill>
                  <a:srgbClr val="0B7285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63B13D-037F-41AD-AB1F-2E6E125A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9080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FD615-9397-48C2-A658-E9A915CD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62375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817700-4A3F-4E9B-AE57-BDBAAFE5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6488E5-CF9F-41CB-BC60-8CBC60F8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Identify missing telemetry, current owners, shift path, and required containment decision.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AF43E1-536B-437C-B3F8-05BBB04F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BFC993-4FE9-4D88-AD02-70172E88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1D8F6D-BB69-4CA5-8B19-FF3CCF362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33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Map detections and playbooks that should activate.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0CF034-9D95-4AD3-AAA3-1D7F0C36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86375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FC202C-29DE-4D03-A13B-864363C3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3CB065-5696-44FC-A8F1-7658EB16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95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Define who briefs executives and who owns next review.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17FF17-C9E2-496F-B9A6-B597E7C95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143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F23679-7B35-45EB-A30A-D9E637E3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24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894990-7F7B-4F4A-8378-E1F79A2B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143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B0C259-9CD5-4185-AB61-0AC88113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324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F39BE1-BFC0-4C07-AE75-F6D1EEAF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196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3A58A2-C928-4ECE-80BB-83BFE6D6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006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5B92B4-8662-4682-8647-57C9EC43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196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EFAD42-3FAD-4C19-A969-9ED10BC3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006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9DBAD7-538F-4044-BB91-669456A9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096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55F0B2-C407-426B-9CA9-7195F0E5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77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B190EF-BA74-44A0-A085-D343C2B0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096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552347-B429-451A-AEED-245A2B625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77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047A75-8E37-4036-82D8-0812AB4D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138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A56CAD-D0E1-4782-A05C-26286AB9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0668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Capstone Scenario and Close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36334E-60D8-42F7-B828-83B4763D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0" y="9601200"/>
            <a:ext cx="47053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Tabletop_Exercises, Thai_Legal_Escalation_Template, Incident_Decision_Log</a:t>
            </a:r>
          </a:p>
        </p:txBody>
      </p:sp>
    </p:spTree>
    <p:extLst>
      <p:ext uri="{BB962C8B-B14F-4D97-AF65-F5344CB8AC3E}">
        <p14:creationId xmlns:p14="http://schemas.microsoft.com/office/powerpoint/2010/main" val="794371156"/>
      </p:ext>
    </p:extLst>
  </p:cSld>
</p:sld>
</file>

<file path=ppt/slides/slide1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DCCFE2C-1191-4A47-93BA-8DF58F87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Team task: evidence and escalation decisions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B140B2-F146-4CFA-B9B5-5CF6FA56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1881FF-1798-4F26-82B6-03299990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B3919-5C39-4379-A747-47D21B060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3879E9-A8CB-4387-96E7-54FFA8B1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BCE1A0-3763-4FA9-83D4-15152BEA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2C3E2A-A324-4969-AC39-3AEF7287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D37FFD-3C71-460A-AF09-983D0406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Capstone: teams make the full architecture, staffing, detection, IR, legal, and reporting call.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C2BF5-15AF-43FD-8CEE-EA12388A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56823A-D5AB-4753-86D5-44249A8D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7285"/>
                </a:solidFill>
              </a:defRPr>
            </a:pPr>
            <a:r>
              <a:rPr sz="1200" b="1">
                <a:solidFill>
                  <a:srgbClr val="0B7285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F66397-7D9C-4BD7-9C61-17E5207A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C0506D-B072-4B5D-9918-CCA440BB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90DCDC-541C-425D-895F-E69D758A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62AF08-E336-4BDD-8506-5EC4CFB1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List the first evidence package: timeline, accounts, IPs, user actions, data accessed, logs, and custody.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CCA3AC-7D70-49D9-8AD8-0348424D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9B7689-5734-40C4-B2CB-50DFAAD4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90DF2F-966B-4A83-8CB1-31CE00BA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Decide legal-impact checkpoint and notification status.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13EBD2-B36C-4969-9D01-2DB61AA4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769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5B89D2-BB84-4BCF-B10D-7084A819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15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C4F1FE-49A3-4617-BFBA-150B7A2A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676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Write assumptions separately from confirmed facts.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0D95E0-96DB-4F11-A2A7-B4F62881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28EBED-C631-4423-A800-40C0AB76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1622EB-DFF3-4D07-BF23-1A4051F42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1B16EB-6CD4-4794-8B54-D3925F754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96737A-D38F-4AFD-A1D2-79F6665A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6C5FCA-3A86-432F-A906-8CFD3F6E8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6001C7-FA46-4658-9C50-C0D11E7B0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F4CD42-A241-440B-BAAD-1B9D078F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4ED1AA-CEBE-4221-B314-49E147A6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EAD825-F13E-4113-B8A9-ED4BD929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D9F7DF-4B8C-4B5F-B29B-B22BE4DE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F82FE4-21A2-4981-B27F-5E1F4961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91E5B4-8415-4044-9408-0D3E6C97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139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6A3260-4911-48D8-9B7A-E0BB8604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0668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Capstone Scenario and Close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A06264-AC0C-4B86-97B9-A41F7D00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0" y="9601200"/>
            <a:ext cx="47053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Tabletop_Exercises, Thai_Legal_Escalation_Template, Incident_Decision_Log</a:t>
            </a:r>
          </a:p>
        </p:txBody>
      </p:sp>
    </p:spTree>
    <p:extLst>
      <p:ext uri="{BB962C8B-B14F-4D97-AF65-F5344CB8AC3E}">
        <p14:creationId xmlns:p14="http://schemas.microsoft.com/office/powerpoint/2010/main" val="1472360122"/>
      </p:ext>
    </p:extLst>
  </p:cSld>
</p:sld>
</file>

<file path=ppt/slides/slide1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A83FC8E-66CE-4893-99B8-2F8039477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Debrief framework by role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39A71C-BE14-4881-9A5B-5330379E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BE5E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3C53EE-C0F9-47B9-A910-0FEDF055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DEBRIEF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5667F6-DEBE-4C80-9BBF-22D72E73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E1C221-50FB-46BF-9B22-87073900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Capstone Scenario and Close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F5B24A-4A87-4A6D-8FE9-0E347633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3C27F5-8869-4F95-9ECB-51BB8289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4402B9-ACE9-4316-AACA-2734332C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Capstone: teams make the full architecture, staffing, detection, IR, legal, and reporting call.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4F9958-FB2B-4E60-A203-C5FA0392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7058025"/>
          </a:xfrm>
          <a:prstGeom xmlns:a="http://schemas.openxmlformats.org/drawingml/2006/main" prst="roundRect">
            <a:avLst>
              <a:gd name="adj" fmla="val 188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C4A2D4-B6A4-4A97-AC6E-60BF6713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FC59FB-E3F4-45A9-8FEB-2C9C003E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1CC26F-EC48-4202-8526-8FF4652F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8FF538-7BED-46FB-B1DF-97FA36EE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58F58E-5925-4EF9-8BBD-7EF614B8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1D18D9-6760-4DE3-A639-CDDFF7AA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2DF962-D2C7-4941-BC62-2D3E04FE5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A0245B-CD9A-4555-9325-57371A8D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49CBD9-0D18-4758-BDF2-77ED4771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D87585-F3C8-4272-A2AA-81D9AA6D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C44C32-BE2F-457A-8FDE-AEA3E941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5F41E6-4164-4710-B8CF-CFD06894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98D1A6-9E27-482A-B745-2876D1BB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0BC63C-5440-4ADF-8789-32A17C454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52A11D-7FAB-4611-8155-23571D80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6AAFCC-962B-4936-8343-33EF049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7C4556-E72C-45B0-8F38-78DDE49F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0EE913-32B8-4444-B77E-76F06C69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CISO: risk decision, executive message, and external posture.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C914BD-DD25-412D-8787-850A3F0E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ABB1DC-BAB8-4D24-9333-8A1353C5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SOC Manager: workflow, staffing, handoff, and escalation quality.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ADBB8A-A2E4-4357-80F5-012C9A90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A2842B-483C-429B-B60B-F07433DE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Analyst, engineer, and IR: evidence, detection, containment, and recovery actions.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8AF3F0-DDD2-401A-95BF-A1684D8E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140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2499CD-A0CA-4B12-8E72-A26B4D8C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0668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Capstone Scenario and Close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B314AC-027B-46BC-8828-01D45A1A6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0" y="9601200"/>
            <a:ext cx="47053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Tabletop_Exercises, Thai_Legal_Escalation_Template, Incident_Decision_Log</a:t>
            </a:r>
          </a:p>
        </p:txBody>
      </p:sp>
    </p:spTree>
    <p:extLst>
      <p:ext uri="{BB962C8B-B14F-4D97-AF65-F5344CB8AC3E}">
        <p14:creationId xmlns:p14="http://schemas.microsoft.com/office/powerpoint/2010/main" val="519997388"/>
      </p:ext>
    </p:extLst>
  </p:cSld>
</p:sld>
</file>

<file path=ppt/slides/slide1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039ACD-F3E3-4202-A040-49801251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30/60/90-day action plan output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9F1E1E-7847-44E9-B1D0-3511ECC8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0AD8D-E978-447C-AF3C-0207A0B0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1E8153-2550-457D-A54F-1C667C8D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052BBE-9EDF-418B-8DB3-97AB4E96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250401-08FF-4CC3-B024-04D8E206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F4D39E-6C48-4971-A0EF-0CEEE317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EDA2DF-1503-4E44-9FF4-93D41A05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Capstone: teams make the full architecture, staffing, detection, IR, legal, and reporting call.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301ECA-205F-4620-B078-82658C2D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54A6A3-2B57-44F7-B5B8-3C601BB1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7285"/>
                </a:solidFill>
              </a:defRPr>
            </a:pPr>
            <a:r>
              <a:rPr sz="1200" b="1">
                <a:solidFill>
                  <a:srgbClr val="0B7285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F5B978-A9C6-413F-834B-193F503F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C82475-A89F-4883-B55A-E4BEE8D9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A286D0-551D-44C4-82AB-99888923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90B7BA-2561-4F5F-84EE-F00FB737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30 days: fix critical visibility, severity, handoff, and top playbooks.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C7F22B-8837-4F63-BF2B-63A08722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ACE1CF-D03B-4DA9-8B16-017C017D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59FA74-5846-482F-BDE8-FB15BA40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60 days: strengthen detection lifecycle, reporting, exercises, and ownership.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AD6691-208A-4584-9181-A4041F63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A02688-0278-489B-9F22-FA9985B8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B664B0-CDB2-405D-839E-909707E1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90 days: mature governance cadence, metrics, training path, and roadmap funding.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3EC316-F76C-4DE7-9DE3-E0DF4ACB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AA2B6A-2B6B-4B1F-AECE-6F9164E9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7CDC6D-FD25-418C-A56D-683DE0EF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436B58-5C7F-42E7-823B-698173C8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80D672-C8AD-41E3-8090-B21861CC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0DC6E3-42BC-485C-A71C-AF699C64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DAB46B-9C71-428E-A434-B47A8A98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C352B8-8B3E-4298-ADFF-D91D9FA1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91B4A6-0F20-4CA1-A270-D351AF44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79516B-04DD-4C22-94A8-CF158DE3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5026F3-4FC3-4489-89FB-79231C56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9D128C-92B2-4B47-A4BE-3C20424E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E035BC-6F85-4452-B686-04354BCD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141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08DA92-6AFD-4A6E-B78F-86F0C307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0668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Capstone Scenario and Close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4FFE8A1-1AAD-4D53-B8CC-8FE8F36F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0" y="9601200"/>
            <a:ext cx="47053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Tabletop_Exercises, Thai_Legal_Escalation_Template, Incident_Decision_Log</a:t>
            </a:r>
          </a:p>
        </p:txBody>
      </p:sp>
    </p:spTree>
    <p:extLst>
      <p:ext uri="{BB962C8B-B14F-4D97-AF65-F5344CB8AC3E}">
        <p14:creationId xmlns:p14="http://schemas.microsoft.com/office/powerpoint/2010/main" val="2123361646"/>
      </p:ext>
    </p:extLst>
  </p:cSld>
</p:sld>
</file>

<file path=ppt/slides/slide1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DD1A78-B4ED-4E21-AB59-4F723C5E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Final takeaways and repo re-entry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9B4C2E-11FF-4D3C-B6BD-D5F8DDA0F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01FA8F-3A5D-4A74-8244-615C89C8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B1DF47-8DD8-488B-A3B5-749FD1374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A227C9-4DFB-4024-A53F-725D1CAB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Visual repo anchor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75833-DD14-4197-A1D3-DEA53913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B4F082-2987-4F86-84C1-C7AABC5C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A08D6C-424D-4015-BA8A-451CF5D4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Capstone: teams make the full architecture, staffing, detection, IR, legal, and reporting call.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778D83-1A1A-4834-9415-1B2101A2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7166610" cy="47625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pic>
        <p:nvPicPr>
          <p:cNvPr id="10" name="repo-soc-header-imag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488598615648f4"/>
          <a:srcRect xmlns:a="http://schemas.openxmlformats.org/drawingml/2006/main" l="0" t="16773" r="0" b="167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2324100"/>
            <a:ext cx="7166610" cy="4762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5C3049-C67C-4FF5-9A75-F1607D24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19950"/>
            <a:ext cx="7162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visuals from the GitHub repo as proof that each module points back to a reusable SOP asset.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263983-C121-4E4B-BFDF-A1A8ABAC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24100"/>
            <a:ext cx="91249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B7285"/>
                </a:solidFill>
              </a:defRPr>
            </a:pPr>
            <a:r>
              <a:rPr sz="1875" b="1">
                <a:solidFill>
                  <a:srgbClr val="0B7285"/>
                </a:solidFill>
              </a:rPr>
              <a:t>Final takeaways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9830B-BC48-49FB-8CCC-F8AD215B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2695575"/>
            <a:ext cx="912114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337B2A-382F-4C12-BC9B-7011517F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38450"/>
            <a:ext cx="8782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02A"/>
                </a:solidFill>
              </a:defRPr>
            </a:pPr>
            <a:r>
              <a:rPr sz="1500" b="1">
                <a:solidFill>
                  <a:srgbClr val="17202A"/>
                </a:solidFill>
              </a:rPr>
              <a:t>Use the repo as the operating manual, not as a document archive.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80C146-5D83-4183-938B-629F9A55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3476625"/>
            <a:ext cx="912114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CF69A1-90B1-4A8A-8D21-30822B93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619500"/>
            <a:ext cx="8782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7202A"/>
                </a:solidFill>
              </a:defRPr>
            </a:pPr>
            <a:r>
              <a:rPr sz="1500" b="0">
                <a:solidFill>
                  <a:srgbClr val="17202A"/>
                </a:solidFill>
              </a:rPr>
              <a:t>Start with scope, telemetry, people, workflow, and decision authority.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1A8831-BF76-4524-9136-A4DFDFEA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4257675"/>
            <a:ext cx="912114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443F6E-FB59-4229-BA25-6495D21C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00550"/>
            <a:ext cx="8782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7202A"/>
                </a:solidFill>
              </a:defRPr>
            </a:pPr>
            <a:r>
              <a:rPr sz="1500" b="0">
                <a:solidFill>
                  <a:srgbClr val="17202A"/>
                </a:solidFill>
              </a:rPr>
              <a:t>Return to the right SOP whenever a workshop artifact becomes a real backlog item.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3574AD-7E7E-4B60-A78E-CFD54389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48250"/>
            <a:ext cx="9124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Repo re-entry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A589F2-8A1E-4E80-ACDF-B20A20E7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5400675"/>
            <a:ext cx="8191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1A6CB4-7B7F-44E4-BDAC-EF73627E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486400"/>
            <a:ext cx="6286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00-01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119DAD-AE6A-4A88-8D78-81C5BB7E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410200"/>
            <a:ext cx="1809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202A"/>
                </a:solidFill>
              </a:defRPr>
            </a:pPr>
            <a:r>
              <a:rPr sz="1575" b="1">
                <a:solidFill>
                  <a:srgbClr val="17202A"/>
                </a:solidFill>
              </a:rPr>
              <a:t>Foundations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BC9B27-2B95-43EC-9F61-F44FB08B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5410200"/>
            <a:ext cx="6191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2616B"/>
                </a:solidFill>
              </a:defRPr>
            </a:pPr>
            <a:r>
              <a:rPr sz="1425" b="0">
                <a:solidFill>
                  <a:srgbClr val="52616B"/>
                </a:solidFill>
              </a:rPr>
              <a:t>scope, roadmap, budget, stack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4DCFF3-5A7A-411A-848D-FDD54106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6086475"/>
            <a:ext cx="8191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6D89DA-E7C3-4E57-83AD-FF3E197F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172200"/>
            <a:ext cx="6286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FC7217-AF92-4BDE-96F6-2C9C9C6D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6096000"/>
            <a:ext cx="1809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202A"/>
                </a:solidFill>
              </a:defRPr>
            </a:pPr>
            <a:r>
              <a:rPr sz="1575" b="1">
                <a:solidFill>
                  <a:srgbClr val="17202A"/>
                </a:solidFill>
              </a:rPr>
              <a:t>IR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5C17F9-7C4C-4306-B5DE-49EDF47C6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096000"/>
            <a:ext cx="6191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2616B"/>
                </a:solidFill>
              </a:defRPr>
            </a:pPr>
            <a:r>
              <a:rPr sz="1425" b="0">
                <a:solidFill>
                  <a:srgbClr val="52616B"/>
                </a:solidFill>
              </a:rPr>
              <a:t>framework, runbooks, 50+ playbooks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044C60-90BC-497D-9A58-44613815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6772275"/>
            <a:ext cx="8191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00D751-C59E-4ECF-BEBA-DB1775D7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858000"/>
            <a:ext cx="6286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2DB7A1-D99F-4DC6-BBE0-A028E62B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6781800"/>
            <a:ext cx="1809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202A"/>
                </a:solidFill>
              </a:defRPr>
            </a:pPr>
            <a:r>
              <a:rPr sz="1575" b="1">
                <a:solidFill>
                  <a:srgbClr val="17202A"/>
                </a:solidFill>
              </a:rPr>
              <a:t>Operations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FB7ACE-3FB9-401A-B467-1DB5BB5F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781800"/>
            <a:ext cx="6191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2616B"/>
                </a:solidFill>
              </a:defRPr>
            </a:pPr>
            <a:r>
              <a:rPr sz="1425" b="0">
                <a:solidFill>
                  <a:srgbClr val="52616B"/>
                </a:solidFill>
              </a:rPr>
              <a:t>handoff, metrics, governance, services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52887F-B9A5-446D-A872-C1CB90F6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7458075"/>
            <a:ext cx="8191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945CC3-63E3-4527-BC0F-F8CD4433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7543800"/>
            <a:ext cx="6286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FBE090-B78F-4CFA-A5A1-DE5D4DC2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7467600"/>
            <a:ext cx="1809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202A"/>
                </a:solidFill>
              </a:defRPr>
            </a:pPr>
            <a:r>
              <a:rPr sz="1575" b="1">
                <a:solidFill>
                  <a:srgbClr val="17202A"/>
                </a:solidFill>
              </a:rPr>
              <a:t>Detection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8602B8-80F5-4F50-B578-4D75E0D8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7467600"/>
            <a:ext cx="6191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2616B"/>
                </a:solidFill>
              </a:defRPr>
            </a:pPr>
            <a:r>
              <a:rPr sz="1425" b="0">
                <a:solidFill>
                  <a:srgbClr val="52616B"/>
                </a:solidFill>
              </a:rPr>
              <a:t>coverage, Sigma, YARA, use cases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5C283C-7137-4CB4-BA04-FEF9D1E3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8143875"/>
            <a:ext cx="912114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939422-4ECB-4E1F-9BD2-ADE5052A0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8324850"/>
            <a:ext cx="8705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cue: point to the repo section participants should open after each exercise.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57D14B-E444-4F94-8BF8-708CBAE0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142 / 142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185680E-89E4-4230-B0EC-1E3605CE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0668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Capstone Scenario and Close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35191A8-3B61-49DC-A2C3-5E427F83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0" y="9601200"/>
            <a:ext cx="47053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Tabletop_Exercises, Thai_Legal_Escalation_Template, Incident_Decision_Log</a:t>
            </a:r>
          </a:p>
        </p:txBody>
      </p:sp>
    </p:spTree>
    <p:extLst>
      <p:ext uri="{BB962C8B-B14F-4D97-AF65-F5344CB8AC3E}">
        <p14:creationId xmlns:p14="http://schemas.microsoft.com/office/powerpoint/2010/main" val="5031915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2026-04-26T17:49:55.8760000Z</dcterms:created>
  <dcterms:modified xsi:type="dcterms:W3CDTF">2026-04-26T17:49:55.8760000Z</dcterms:modified>
</coreProperties>
</file>